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2. Last week was all logic: Dart in DartPad. Tonight that logic gets a screen. The phone on the right is what everyone will have running on their own laptop by the end of tonight: a shopping list you can add to, tick off and clear.
The thread of the course: Session 1 asked which apps changed the world, Session 2 looked inside them (algorithms). Tonight asks: how do they look? How is a screen built?
No live coding tonight either: a short talk, then you build it yourselves with the guide, first-flutter-app.html.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an app they use every day: a chat list. Ask: how many different pieces can you see on this screen? Collect answers (a top bar, rows, pictures, names, a + button).
Then show that each piece has a name in Flutter, and that the screen is a tree: a Scaffold (the page) holds an AppBar, a ListView, and a button. The ListView holds one ListTile per chat. Each ListTile holds an avatar and three texts.
Key sentence: "A screen is widgets inside widgets. If you can name the boxes, you can build the screen." Tonight they build exactly this kind of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widgets they will use tonight. Do not teach every option: just the idea that each one does one job, and you build screens by nesting them.
Point out Row vs Column: Row = side by side, Column = one under another. Most layouts are just Rows inside Columns.
The button: it has an onPressed, which is where your code goes when someone taps. That links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from last week. Flutter code looks scary only because it is full of three Dart ideas they have barely used. Each row: left is the weekend Bus, right is the same idea in Flutter.
1. Classes: Bus is a blueprint, and so is every widget. HomeScreen is a class, just like Bus.
2. Named parameters: Bus(route: ..., price: ...) is the same shape as Text(..., style: ...). In Flutter, almost everything is passed this way: child:, body:, title:, onPressed:.
3. Functions as values: the button does not run addItem when it is created. It keeps it and calls it when someone taps. No brackets after addItem: you give the function, you do not call it.
In the guide, part B (Warm-up) makes them type the Bus and Button version in a Dart file before any Flutter.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them to look at the shopping list on the cover: what on that screen can change? (The list, the count in the title.) What never changes? (The word Add, the icons.)
StatelessWidget: drawn once from what it is given. StatefulWidget: comes with a State object that holds data which can change, like the items list.
They meet both tonight: steps 3 to 4 are stateless, step 5 switches to stateful.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idea of the night. Walk the loop slowly, with the Add button as the example:
1. The user taps Add.
2. Flutter calls the function you gave to onPressed: addItem.
3. addItem changes the data, inside setState. setState is you telling Flutter: I changed something.
4. Flutter calls build again, and build draws the list with the new item.
Then it waits for the next tap.
If they forget setState, the list really does get the new item, but nobody told the screen, so nothing appears. Step 5 has an experiment where they remove setState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slide. They work exactly as when they made their first app during the install: Android Studio, New Flutter Project, the emulator (or their own phone), and the green Run button.
Warn them: the first build of a new project can take 5 to 10 minutes (Gradle downloads and builds Android tools; about 6 minutes when tested on a Pixel 9 Pro emulator). Do not stop it. Have them start the project creation and the first run before you finish talking, so it builds while you speak.
Hot reload: save (Ctrl+S) and the change appears, and the app keeps its data (the counter stays at 5). Hot restart: the green circular arrow, and the app starts over (the counter goes back to 0). Code inside main() only runs at the start, so steps 1 and 2 need a hot restart; from step 3 a save is enough.
Weak laptop? The emulator needs a lot of memory: their own Android phone over USB is lighter. Chrome is the last resort, and everything tonight still works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them the shape of the night. The guide is first-flutter-app.html. Parts A and B and steps 1 to 5 give the full code (they still type it). Steps 6 to 8 give a goal and hints, and they write it themselves.
Every step has the same four boxes: what to type, You should see, What just happened, and Your turn. Tell them the What just happened box is where the learning is, and Your turn is how they know they understood rather than copied.
The phone on the right is the finished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 them for the errors that will actually happen tonight, so they do not panic.
1. Right after step 1: the test file still refers to MyApp. Delete test/widget_test.dart.
2. Missing or misplaced brackets: Flutter code is deeply nested, and a bracket that closes too early gives a strange message, like body is not defined, because body ended up inside AppBar. Ctrl+Alt+L (Cmd+Option+L on a Mac) reformats the code and shows where each bracket really closes.
3. Step 6: a ListView inside a Column must be wrapped in Expanded. Alt+Enter on the widget name offers Wrap with widget.
4. Step 8: something marked const now depends on data that changes, so it cannot be const.
One more in step 8: after changing items from text to Item objects, a plain save shows a red screen, type List&lt;String&gt; is not a subtype of type List&lt;Item&gt;. Hot reload keeps the old data, which is still a list of texts. The fix is a hot restart. A great moment to explain what hot reload really keeps.
The last section of the guide, When something goes wrong, lists about fifteen errors and running problems with their fixes. The habit for the whole course: read the message before asking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Release them to the guide. The must-have tonight is steps 1 to 5: an app that runs and reacts to a tap. Steps 6 to 8 are where they start writing code themselves.
As you circulate, ask the Think question 2 to a few students: explain everything that happens from tapping Add to the new row appearing. That tells you who understood.
Students still without a working Flutter install: pair them with a neighbour for the first parts and send them to a mentor.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energy, then straight into part A of the guide: flutter create shopping_list.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12800" y="1460500"/>
            <a:ext cx="4445000" cy="406400"/>
          </a:xfrm>
          <a:prstGeom prst="roundRect">
            <a:avLst>
              <a:gd name="adj" fmla="val 49500"/>
            </a:avLst>
          </a:prstGeom>
          <a:solidFill>
            <a:srgbClr val="54C5F8">
              <a:alpha val="12000"/>
            </a:srgbClr>
          </a:solidFill>
          <a:ln w="19050">
            <a:solidFill>
              <a:srgbClr val="54C5F8">
                <a:alpha val="50000"/>
              </a:srgbClr>
            </a:solidFill>
            <a:prstDash val="solid"/>
          </a:ln>
        </p:spPr>
      </p:sp>
      <p:sp>
        <p:nvSpPr>
          <p:cNvPr id="3" name="Text 1"/>
          <p:cNvSpPr txBox="1"/>
          <p:nvPr/>
        </p:nvSpPr>
        <p:spPr>
          <a:xfrm>
            <a:off x="812800" y="1460500"/>
            <a:ext cx="4445000" cy="406400"/>
          </a:xfrm>
          <a:prstGeom prst="rect">
            <a:avLst/>
          </a:prstGeom>
          <a:noFill/>
          <a:ln/>
        </p:spPr>
        <p:txBody>
          <a:bodyPr wrap="square" lIns="0" tIns="0" rIns="0" bIns="0" rtlCol="0" anchor="ctr"/>
          <a:lstStyle/>
          <a:p>
            <a:pPr algn="ctr" indent="0" marL="0">
              <a:buNone/>
            </a:pPr>
            <a:r>
              <a:rPr lang="en-US" sz="1200" b="1" spc="400" kern="0" dirty="0">
                <a:solidFill>
                  <a:srgbClr val="54C5F8"/>
                </a:solidFill>
                <a:latin typeface="Arial" pitchFamily="34" charset="0"/>
                <a:ea typeface="Arial" pitchFamily="34" charset="-122"/>
                <a:cs typeface="Arial" pitchFamily="34" charset="-120"/>
              </a:rPr>
              <a:t>INNOVATION CENTER · SESSION 3</a:t>
            </a:r>
            <a:endParaRPr lang="en-US" sz="1200" dirty="0"/>
          </a:p>
        </p:txBody>
      </p:sp>
      <p:sp>
        <p:nvSpPr>
          <p:cNvPr id="4" name="Text 2"/>
          <p:cNvSpPr txBox="1"/>
          <p:nvPr/>
        </p:nvSpPr>
        <p:spPr>
          <a:xfrm>
            <a:off x="812800" y="2095500"/>
            <a:ext cx="6667500" cy="1079500"/>
          </a:xfrm>
          <a:prstGeom prst="rect">
            <a:avLst/>
          </a:prstGeom>
          <a:noFill/>
          <a:ln/>
        </p:spPr>
        <p:txBody>
          <a:bodyPr wrap="square" lIns="0" tIns="0" rIns="0" bIns="0" rtlCol="0" anchor="t"/>
          <a:lstStyle/>
          <a:p>
            <a:pPr indent="0" marL="0">
              <a:buNone/>
            </a:pPr>
            <a:r>
              <a:rPr lang="en-US" sz="7500" b="1" dirty="0">
                <a:solidFill>
                  <a:srgbClr val="F4F7FB"/>
                </a:solidFill>
                <a:latin typeface="Arial" pitchFamily="34" charset="0"/>
                <a:ea typeface="Arial" pitchFamily="34" charset="-122"/>
                <a:cs typeface="Arial" pitchFamily="34" charset="-120"/>
              </a:rPr>
              <a:t>Widgets</a:t>
            </a:r>
            <a:endParaRPr lang="en-US" sz="7500" dirty="0"/>
          </a:p>
        </p:txBody>
      </p:sp>
      <p:sp>
        <p:nvSpPr>
          <p:cNvPr id="5" name="Text 3"/>
          <p:cNvSpPr txBox="1"/>
          <p:nvPr/>
        </p:nvSpPr>
        <p:spPr>
          <a:xfrm>
            <a:off x="812800" y="3175000"/>
            <a:ext cx="6667500" cy="571500"/>
          </a:xfrm>
          <a:prstGeom prst="rect">
            <a:avLst/>
          </a:prstGeom>
          <a:noFill/>
          <a:ln/>
        </p:spPr>
        <p:txBody>
          <a:bodyPr wrap="square" lIns="0" tIns="0" rIns="0" bIns="0" rtlCol="0" anchor="t"/>
          <a:lstStyle/>
          <a:p>
            <a:pPr indent="0" marL="0">
              <a:buNone/>
            </a:pPr>
            <a:r>
              <a:rPr lang="en-US" sz="3200" b="1" dirty="0">
                <a:solidFill>
                  <a:srgbClr val="54C5F8"/>
                </a:solidFill>
                <a:latin typeface="Arial" pitchFamily="34" charset="0"/>
                <a:ea typeface="Arial" pitchFamily="34" charset="-122"/>
                <a:cs typeface="Arial" pitchFamily="34" charset="-120"/>
              </a:rPr>
              <a:t>How every screen is built</a:t>
            </a:r>
            <a:endParaRPr lang="en-US" sz="3200" dirty="0"/>
          </a:p>
        </p:txBody>
      </p:sp>
      <p:sp>
        <p:nvSpPr>
          <p:cNvPr id="6" name="Text 4"/>
          <p:cNvSpPr txBox="1"/>
          <p:nvPr/>
        </p:nvSpPr>
        <p:spPr>
          <a:xfrm>
            <a:off x="812800" y="3937000"/>
            <a:ext cx="6096000" cy="889000"/>
          </a:xfrm>
          <a:prstGeom prst="rect">
            <a:avLst/>
          </a:prstGeom>
          <a:noFill/>
          <a:ln/>
        </p:spPr>
        <p:txBody>
          <a:bodyPr wrap="square" lIns="0" tIns="0" rIns="0" bIns="0" rtlCol="0" anchor="t"/>
          <a:lstStyle/>
          <a:p>
            <a:pPr indent="0" marL="0">
              <a:lnSpc>
                <a:spcPct val="120000"/>
              </a:lnSpc>
              <a:buNone/>
            </a:pPr>
            <a:r>
              <a:rPr lang="en-US" sz="1700" dirty="0">
                <a:solidFill>
                  <a:srgbClr val="B8C4D9"/>
                </a:solidFill>
                <a:latin typeface="Arial" pitchFamily="34" charset="0"/>
                <a:ea typeface="Arial" pitchFamily="34" charset="-122"/>
                <a:cs typeface="Arial" pitchFamily="34" charset="-120"/>
              </a:rPr>
              <a:t>Last week you wrote the logic inside apps. Tonight it gets a screen: your first Flutter app, running on your own laptop.</a:t>
            </a:r>
            <a:endParaRPr lang="en-US" sz="1700" dirty="0"/>
          </a:p>
        </p:txBody>
      </p:sp>
      <p:sp>
        <p:nvSpPr>
          <p:cNvPr id="7" name="Shape 5"/>
          <p:cNvSpPr/>
          <p:nvPr/>
        </p:nvSpPr>
        <p:spPr>
          <a:xfrm>
            <a:off x="812800" y="5397500"/>
            <a:ext cx="1270000" cy="381000"/>
          </a:xfrm>
          <a:prstGeom prst="roundRect">
            <a:avLst>
              <a:gd name="adj" fmla="val 50400"/>
            </a:avLst>
          </a:prstGeom>
          <a:solidFill>
            <a:srgbClr val="0468D7"/>
          </a:solidFill>
          <a:ln w="12700">
            <a:solidFill>
              <a:srgbClr val="0468D7"/>
            </a:solidFill>
            <a:prstDash val="solid"/>
          </a:ln>
        </p:spPr>
      </p:sp>
      <p:sp>
        <p:nvSpPr>
          <p:cNvPr id="8" name="Text 6"/>
          <p:cNvSpPr txBox="1"/>
          <p:nvPr/>
        </p:nvSpPr>
        <p:spPr>
          <a:xfrm>
            <a:off x="812800" y="5397500"/>
            <a:ext cx="1270000" cy="381000"/>
          </a:xfrm>
          <a:prstGeom prst="rect">
            <a:avLst/>
          </a:prstGeom>
          <a:noFill/>
          <a:ln/>
        </p:spPr>
        <p:txBody>
          <a:bodyPr wrap="square" lIns="0" tIns="0" rIns="0" bIns="0" rtlCol="0" anchor="ctr"/>
          <a:lstStyle/>
          <a:p>
            <a:pPr algn="ctr" indent="0" marL="0">
              <a:buNone/>
            </a:pPr>
            <a:r>
              <a:rPr lang="en-US" sz="1300" b="1" dirty="0">
                <a:solidFill>
                  <a:srgbClr val="F4F7FB"/>
                </a:solidFill>
                <a:latin typeface="Arial" pitchFamily="34" charset="0"/>
                <a:ea typeface="Arial" pitchFamily="34" charset="-122"/>
                <a:cs typeface="Arial" pitchFamily="34" charset="-120"/>
              </a:rPr>
              <a:t>Widgets</a:t>
            </a:r>
            <a:endParaRPr lang="en-US" sz="1300" dirty="0"/>
          </a:p>
        </p:txBody>
      </p:sp>
      <p:sp>
        <p:nvSpPr>
          <p:cNvPr id="9" name="Shape 7"/>
          <p:cNvSpPr/>
          <p:nvPr/>
        </p:nvSpPr>
        <p:spPr>
          <a:xfrm>
            <a:off x="2209800" y="5397500"/>
            <a:ext cx="1270000" cy="381000"/>
          </a:xfrm>
          <a:prstGeom prst="roundRect">
            <a:avLst>
              <a:gd name="adj" fmla="val 50400"/>
            </a:avLst>
          </a:prstGeom>
          <a:solidFill>
            <a:srgbClr val="1B2340"/>
          </a:solidFill>
          <a:ln w="12700">
            <a:solidFill>
              <a:srgbClr val="2E3A5C"/>
            </a:solidFill>
            <a:prstDash val="solid"/>
          </a:ln>
        </p:spPr>
      </p:sp>
      <p:sp>
        <p:nvSpPr>
          <p:cNvPr id="10" name="Text 8"/>
          <p:cNvSpPr txBox="1"/>
          <p:nvPr/>
        </p:nvSpPr>
        <p:spPr>
          <a:xfrm>
            <a:off x="2209800" y="5397500"/>
            <a:ext cx="1270000" cy="381000"/>
          </a:xfrm>
          <a:prstGeom prst="rect">
            <a:avLst/>
          </a:prstGeom>
          <a:noFill/>
          <a:ln/>
        </p:spPr>
        <p:txBody>
          <a:bodyPr wrap="square" lIns="0" tIns="0" rIns="0" bIns="0" rtlCol="0" anchor="ctr"/>
          <a:lstStyle/>
          <a:p>
            <a:pPr algn="ctr" indent="0" marL="0">
              <a:buNone/>
            </a:pPr>
            <a:r>
              <a:rPr lang="en-US" sz="1300" b="1" dirty="0">
                <a:solidFill>
                  <a:srgbClr val="F4F7FB"/>
                </a:solidFill>
                <a:latin typeface="Arial" pitchFamily="34" charset="0"/>
                <a:ea typeface="Arial" pitchFamily="34" charset="-122"/>
                <a:cs typeface="Arial" pitchFamily="34" charset="-120"/>
              </a:rPr>
              <a:t>State</a:t>
            </a:r>
            <a:endParaRPr lang="en-US" sz="1300" dirty="0"/>
          </a:p>
        </p:txBody>
      </p:sp>
      <p:sp>
        <p:nvSpPr>
          <p:cNvPr id="11" name="Shape 9"/>
          <p:cNvSpPr/>
          <p:nvPr/>
        </p:nvSpPr>
        <p:spPr>
          <a:xfrm>
            <a:off x="3606800" y="5397500"/>
            <a:ext cx="1714500" cy="381000"/>
          </a:xfrm>
          <a:prstGeom prst="roundRect">
            <a:avLst>
              <a:gd name="adj" fmla="val 50400"/>
            </a:avLst>
          </a:prstGeom>
          <a:solidFill>
            <a:srgbClr val="1B2340"/>
          </a:solidFill>
          <a:ln w="12700">
            <a:solidFill>
              <a:srgbClr val="2E3A5C"/>
            </a:solidFill>
            <a:prstDash val="solid"/>
          </a:ln>
        </p:spPr>
      </p:sp>
      <p:sp>
        <p:nvSpPr>
          <p:cNvPr id="12" name="Text 10"/>
          <p:cNvSpPr txBox="1"/>
          <p:nvPr/>
        </p:nvSpPr>
        <p:spPr>
          <a:xfrm>
            <a:off x="3606800" y="5397500"/>
            <a:ext cx="1714500" cy="381000"/>
          </a:xfrm>
          <a:prstGeom prst="rect">
            <a:avLst/>
          </a:prstGeom>
          <a:noFill/>
          <a:ln/>
        </p:spPr>
        <p:txBody>
          <a:bodyPr wrap="square" lIns="0" tIns="0" rIns="0" bIns="0" rtlCol="0" anchor="ctr"/>
          <a:lstStyle/>
          <a:p>
            <a:pPr algn="ctr" indent="0" marL="0">
              <a:buNone/>
            </a:pPr>
            <a:r>
              <a:rPr lang="en-US" sz="1300" b="1" dirty="0">
                <a:solidFill>
                  <a:srgbClr val="F4F7FB"/>
                </a:solidFill>
                <a:latin typeface="Arial" pitchFamily="34" charset="0"/>
                <a:ea typeface="Arial" pitchFamily="34" charset="-122"/>
                <a:cs typeface="Arial" pitchFamily="34" charset="-120"/>
              </a:rPr>
              <a:t>Shopping List</a:t>
            </a:r>
            <a:endParaRPr lang="en-US" sz="1300" dirty="0"/>
          </a:p>
        </p:txBody>
      </p:sp>
      <p:sp>
        <p:nvSpPr>
          <p:cNvPr id="13" name="Shape 11"/>
          <p:cNvSpPr/>
          <p:nvPr/>
        </p:nvSpPr>
        <p:spPr>
          <a:xfrm>
            <a:off x="8255000" y="1079500"/>
            <a:ext cx="2794000" cy="4826000"/>
          </a:xfrm>
          <a:prstGeom prst="roundRect">
            <a:avLst>
              <a:gd name="adj" fmla="val 13745"/>
            </a:avLst>
          </a:prstGeom>
          <a:solidFill>
            <a:srgbClr val="141A2E"/>
          </a:solidFill>
          <a:ln w="38100">
            <a:solidFill>
              <a:srgbClr val="3A4770"/>
            </a:solidFill>
            <a:prstDash val="solid"/>
          </a:ln>
          <a:effectLst>
            <a:outerShdw sx="100000" sy="100000" kx="0" ky="0" algn="bl" rotWithShape="0" blurRad="279400" dist="101600" dir="5400000">
              <a:srgbClr val="0E1220">
                <a:alpha val="25000"/>
              </a:srgbClr>
            </a:outerShdw>
          </a:effectLst>
        </p:spPr>
      </p:sp>
      <p:sp>
        <p:nvSpPr>
          <p:cNvPr id="14" name="Shape 12"/>
          <p:cNvSpPr/>
          <p:nvPr/>
        </p:nvSpPr>
        <p:spPr>
          <a:xfrm>
            <a:off x="8356600" y="1181100"/>
            <a:ext cx="2590800" cy="4622800"/>
          </a:xfrm>
          <a:prstGeom prst="roundRect">
            <a:avLst>
              <a:gd name="adj" fmla="val 12000"/>
            </a:avLst>
          </a:prstGeom>
          <a:solidFill>
            <a:srgbClr val="F5FAF3"/>
          </a:solidFill>
          <a:ln w="12700">
            <a:solidFill>
              <a:srgbClr val="F5FAF3"/>
            </a:solidFill>
            <a:prstDash val="solid"/>
          </a:ln>
        </p:spPr>
      </p:sp>
      <p:sp>
        <p:nvSpPr>
          <p:cNvPr id="15" name="Shape 13"/>
          <p:cNvSpPr/>
          <p:nvPr/>
        </p:nvSpPr>
        <p:spPr>
          <a:xfrm>
            <a:off x="9302750" y="1244600"/>
            <a:ext cx="698500" cy="114300"/>
          </a:xfrm>
          <a:prstGeom prst="roundRect">
            <a:avLst>
              <a:gd name="adj" fmla="val 64000"/>
            </a:avLst>
          </a:prstGeom>
          <a:solidFill>
            <a:srgbClr val="05070D"/>
          </a:solidFill>
          <a:ln w="12700">
            <a:solidFill>
              <a:srgbClr val="05070D"/>
            </a:solidFill>
            <a:prstDash val="solid"/>
          </a:ln>
        </p:spPr>
      </p:sp>
      <p:sp>
        <p:nvSpPr>
          <p:cNvPr id="16" name="Text 14"/>
          <p:cNvSpPr txBox="1"/>
          <p:nvPr/>
        </p:nvSpPr>
        <p:spPr>
          <a:xfrm>
            <a:off x="8534400" y="1574800"/>
            <a:ext cx="1892300" cy="279400"/>
          </a:xfrm>
          <a:prstGeom prst="rect">
            <a:avLst/>
          </a:prstGeom>
          <a:noFill/>
          <a:ln/>
        </p:spPr>
        <p:txBody>
          <a:bodyPr wrap="square" lIns="0" tIns="0" rIns="0" bIns="0" rtlCol="0" anchor="ctr"/>
          <a:lstStyle/>
          <a:p>
            <a:pPr indent="0" marL="0">
              <a:buNone/>
            </a:pPr>
            <a:r>
              <a:rPr lang="en-US" sz="1250" b="1" dirty="0">
                <a:solidFill>
                  <a:srgbClr val="1D2B20"/>
                </a:solidFill>
                <a:latin typeface="Arial" pitchFamily="34" charset="0"/>
                <a:ea typeface="Arial" pitchFamily="34" charset="-122"/>
                <a:cs typeface="Arial" pitchFamily="34" charset="-120"/>
              </a:rPr>
              <a:t>Shopping List (2 left)</a:t>
            </a:r>
            <a:endParaRPr lang="en-US" sz="1250" dirty="0"/>
          </a:p>
        </p:txBody>
      </p:sp>
      <p:pic>
        <p:nvPicPr>
          <p:cNvPr id="17" name="Image 0" descr="preencoded.png">    </p:cNvPr>
          <p:cNvPicPr>
            <a:picLocks noChangeAspect="1"/>
          </p:cNvPicPr>
          <p:nvPr/>
        </p:nvPicPr>
        <p:blipFill>
          <a:blip r:embed="rId2"/>
          <a:stretch>
            <a:fillRect/>
          </a:stretch>
        </p:blipFill>
        <p:spPr>
          <a:xfrm>
            <a:off x="10502900" y="1600200"/>
            <a:ext cx="228600" cy="228600"/>
          </a:xfrm>
          <a:prstGeom prst="rect">
            <a:avLst/>
          </a:prstGeom>
        </p:spPr>
      </p:pic>
      <p:sp>
        <p:nvSpPr>
          <p:cNvPr id="18" name="Shape 15"/>
          <p:cNvSpPr/>
          <p:nvPr/>
        </p:nvSpPr>
        <p:spPr>
          <a:xfrm>
            <a:off x="8509000" y="2044700"/>
            <a:ext cx="1511300" cy="406400"/>
          </a:xfrm>
          <a:prstGeom prst="roundRect">
            <a:avLst>
              <a:gd name="adj" fmla="val 22500"/>
            </a:avLst>
          </a:prstGeom>
          <a:solidFill>
            <a:srgbClr val="FFFFFF"/>
          </a:solidFill>
          <a:ln w="12700">
            <a:solidFill>
              <a:srgbClr val="C9D8C6"/>
            </a:solidFill>
            <a:prstDash val="solid"/>
          </a:ln>
        </p:spPr>
      </p:sp>
      <p:sp>
        <p:nvSpPr>
          <p:cNvPr id="19" name="Text 16"/>
          <p:cNvSpPr txBox="1"/>
          <p:nvPr/>
        </p:nvSpPr>
        <p:spPr>
          <a:xfrm>
            <a:off x="8636000" y="2044700"/>
            <a:ext cx="1257300" cy="406400"/>
          </a:xfrm>
          <a:prstGeom prst="rect">
            <a:avLst/>
          </a:prstGeom>
          <a:noFill/>
          <a:ln/>
        </p:spPr>
        <p:txBody>
          <a:bodyPr wrap="square" lIns="0" tIns="0" rIns="0" bIns="0" rtlCol="0" anchor="ctr"/>
          <a:lstStyle/>
          <a:p>
            <a:pPr indent="0" marL="0">
              <a:buNone/>
            </a:pPr>
            <a:r>
              <a:rPr lang="en-US" sz="1050" dirty="0">
                <a:solidFill>
                  <a:srgbClr val="8A9A8C"/>
                </a:solidFill>
                <a:latin typeface="Arial" pitchFamily="34" charset="0"/>
                <a:ea typeface="Arial" pitchFamily="34" charset="-122"/>
                <a:cs typeface="Arial" pitchFamily="34" charset="-120"/>
              </a:rPr>
              <a:t>Add an item</a:t>
            </a:r>
            <a:endParaRPr lang="en-US" sz="1050" dirty="0"/>
          </a:p>
        </p:txBody>
      </p:sp>
      <p:sp>
        <p:nvSpPr>
          <p:cNvPr id="20" name="Shape 17"/>
          <p:cNvSpPr/>
          <p:nvPr/>
        </p:nvSpPr>
        <p:spPr>
          <a:xfrm>
            <a:off x="10109200" y="2044700"/>
            <a:ext cx="685800" cy="406400"/>
          </a:xfrm>
          <a:prstGeom prst="roundRect">
            <a:avLst>
              <a:gd name="adj" fmla="val 49500"/>
            </a:avLst>
          </a:prstGeom>
          <a:solidFill>
            <a:srgbClr val="3A7D44"/>
          </a:solidFill>
          <a:ln w="12700">
            <a:solidFill>
              <a:srgbClr val="3A7D44"/>
            </a:solidFill>
            <a:prstDash val="solid"/>
          </a:ln>
        </p:spPr>
      </p:sp>
      <p:sp>
        <p:nvSpPr>
          <p:cNvPr id="21" name="Text 18"/>
          <p:cNvSpPr txBox="1"/>
          <p:nvPr/>
        </p:nvSpPr>
        <p:spPr>
          <a:xfrm>
            <a:off x="10109200" y="2044700"/>
            <a:ext cx="685800" cy="4064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Add</a:t>
            </a:r>
            <a:endParaRPr lang="en-US" sz="1100" dirty="0"/>
          </a:p>
        </p:txBody>
      </p:sp>
      <p:pic>
        <p:nvPicPr>
          <p:cNvPr id="22" name="Image 1" descr="preencoded.png">    </p:cNvPr>
          <p:cNvPicPr>
            <a:picLocks noChangeAspect="1"/>
          </p:cNvPicPr>
          <p:nvPr/>
        </p:nvPicPr>
        <p:blipFill>
          <a:blip r:embed="rId3"/>
          <a:stretch>
            <a:fillRect/>
          </a:stretch>
        </p:blipFill>
        <p:spPr>
          <a:xfrm>
            <a:off x="8547100" y="2819400"/>
            <a:ext cx="279400" cy="279400"/>
          </a:xfrm>
          <a:prstGeom prst="rect">
            <a:avLst/>
          </a:prstGeom>
        </p:spPr>
      </p:pic>
      <p:sp>
        <p:nvSpPr>
          <p:cNvPr id="23" name="Text 19"/>
          <p:cNvSpPr txBox="1"/>
          <p:nvPr/>
        </p:nvSpPr>
        <p:spPr>
          <a:xfrm>
            <a:off x="8991600" y="2679700"/>
            <a:ext cx="1320800" cy="558800"/>
          </a:xfrm>
          <a:prstGeom prst="rect">
            <a:avLst/>
          </a:prstGeom>
          <a:noFill/>
          <a:ln/>
        </p:spPr>
        <p:txBody>
          <a:bodyPr wrap="square" lIns="0" tIns="0" rIns="0" bIns="0" rtlCol="0" anchor="ctr"/>
          <a:lstStyle/>
          <a:p>
            <a:pPr indent="0" marL="0">
              <a:buNone/>
            </a:pPr>
            <a:r>
              <a:rPr lang="en-US" sz="1250" strike="sngStrike" dirty="0">
                <a:solidFill>
                  <a:srgbClr val="7C8B7E"/>
                </a:solidFill>
                <a:latin typeface="Arial" pitchFamily="34" charset="0"/>
                <a:ea typeface="Arial" pitchFamily="34" charset="-122"/>
                <a:cs typeface="Arial" pitchFamily="34" charset="-120"/>
              </a:rPr>
              <a:t>Milk</a:t>
            </a:r>
            <a:endParaRPr lang="en-US" sz="1250" dirty="0"/>
          </a:p>
        </p:txBody>
      </p:sp>
      <p:pic>
        <p:nvPicPr>
          <p:cNvPr id="24" name="Image 2" descr="preencoded.png">    </p:cNvPr>
          <p:cNvPicPr>
            <a:picLocks noChangeAspect="1"/>
          </p:cNvPicPr>
          <p:nvPr/>
        </p:nvPicPr>
        <p:blipFill>
          <a:blip r:embed="rId4"/>
          <a:stretch>
            <a:fillRect/>
          </a:stretch>
        </p:blipFill>
        <p:spPr>
          <a:xfrm>
            <a:off x="10502900" y="2844800"/>
            <a:ext cx="241300" cy="241300"/>
          </a:xfrm>
          <a:prstGeom prst="rect">
            <a:avLst/>
          </a:prstGeom>
        </p:spPr>
      </p:pic>
      <p:pic>
        <p:nvPicPr>
          <p:cNvPr id="25" name="Image 3" descr="preencoded.png">    </p:cNvPr>
          <p:cNvPicPr>
            <a:picLocks noChangeAspect="1"/>
          </p:cNvPicPr>
          <p:nvPr/>
        </p:nvPicPr>
        <p:blipFill>
          <a:blip r:embed="rId5"/>
          <a:stretch>
            <a:fillRect/>
          </a:stretch>
        </p:blipFill>
        <p:spPr>
          <a:xfrm>
            <a:off x="8547100" y="3403600"/>
            <a:ext cx="279400" cy="279400"/>
          </a:xfrm>
          <a:prstGeom prst="rect">
            <a:avLst/>
          </a:prstGeom>
        </p:spPr>
      </p:pic>
      <p:sp>
        <p:nvSpPr>
          <p:cNvPr id="26" name="Text 20"/>
          <p:cNvSpPr txBox="1"/>
          <p:nvPr/>
        </p:nvSpPr>
        <p:spPr>
          <a:xfrm>
            <a:off x="8991600" y="3263900"/>
            <a:ext cx="1320800" cy="558800"/>
          </a:xfrm>
          <a:prstGeom prst="rect">
            <a:avLst/>
          </a:prstGeom>
          <a:noFill/>
          <a:ln/>
        </p:spPr>
        <p:txBody>
          <a:bodyPr wrap="square" lIns="0" tIns="0" rIns="0" bIns="0" rtlCol="0" anchor="ctr"/>
          <a:lstStyle/>
          <a:p>
            <a:pPr indent="0" marL="0">
              <a:buNone/>
            </a:pPr>
            <a:r>
              <a:rPr lang="en-US" sz="1250" dirty="0">
                <a:solidFill>
                  <a:srgbClr val="1D2B20"/>
                </a:solidFill>
                <a:latin typeface="Arial" pitchFamily="34" charset="0"/>
                <a:ea typeface="Arial" pitchFamily="34" charset="-122"/>
                <a:cs typeface="Arial" pitchFamily="34" charset="-120"/>
              </a:rPr>
              <a:t>Bread</a:t>
            </a:r>
            <a:endParaRPr lang="en-US" sz="1250" dirty="0"/>
          </a:p>
        </p:txBody>
      </p:sp>
      <p:pic>
        <p:nvPicPr>
          <p:cNvPr id="27" name="Image 4" descr="preencoded.png">    </p:cNvPr>
          <p:cNvPicPr>
            <a:picLocks noChangeAspect="1"/>
          </p:cNvPicPr>
          <p:nvPr/>
        </p:nvPicPr>
        <p:blipFill>
          <a:blip r:embed="rId6"/>
          <a:stretch>
            <a:fillRect/>
          </a:stretch>
        </p:blipFill>
        <p:spPr>
          <a:xfrm>
            <a:off x="10502900" y="3429000"/>
            <a:ext cx="241300" cy="241300"/>
          </a:xfrm>
          <a:prstGeom prst="rect">
            <a:avLst/>
          </a:prstGeom>
        </p:spPr>
      </p:pic>
      <p:pic>
        <p:nvPicPr>
          <p:cNvPr id="28" name="Image 5" descr="preencoded.png">    </p:cNvPr>
          <p:cNvPicPr>
            <a:picLocks noChangeAspect="1"/>
          </p:cNvPicPr>
          <p:nvPr/>
        </p:nvPicPr>
        <p:blipFill>
          <a:blip r:embed="rId7"/>
          <a:stretch>
            <a:fillRect/>
          </a:stretch>
        </p:blipFill>
        <p:spPr>
          <a:xfrm>
            <a:off x="8547100" y="3987800"/>
            <a:ext cx="279400" cy="279400"/>
          </a:xfrm>
          <a:prstGeom prst="rect">
            <a:avLst/>
          </a:prstGeom>
        </p:spPr>
      </p:pic>
      <p:sp>
        <p:nvSpPr>
          <p:cNvPr id="29" name="Text 21"/>
          <p:cNvSpPr txBox="1"/>
          <p:nvPr/>
        </p:nvSpPr>
        <p:spPr>
          <a:xfrm>
            <a:off x="8991600" y="3848100"/>
            <a:ext cx="1320800" cy="558800"/>
          </a:xfrm>
          <a:prstGeom prst="rect">
            <a:avLst/>
          </a:prstGeom>
          <a:noFill/>
          <a:ln/>
        </p:spPr>
        <p:txBody>
          <a:bodyPr wrap="square" lIns="0" tIns="0" rIns="0" bIns="0" rtlCol="0" anchor="ctr"/>
          <a:lstStyle/>
          <a:p>
            <a:pPr indent="0" marL="0">
              <a:buNone/>
            </a:pPr>
            <a:r>
              <a:rPr lang="en-US" sz="1250" dirty="0">
                <a:solidFill>
                  <a:srgbClr val="1D2B20"/>
                </a:solidFill>
                <a:latin typeface="Arial" pitchFamily="34" charset="0"/>
                <a:ea typeface="Arial" pitchFamily="34" charset="-122"/>
                <a:cs typeface="Arial" pitchFamily="34" charset="-120"/>
              </a:rPr>
              <a:t>Rice</a:t>
            </a:r>
            <a:endParaRPr lang="en-US" sz="1250" dirty="0"/>
          </a:p>
        </p:txBody>
      </p:sp>
      <p:pic>
        <p:nvPicPr>
          <p:cNvPr id="30" name="Image 6" descr="preencoded.png">    </p:cNvPr>
          <p:cNvPicPr>
            <a:picLocks noChangeAspect="1"/>
          </p:cNvPicPr>
          <p:nvPr/>
        </p:nvPicPr>
        <p:blipFill>
          <a:blip r:embed="rId8"/>
          <a:stretch>
            <a:fillRect/>
          </a:stretch>
        </p:blipFill>
        <p:spPr>
          <a:xfrm>
            <a:off x="10502900" y="4013200"/>
            <a:ext cx="241300" cy="2413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812800" y="762000"/>
            <a:ext cx="10566400" cy="254000"/>
          </a:xfrm>
          <a:prstGeom prst="rect">
            <a:avLst/>
          </a:prstGeom>
          <a:noFill/>
          <a:ln/>
        </p:spPr>
        <p:txBody>
          <a:bodyPr wrap="square" lIns="0" tIns="0" rIns="0" bIns="0" rtlCol="0" anchor="t"/>
          <a:lstStyle/>
          <a:p>
            <a:pPr indent="0" marL="0">
              <a:buNone/>
            </a:pPr>
            <a:r>
              <a:rPr lang="en-US" sz="1200" b="1" spc="400" kern="0" dirty="0">
                <a:solidFill>
                  <a:srgbClr val="0468D7"/>
                </a:solidFill>
                <a:latin typeface="Arial" pitchFamily="34" charset="0"/>
                <a:ea typeface="Arial" pitchFamily="34" charset="-122"/>
                <a:cs typeface="Arial" pitchFamily="34" charset="-120"/>
              </a:rPr>
              <a:t>HOW DO APPS LOOK?</a:t>
            </a:r>
            <a:endParaRPr lang="en-US" sz="1200" dirty="0"/>
          </a:p>
        </p:txBody>
      </p:sp>
      <p:sp>
        <p:nvSpPr>
          <p:cNvPr id="3" name="Text 1"/>
          <p:cNvSpPr txBox="1"/>
          <p:nvPr/>
        </p:nvSpPr>
        <p:spPr>
          <a:xfrm>
            <a:off x="812800" y="1054100"/>
            <a:ext cx="10566400" cy="698500"/>
          </a:xfrm>
          <a:prstGeom prst="rect">
            <a:avLst/>
          </a:prstGeom>
          <a:noFill/>
          <a:ln/>
        </p:spPr>
        <p:txBody>
          <a:bodyPr wrap="square" lIns="0" tIns="0" rIns="0" bIns="0" rtlCol="0" anchor="t"/>
          <a:lstStyle/>
          <a:p>
            <a:pPr indent="0" marL="0">
              <a:buNone/>
            </a:pPr>
            <a:r>
              <a:rPr lang="en-US" sz="3800" b="1" dirty="0">
                <a:solidFill>
                  <a:srgbClr val="0E1220"/>
                </a:solidFill>
                <a:latin typeface="Arial" pitchFamily="34" charset="0"/>
                <a:ea typeface="Arial" pitchFamily="34" charset="-122"/>
                <a:cs typeface="Arial" pitchFamily="34" charset="-120"/>
              </a:rPr>
              <a:t>Every screen is a tree of widgets</a:t>
            </a:r>
            <a:endParaRPr lang="en-US" sz="3800" dirty="0"/>
          </a:p>
        </p:txBody>
      </p:sp>
      <p:sp>
        <p:nvSpPr>
          <p:cNvPr id="4" name="Shape 2"/>
          <p:cNvSpPr/>
          <p:nvPr/>
        </p:nvSpPr>
        <p:spPr>
          <a:xfrm>
            <a:off x="812800" y="1841500"/>
            <a:ext cx="2794000" cy="4381500"/>
          </a:xfrm>
          <a:prstGeom prst="roundRect">
            <a:avLst>
              <a:gd name="adj" fmla="val 13745"/>
            </a:avLst>
          </a:prstGeom>
          <a:solidFill>
            <a:srgbClr val="141A2E"/>
          </a:solidFill>
          <a:ln w="38100">
            <a:solidFill>
              <a:srgbClr val="3A4770"/>
            </a:solidFill>
            <a:prstDash val="solid"/>
          </a:ln>
          <a:effectLst>
            <a:outerShdw sx="100000" sy="100000" kx="0" ky="0" algn="bl" rotWithShape="0" blurRad="279400" dist="101600" dir="5400000">
              <a:srgbClr val="0E1220">
                <a:alpha val="25000"/>
              </a:srgbClr>
            </a:outerShdw>
          </a:effectLst>
        </p:spPr>
      </p:sp>
      <p:sp>
        <p:nvSpPr>
          <p:cNvPr id="5" name="Shape 3"/>
          <p:cNvSpPr/>
          <p:nvPr/>
        </p:nvSpPr>
        <p:spPr>
          <a:xfrm>
            <a:off x="914400" y="1943100"/>
            <a:ext cx="2590800" cy="4178300"/>
          </a:xfrm>
          <a:prstGeom prst="roundRect">
            <a:avLst>
              <a:gd name="adj" fmla="val 12000"/>
            </a:avLst>
          </a:prstGeom>
          <a:solidFill>
            <a:srgbClr val="FFFFFF"/>
          </a:solidFill>
          <a:ln w="12700">
            <a:solidFill>
              <a:srgbClr val="FFFFFF"/>
            </a:solidFill>
            <a:prstDash val="solid"/>
          </a:ln>
        </p:spPr>
      </p:sp>
      <p:sp>
        <p:nvSpPr>
          <p:cNvPr id="6" name="Shape 4"/>
          <p:cNvSpPr/>
          <p:nvPr/>
        </p:nvSpPr>
        <p:spPr>
          <a:xfrm>
            <a:off x="1860550" y="2006600"/>
            <a:ext cx="698500" cy="114300"/>
          </a:xfrm>
          <a:prstGeom prst="roundRect">
            <a:avLst>
              <a:gd name="adj" fmla="val 64000"/>
            </a:avLst>
          </a:prstGeom>
          <a:solidFill>
            <a:srgbClr val="05070D"/>
          </a:solidFill>
          <a:ln w="12700">
            <a:solidFill>
              <a:srgbClr val="05070D"/>
            </a:solidFill>
            <a:prstDash val="solid"/>
          </a:ln>
        </p:spPr>
      </p:sp>
      <p:sp>
        <p:nvSpPr>
          <p:cNvPr id="7" name="Shape 5"/>
          <p:cNvSpPr/>
          <p:nvPr/>
        </p:nvSpPr>
        <p:spPr>
          <a:xfrm>
            <a:off x="914400" y="1943100"/>
            <a:ext cx="2590800" cy="698500"/>
          </a:xfrm>
          <a:prstGeom prst="roundRect">
            <a:avLst>
              <a:gd name="adj" fmla="val 44509"/>
            </a:avLst>
          </a:prstGeom>
          <a:solidFill>
            <a:srgbClr val="128C7E"/>
          </a:solidFill>
          <a:ln w="12700">
            <a:solidFill>
              <a:srgbClr val="128C7E"/>
            </a:solidFill>
            <a:prstDash val="solid"/>
          </a:ln>
        </p:spPr>
      </p:sp>
      <p:sp>
        <p:nvSpPr>
          <p:cNvPr id="8" name="Shape 6"/>
          <p:cNvSpPr/>
          <p:nvPr/>
        </p:nvSpPr>
        <p:spPr>
          <a:xfrm>
            <a:off x="914400" y="2324100"/>
            <a:ext cx="2590800" cy="317500"/>
          </a:xfrm>
          <a:prstGeom prst="rect">
            <a:avLst/>
          </a:prstGeom>
          <a:solidFill>
            <a:srgbClr val="128C7E"/>
          </a:solidFill>
          <a:ln w="12700">
            <a:solidFill>
              <a:srgbClr val="128C7E"/>
            </a:solidFill>
            <a:prstDash val="solid"/>
          </a:ln>
        </p:spPr>
      </p:sp>
      <p:sp>
        <p:nvSpPr>
          <p:cNvPr id="9" name="Text 7"/>
          <p:cNvSpPr txBox="1"/>
          <p:nvPr/>
        </p:nvSpPr>
        <p:spPr>
          <a:xfrm>
            <a:off x="1092200" y="2235200"/>
            <a:ext cx="1905000" cy="35560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Chats</a:t>
            </a:r>
            <a:endParaRPr lang="en-US" sz="1500" dirty="0"/>
          </a:p>
        </p:txBody>
      </p:sp>
      <p:sp>
        <p:nvSpPr>
          <p:cNvPr id="10" name="Shape 8"/>
          <p:cNvSpPr/>
          <p:nvPr/>
        </p:nvSpPr>
        <p:spPr>
          <a:xfrm>
            <a:off x="1054100" y="2844800"/>
            <a:ext cx="444500" cy="444500"/>
          </a:xfrm>
          <a:prstGeom prst="ellipse">
            <a:avLst/>
          </a:prstGeom>
          <a:solidFill>
            <a:srgbClr val="F4A261"/>
          </a:solidFill>
          <a:ln w="12700">
            <a:solidFill>
              <a:srgbClr val="F4A261"/>
            </a:solidFill>
            <a:prstDash val="solid"/>
          </a:ln>
        </p:spPr>
      </p:sp>
      <p:sp>
        <p:nvSpPr>
          <p:cNvPr id="11" name="Text 9"/>
          <p:cNvSpPr txBox="1"/>
          <p:nvPr/>
        </p:nvSpPr>
        <p:spPr>
          <a:xfrm>
            <a:off x="1054100" y="2844800"/>
            <a:ext cx="444500" cy="4445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a:t>
            </a:r>
            <a:endParaRPr lang="en-US" sz="1400" dirty="0"/>
          </a:p>
        </p:txBody>
      </p:sp>
      <p:sp>
        <p:nvSpPr>
          <p:cNvPr id="12" name="Text 10"/>
          <p:cNvSpPr txBox="1"/>
          <p:nvPr/>
        </p:nvSpPr>
        <p:spPr>
          <a:xfrm>
            <a:off x="1612900" y="2857500"/>
            <a:ext cx="1270000" cy="228600"/>
          </a:xfrm>
          <a:prstGeom prst="rect">
            <a:avLst/>
          </a:prstGeom>
          <a:noFill/>
          <a:ln/>
        </p:spPr>
        <p:txBody>
          <a:bodyPr wrap="square" lIns="0" tIns="0" rIns="0" bIns="0" rtlCol="0" anchor="t"/>
          <a:lstStyle/>
          <a:p>
            <a:pPr indent="0" marL="0">
              <a:buNone/>
            </a:pPr>
            <a:r>
              <a:rPr lang="en-US" sz="1250" b="1" dirty="0">
                <a:solidFill>
                  <a:srgbClr val="1D1D1F"/>
                </a:solidFill>
                <a:latin typeface="Arial" pitchFamily="34" charset="0"/>
                <a:ea typeface="Arial" pitchFamily="34" charset="-122"/>
                <a:cs typeface="Arial" pitchFamily="34" charset="-120"/>
              </a:rPr>
              <a:t>Aline</a:t>
            </a:r>
            <a:endParaRPr lang="en-US" sz="1250" dirty="0"/>
          </a:p>
        </p:txBody>
      </p:sp>
      <p:sp>
        <p:nvSpPr>
          <p:cNvPr id="13" name="Text 11"/>
          <p:cNvSpPr txBox="1"/>
          <p:nvPr/>
        </p:nvSpPr>
        <p:spPr>
          <a:xfrm>
            <a:off x="1612900" y="3086100"/>
            <a:ext cx="1714500" cy="203200"/>
          </a:xfrm>
          <a:prstGeom prst="rect">
            <a:avLst/>
          </a:prstGeom>
          <a:noFill/>
          <a:ln/>
        </p:spPr>
        <p:txBody>
          <a:bodyPr wrap="square" lIns="0" tIns="0" rIns="0" bIns="0" rtlCol="0" anchor="t"/>
          <a:lstStyle/>
          <a:p>
            <a:pPr indent="0" marL="0">
              <a:buNone/>
            </a:pPr>
            <a:r>
              <a:rPr lang="en-US" sz="1000" dirty="0">
                <a:solidFill>
                  <a:srgbClr val="6E6E73"/>
                </a:solidFill>
                <a:latin typeface="Arial" pitchFamily="34" charset="0"/>
                <a:ea typeface="Arial" pitchFamily="34" charset="-122"/>
                <a:cs typeface="Arial" pitchFamily="34" charset="-120"/>
              </a:rPr>
              <a:t>See you at 6!</a:t>
            </a:r>
            <a:endParaRPr lang="en-US" sz="1000" dirty="0"/>
          </a:p>
        </p:txBody>
      </p:sp>
      <p:sp>
        <p:nvSpPr>
          <p:cNvPr id="14" name="Text 12"/>
          <p:cNvSpPr txBox="1"/>
          <p:nvPr/>
        </p:nvSpPr>
        <p:spPr>
          <a:xfrm>
            <a:off x="2895600" y="2870200"/>
            <a:ext cx="508000" cy="190500"/>
          </a:xfrm>
          <a:prstGeom prst="rect">
            <a:avLst/>
          </a:prstGeom>
          <a:noFill/>
          <a:ln/>
        </p:spPr>
        <p:txBody>
          <a:bodyPr wrap="square" lIns="0" tIns="0" rIns="0" bIns="0" rtlCol="0" anchor="t"/>
          <a:lstStyle/>
          <a:p>
            <a:pPr algn="r" indent="0" marL="0">
              <a:buNone/>
            </a:pPr>
            <a:r>
              <a:rPr lang="en-US" sz="950" dirty="0">
                <a:solidFill>
                  <a:srgbClr val="6E6E73"/>
                </a:solidFill>
                <a:latin typeface="Arial" pitchFamily="34" charset="0"/>
                <a:ea typeface="Arial" pitchFamily="34" charset="-122"/>
                <a:cs typeface="Arial" pitchFamily="34" charset="-120"/>
              </a:rPr>
              <a:t>18:02</a:t>
            </a:r>
            <a:endParaRPr lang="en-US" sz="950" dirty="0"/>
          </a:p>
        </p:txBody>
      </p:sp>
      <p:sp>
        <p:nvSpPr>
          <p:cNvPr id="15" name="Shape 13"/>
          <p:cNvSpPr/>
          <p:nvPr/>
        </p:nvSpPr>
        <p:spPr>
          <a:xfrm>
            <a:off x="1054100" y="3556000"/>
            <a:ext cx="444500" cy="444500"/>
          </a:xfrm>
          <a:prstGeom prst="ellipse">
            <a:avLst/>
          </a:prstGeom>
          <a:solidFill>
            <a:srgbClr val="2A9D8F"/>
          </a:solidFill>
          <a:ln w="12700">
            <a:solidFill>
              <a:srgbClr val="2A9D8F"/>
            </a:solidFill>
            <a:prstDash val="solid"/>
          </a:ln>
        </p:spPr>
      </p:sp>
      <p:sp>
        <p:nvSpPr>
          <p:cNvPr id="16" name="Text 14"/>
          <p:cNvSpPr txBox="1"/>
          <p:nvPr/>
        </p:nvSpPr>
        <p:spPr>
          <a:xfrm>
            <a:off x="1054100" y="3556000"/>
            <a:ext cx="444500" cy="4445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a:t>
            </a:r>
            <a:endParaRPr lang="en-US" sz="1400" dirty="0"/>
          </a:p>
        </p:txBody>
      </p:sp>
      <p:sp>
        <p:nvSpPr>
          <p:cNvPr id="17" name="Text 15"/>
          <p:cNvSpPr txBox="1"/>
          <p:nvPr/>
        </p:nvSpPr>
        <p:spPr>
          <a:xfrm>
            <a:off x="1612900" y="3568700"/>
            <a:ext cx="1270000" cy="228600"/>
          </a:xfrm>
          <a:prstGeom prst="rect">
            <a:avLst/>
          </a:prstGeom>
          <a:noFill/>
          <a:ln/>
        </p:spPr>
        <p:txBody>
          <a:bodyPr wrap="square" lIns="0" tIns="0" rIns="0" bIns="0" rtlCol="0" anchor="t"/>
          <a:lstStyle/>
          <a:p>
            <a:pPr indent="0" marL="0">
              <a:buNone/>
            </a:pPr>
            <a:r>
              <a:rPr lang="en-US" sz="1250" b="1" dirty="0">
                <a:solidFill>
                  <a:srgbClr val="1D1D1F"/>
                </a:solidFill>
                <a:latin typeface="Arial" pitchFamily="34" charset="0"/>
                <a:ea typeface="Arial" pitchFamily="34" charset="-122"/>
                <a:cs typeface="Arial" pitchFamily="34" charset="-120"/>
              </a:rPr>
              <a:t>Eric</a:t>
            </a:r>
            <a:endParaRPr lang="en-US" sz="1250" dirty="0"/>
          </a:p>
        </p:txBody>
      </p:sp>
      <p:sp>
        <p:nvSpPr>
          <p:cNvPr id="18" name="Text 16"/>
          <p:cNvSpPr txBox="1"/>
          <p:nvPr/>
        </p:nvSpPr>
        <p:spPr>
          <a:xfrm>
            <a:off x="1612900" y="3797300"/>
            <a:ext cx="1714500" cy="203200"/>
          </a:xfrm>
          <a:prstGeom prst="rect">
            <a:avLst/>
          </a:prstGeom>
          <a:noFill/>
          <a:ln/>
        </p:spPr>
        <p:txBody>
          <a:bodyPr wrap="square" lIns="0" tIns="0" rIns="0" bIns="0" rtlCol="0" anchor="t"/>
          <a:lstStyle/>
          <a:p>
            <a:pPr indent="0" marL="0">
              <a:buNone/>
            </a:pPr>
            <a:r>
              <a:rPr lang="en-US" sz="1000" dirty="0">
                <a:solidFill>
                  <a:srgbClr val="6E6E73"/>
                </a:solidFill>
                <a:latin typeface="Arial" pitchFamily="34" charset="0"/>
                <a:ea typeface="Arial" pitchFamily="34" charset="-122"/>
                <a:cs typeface="Arial" pitchFamily="34" charset="-120"/>
              </a:rPr>
              <a:t>Did Lab 7 work for you?</a:t>
            </a:r>
            <a:endParaRPr lang="en-US" sz="1000" dirty="0"/>
          </a:p>
        </p:txBody>
      </p:sp>
      <p:sp>
        <p:nvSpPr>
          <p:cNvPr id="19" name="Text 17"/>
          <p:cNvSpPr txBox="1"/>
          <p:nvPr/>
        </p:nvSpPr>
        <p:spPr>
          <a:xfrm>
            <a:off x="2895600" y="3581400"/>
            <a:ext cx="508000" cy="190500"/>
          </a:xfrm>
          <a:prstGeom prst="rect">
            <a:avLst/>
          </a:prstGeom>
          <a:noFill/>
          <a:ln/>
        </p:spPr>
        <p:txBody>
          <a:bodyPr wrap="square" lIns="0" tIns="0" rIns="0" bIns="0" rtlCol="0" anchor="t"/>
          <a:lstStyle/>
          <a:p>
            <a:pPr algn="r" indent="0" marL="0">
              <a:buNone/>
            </a:pPr>
            <a:r>
              <a:rPr lang="en-US" sz="950" dirty="0">
                <a:solidFill>
                  <a:srgbClr val="6E6E73"/>
                </a:solidFill>
                <a:latin typeface="Arial" pitchFamily="34" charset="0"/>
                <a:ea typeface="Arial" pitchFamily="34" charset="-122"/>
                <a:cs typeface="Arial" pitchFamily="34" charset="-120"/>
              </a:rPr>
              <a:t>17:40</a:t>
            </a:r>
            <a:endParaRPr lang="en-US" sz="950" dirty="0"/>
          </a:p>
        </p:txBody>
      </p:sp>
      <p:sp>
        <p:nvSpPr>
          <p:cNvPr id="20" name="Shape 18"/>
          <p:cNvSpPr/>
          <p:nvPr/>
        </p:nvSpPr>
        <p:spPr>
          <a:xfrm>
            <a:off x="1054100" y="4267200"/>
            <a:ext cx="444500" cy="444500"/>
          </a:xfrm>
          <a:prstGeom prst="ellipse">
            <a:avLst/>
          </a:prstGeom>
          <a:solidFill>
            <a:srgbClr val="E76F51"/>
          </a:solidFill>
          <a:ln w="12700">
            <a:solidFill>
              <a:srgbClr val="E76F51"/>
            </a:solidFill>
            <a:prstDash val="solid"/>
          </a:ln>
        </p:spPr>
      </p:sp>
      <p:sp>
        <p:nvSpPr>
          <p:cNvPr id="21" name="Text 19"/>
          <p:cNvSpPr txBox="1"/>
          <p:nvPr/>
        </p:nvSpPr>
        <p:spPr>
          <a:xfrm>
            <a:off x="1054100" y="4267200"/>
            <a:ext cx="444500" cy="4445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K</a:t>
            </a:r>
            <a:endParaRPr lang="en-US" sz="1400" dirty="0"/>
          </a:p>
        </p:txBody>
      </p:sp>
      <p:sp>
        <p:nvSpPr>
          <p:cNvPr id="22" name="Text 20"/>
          <p:cNvSpPr txBox="1"/>
          <p:nvPr/>
        </p:nvSpPr>
        <p:spPr>
          <a:xfrm>
            <a:off x="1612900" y="4279900"/>
            <a:ext cx="1270000" cy="228600"/>
          </a:xfrm>
          <a:prstGeom prst="rect">
            <a:avLst/>
          </a:prstGeom>
          <a:noFill/>
          <a:ln/>
        </p:spPr>
        <p:txBody>
          <a:bodyPr wrap="square" lIns="0" tIns="0" rIns="0" bIns="0" rtlCol="0" anchor="t"/>
          <a:lstStyle/>
          <a:p>
            <a:pPr indent="0" marL="0">
              <a:buNone/>
            </a:pPr>
            <a:r>
              <a:rPr lang="en-US" sz="1250" b="1" dirty="0">
                <a:solidFill>
                  <a:srgbClr val="1D1D1F"/>
                </a:solidFill>
                <a:latin typeface="Arial" pitchFamily="34" charset="0"/>
                <a:ea typeface="Arial" pitchFamily="34" charset="-122"/>
                <a:cs typeface="Arial" pitchFamily="34" charset="-120"/>
              </a:rPr>
              <a:t>Keza</a:t>
            </a:r>
            <a:endParaRPr lang="en-US" sz="1250" dirty="0"/>
          </a:p>
        </p:txBody>
      </p:sp>
      <p:sp>
        <p:nvSpPr>
          <p:cNvPr id="23" name="Text 21"/>
          <p:cNvSpPr txBox="1"/>
          <p:nvPr/>
        </p:nvSpPr>
        <p:spPr>
          <a:xfrm>
            <a:off x="1612900" y="4508500"/>
            <a:ext cx="1714500" cy="203200"/>
          </a:xfrm>
          <a:prstGeom prst="rect">
            <a:avLst/>
          </a:prstGeom>
          <a:noFill/>
          <a:ln/>
        </p:spPr>
        <p:txBody>
          <a:bodyPr wrap="square" lIns="0" tIns="0" rIns="0" bIns="0" rtlCol="0" anchor="t"/>
          <a:lstStyle/>
          <a:p>
            <a:pPr indent="0" marL="0">
              <a:buNone/>
            </a:pPr>
            <a:r>
              <a:rPr lang="en-US" sz="1000" dirty="0">
                <a:solidFill>
                  <a:srgbClr val="6E6E73"/>
                </a:solidFill>
                <a:latin typeface="Arial" pitchFamily="34" charset="0"/>
                <a:ea typeface="Arial" pitchFamily="34" charset="-122"/>
                <a:cs typeface="Arial" pitchFamily="34" charset="-120"/>
              </a:rPr>
              <a:t>Voice message</a:t>
            </a:r>
            <a:endParaRPr lang="en-US" sz="1000" dirty="0"/>
          </a:p>
        </p:txBody>
      </p:sp>
      <p:sp>
        <p:nvSpPr>
          <p:cNvPr id="24" name="Text 22"/>
          <p:cNvSpPr txBox="1"/>
          <p:nvPr/>
        </p:nvSpPr>
        <p:spPr>
          <a:xfrm>
            <a:off x="2895600" y="4292600"/>
            <a:ext cx="508000" cy="190500"/>
          </a:xfrm>
          <a:prstGeom prst="rect">
            <a:avLst/>
          </a:prstGeom>
          <a:noFill/>
          <a:ln/>
        </p:spPr>
        <p:txBody>
          <a:bodyPr wrap="square" lIns="0" tIns="0" rIns="0" bIns="0" rtlCol="0" anchor="t"/>
          <a:lstStyle/>
          <a:p>
            <a:pPr algn="r" indent="0" marL="0">
              <a:buNone/>
            </a:pPr>
            <a:r>
              <a:rPr lang="en-US" sz="950" dirty="0">
                <a:solidFill>
                  <a:srgbClr val="6E6E73"/>
                </a:solidFill>
                <a:latin typeface="Arial" pitchFamily="34" charset="0"/>
                <a:ea typeface="Arial" pitchFamily="34" charset="-122"/>
                <a:cs typeface="Arial" pitchFamily="34" charset="-120"/>
              </a:rPr>
              <a:t>16:15</a:t>
            </a:r>
            <a:endParaRPr lang="en-US" sz="950" dirty="0"/>
          </a:p>
        </p:txBody>
      </p:sp>
      <p:sp>
        <p:nvSpPr>
          <p:cNvPr id="25" name="Shape 23"/>
          <p:cNvSpPr/>
          <p:nvPr/>
        </p:nvSpPr>
        <p:spPr>
          <a:xfrm>
            <a:off x="1054100" y="4978400"/>
            <a:ext cx="444500" cy="444500"/>
          </a:xfrm>
          <a:prstGeom prst="ellipse">
            <a:avLst/>
          </a:prstGeom>
          <a:solidFill>
            <a:srgbClr val="8A97B5"/>
          </a:solidFill>
          <a:ln w="12700">
            <a:solidFill>
              <a:srgbClr val="8A97B5"/>
            </a:solidFill>
            <a:prstDash val="solid"/>
          </a:ln>
        </p:spPr>
      </p:sp>
      <p:sp>
        <p:nvSpPr>
          <p:cNvPr id="26" name="Text 24"/>
          <p:cNvSpPr txBox="1"/>
          <p:nvPr/>
        </p:nvSpPr>
        <p:spPr>
          <a:xfrm>
            <a:off x="1054100" y="4978400"/>
            <a:ext cx="444500" cy="4445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a:t>
            </a:r>
            <a:endParaRPr lang="en-US" sz="1400" dirty="0"/>
          </a:p>
        </p:txBody>
      </p:sp>
      <p:sp>
        <p:nvSpPr>
          <p:cNvPr id="27" name="Text 25"/>
          <p:cNvSpPr txBox="1"/>
          <p:nvPr/>
        </p:nvSpPr>
        <p:spPr>
          <a:xfrm>
            <a:off x="1612900" y="4991100"/>
            <a:ext cx="1270000" cy="228600"/>
          </a:xfrm>
          <a:prstGeom prst="rect">
            <a:avLst/>
          </a:prstGeom>
          <a:noFill/>
          <a:ln/>
        </p:spPr>
        <p:txBody>
          <a:bodyPr wrap="square" lIns="0" tIns="0" rIns="0" bIns="0" rtlCol="0" anchor="t"/>
          <a:lstStyle/>
          <a:p>
            <a:pPr indent="0" marL="0">
              <a:buNone/>
            </a:pPr>
            <a:r>
              <a:rPr lang="en-US" sz="1250" b="1" dirty="0">
                <a:solidFill>
                  <a:srgbClr val="1D1D1F"/>
                </a:solidFill>
                <a:latin typeface="Arial" pitchFamily="34" charset="0"/>
                <a:ea typeface="Arial" pitchFamily="34" charset="-122"/>
                <a:cs typeface="Arial" pitchFamily="34" charset="-120"/>
              </a:rPr>
              <a:t>Class group</a:t>
            </a:r>
            <a:endParaRPr lang="en-US" sz="1250" dirty="0"/>
          </a:p>
        </p:txBody>
      </p:sp>
      <p:sp>
        <p:nvSpPr>
          <p:cNvPr id="28" name="Text 26"/>
          <p:cNvSpPr txBox="1"/>
          <p:nvPr/>
        </p:nvSpPr>
        <p:spPr>
          <a:xfrm>
            <a:off x="1612900" y="5219700"/>
            <a:ext cx="1714500" cy="203200"/>
          </a:xfrm>
          <a:prstGeom prst="rect">
            <a:avLst/>
          </a:prstGeom>
          <a:noFill/>
          <a:ln/>
        </p:spPr>
        <p:txBody>
          <a:bodyPr wrap="square" lIns="0" tIns="0" rIns="0" bIns="0" rtlCol="0" anchor="t"/>
          <a:lstStyle/>
          <a:p>
            <a:pPr indent="0" marL="0">
              <a:buNone/>
            </a:pPr>
            <a:r>
              <a:rPr lang="en-US" sz="1000" dirty="0">
                <a:solidFill>
                  <a:srgbClr val="6E6E73"/>
                </a:solidFill>
                <a:latin typeface="Arial" pitchFamily="34" charset="0"/>
                <a:ea typeface="Arial" pitchFamily="34" charset="-122"/>
                <a:cs typeface="Arial" pitchFamily="34" charset="-120"/>
              </a:rPr>
              <a:t>Mentor: install clinic at 5:30</a:t>
            </a:r>
            <a:endParaRPr lang="en-US" sz="1000" dirty="0"/>
          </a:p>
        </p:txBody>
      </p:sp>
      <p:sp>
        <p:nvSpPr>
          <p:cNvPr id="29" name="Text 27"/>
          <p:cNvSpPr txBox="1"/>
          <p:nvPr/>
        </p:nvSpPr>
        <p:spPr>
          <a:xfrm>
            <a:off x="2895600" y="5003800"/>
            <a:ext cx="508000" cy="190500"/>
          </a:xfrm>
          <a:prstGeom prst="rect">
            <a:avLst/>
          </a:prstGeom>
          <a:noFill/>
          <a:ln/>
        </p:spPr>
        <p:txBody>
          <a:bodyPr wrap="square" lIns="0" tIns="0" rIns="0" bIns="0" rtlCol="0" anchor="t"/>
          <a:lstStyle/>
          <a:p>
            <a:pPr algn="r" indent="0" marL="0">
              <a:buNone/>
            </a:pPr>
            <a:r>
              <a:rPr lang="en-US" sz="950" dirty="0">
                <a:solidFill>
                  <a:srgbClr val="6E6E73"/>
                </a:solidFill>
                <a:latin typeface="Arial" pitchFamily="34" charset="0"/>
                <a:ea typeface="Arial" pitchFamily="34" charset="-122"/>
                <a:cs typeface="Arial" pitchFamily="34" charset="-120"/>
              </a:rPr>
              <a:t>Mon</a:t>
            </a:r>
            <a:endParaRPr lang="en-US" sz="950" dirty="0"/>
          </a:p>
        </p:txBody>
      </p:sp>
      <p:sp>
        <p:nvSpPr>
          <p:cNvPr id="30" name="Shape 28"/>
          <p:cNvSpPr/>
          <p:nvPr/>
        </p:nvSpPr>
        <p:spPr>
          <a:xfrm>
            <a:off x="2844800" y="5461000"/>
            <a:ext cx="508000" cy="508000"/>
          </a:xfrm>
          <a:prstGeom prst="ellipse">
            <a:avLst/>
          </a:prstGeom>
          <a:solidFill>
            <a:srgbClr val="25D366"/>
          </a:solidFill>
          <a:ln w="12700">
            <a:solidFill>
              <a:srgbClr val="25D366"/>
            </a:solidFill>
            <a:prstDash val="solid"/>
          </a:ln>
          <a:effectLst>
            <a:outerShdw sx="100000" sy="100000" kx="0" ky="0" algn="bl" rotWithShape="0" blurRad="279400" dist="101600" dir="5400000">
              <a:srgbClr val="0E1220">
                <a:alpha val="25000"/>
              </a:srgbClr>
            </a:outerShdw>
          </a:effectLst>
        </p:spPr>
      </p:sp>
      <p:sp>
        <p:nvSpPr>
          <p:cNvPr id="31" name="Text 29"/>
          <p:cNvSpPr txBox="1"/>
          <p:nvPr/>
        </p:nvSpPr>
        <p:spPr>
          <a:xfrm>
            <a:off x="2844800" y="5435600"/>
            <a:ext cx="508000" cy="508000"/>
          </a:xfrm>
          <a:prstGeom prst="rect">
            <a:avLst/>
          </a:prstGeom>
          <a:noFill/>
          <a:ln/>
        </p:spPr>
        <p:txBody>
          <a:bodyPr wrap="square" lIns="0" tIns="0" rIns="0" bIns="0" rtlCol="0" anchor="ctr"/>
          <a:lstStyle/>
          <a:p>
            <a:pPr algn="ctr" indent="0" marL="0">
              <a:buNone/>
            </a:pPr>
            <a:r>
              <a:rPr lang="en-US" sz="2300" b="1" dirty="0">
                <a:solidFill>
                  <a:srgbClr val="FFFFFF"/>
                </a:solidFill>
                <a:latin typeface="Arial" pitchFamily="34" charset="0"/>
                <a:ea typeface="Arial" pitchFamily="34" charset="-122"/>
                <a:cs typeface="Arial" pitchFamily="34" charset="-120"/>
              </a:rPr>
              <a:t>+</a:t>
            </a:r>
            <a:endParaRPr lang="en-US" sz="2300" dirty="0"/>
          </a:p>
        </p:txBody>
      </p:sp>
      <p:sp>
        <p:nvSpPr>
          <p:cNvPr id="32" name="Text 30"/>
          <p:cNvSpPr txBox="1"/>
          <p:nvPr/>
        </p:nvSpPr>
        <p:spPr>
          <a:xfrm>
            <a:off x="4064000" y="2159000"/>
            <a:ext cx="2540000" cy="254000"/>
          </a:xfrm>
          <a:prstGeom prst="rect">
            <a:avLst/>
          </a:prstGeom>
          <a:noFill/>
          <a:ln/>
        </p:spPr>
        <p:txBody>
          <a:bodyPr wrap="square" lIns="0" tIns="0" rIns="0" bIns="0" rtlCol="0" anchor="t"/>
          <a:lstStyle/>
          <a:p>
            <a:pPr indent="0" marL="0">
              <a:buNone/>
            </a:pPr>
            <a:r>
              <a:rPr lang="en-US" sz="1350" b="1" dirty="0">
                <a:solidFill>
                  <a:srgbClr val="0468D7"/>
                </a:solidFill>
                <a:latin typeface="Courier New" pitchFamily="34" charset="0"/>
                <a:ea typeface="Courier New" pitchFamily="34" charset="-122"/>
                <a:cs typeface="Courier New" pitchFamily="34" charset="-120"/>
              </a:rPr>
              <a:t>AppBar</a:t>
            </a:r>
            <a:endParaRPr lang="en-US" sz="1350" dirty="0"/>
          </a:p>
        </p:txBody>
      </p:sp>
      <p:sp>
        <p:nvSpPr>
          <p:cNvPr id="33" name="Text 31"/>
          <p:cNvSpPr txBox="1"/>
          <p:nvPr/>
        </p:nvSpPr>
        <p:spPr>
          <a:xfrm>
            <a:off x="4064000" y="2425700"/>
            <a:ext cx="2540000" cy="444500"/>
          </a:xfrm>
          <a:prstGeom prst="rect">
            <a:avLst/>
          </a:prstGeom>
          <a:noFill/>
          <a:ln/>
        </p:spPr>
        <p:txBody>
          <a:bodyPr wrap="square" lIns="0" tIns="0" rIns="0" bIns="0" rtlCol="0" anchor="t"/>
          <a:lstStyle/>
          <a:p>
            <a:pPr indent="0" marL="0">
              <a:buNone/>
            </a:pPr>
            <a:r>
              <a:rPr lang="en-US" sz="1150" dirty="0">
                <a:solidFill>
                  <a:srgbClr val="4A5568"/>
                </a:solidFill>
                <a:latin typeface="Arial" pitchFamily="34" charset="0"/>
                <a:ea typeface="Arial" pitchFamily="34" charset="-122"/>
                <a:cs typeface="Arial" pitchFamily="34" charset="-120"/>
              </a:rPr>
              <a:t>the bar at the top</a:t>
            </a:r>
            <a:endParaRPr lang="en-US" sz="1150" dirty="0"/>
          </a:p>
        </p:txBody>
      </p:sp>
      <p:sp>
        <p:nvSpPr>
          <p:cNvPr id="34" name="Shape 32"/>
          <p:cNvSpPr/>
          <p:nvPr/>
        </p:nvSpPr>
        <p:spPr>
          <a:xfrm flipV="1">
            <a:off x="3568700" y="2286000"/>
            <a:ext cx="444500" cy="6350"/>
          </a:xfrm>
          <a:prstGeom prst="line">
            <a:avLst/>
          </a:prstGeom>
          <a:noFill/>
          <a:ln w="31750">
            <a:solidFill>
              <a:srgbClr val="0468D7"/>
            </a:solidFill>
            <a:prstDash val="solid"/>
            <a:tailEnd type="triangle"/>
          </a:ln>
        </p:spPr>
      </p:sp>
      <p:sp>
        <p:nvSpPr>
          <p:cNvPr id="35" name="Text 33"/>
          <p:cNvSpPr txBox="1"/>
          <p:nvPr/>
        </p:nvSpPr>
        <p:spPr>
          <a:xfrm>
            <a:off x="4064000" y="3048000"/>
            <a:ext cx="2540000" cy="254000"/>
          </a:xfrm>
          <a:prstGeom prst="rect">
            <a:avLst/>
          </a:prstGeom>
          <a:noFill/>
          <a:ln/>
        </p:spPr>
        <p:txBody>
          <a:bodyPr wrap="square" lIns="0" tIns="0" rIns="0" bIns="0" rtlCol="0" anchor="t"/>
          <a:lstStyle/>
          <a:p>
            <a:pPr indent="0" marL="0">
              <a:buNone/>
            </a:pPr>
            <a:r>
              <a:rPr lang="en-US" sz="1350" b="1" dirty="0">
                <a:solidFill>
                  <a:srgbClr val="0468D7"/>
                </a:solidFill>
                <a:latin typeface="Courier New" pitchFamily="34" charset="0"/>
                <a:ea typeface="Courier New" pitchFamily="34" charset="-122"/>
                <a:cs typeface="Courier New" pitchFamily="34" charset="-120"/>
              </a:rPr>
              <a:t>ListTile</a:t>
            </a:r>
            <a:endParaRPr lang="en-US" sz="1350" dirty="0"/>
          </a:p>
        </p:txBody>
      </p:sp>
      <p:sp>
        <p:nvSpPr>
          <p:cNvPr id="36" name="Text 34"/>
          <p:cNvSpPr txBox="1"/>
          <p:nvPr/>
        </p:nvSpPr>
        <p:spPr>
          <a:xfrm>
            <a:off x="4064000" y="3314700"/>
            <a:ext cx="2540000" cy="444500"/>
          </a:xfrm>
          <a:prstGeom prst="rect">
            <a:avLst/>
          </a:prstGeom>
          <a:noFill/>
          <a:ln/>
        </p:spPr>
        <p:txBody>
          <a:bodyPr wrap="square" lIns="0" tIns="0" rIns="0" bIns="0" rtlCol="0" anchor="t"/>
          <a:lstStyle/>
          <a:p>
            <a:pPr indent="0" marL="0">
              <a:buNone/>
            </a:pPr>
            <a:r>
              <a:rPr lang="en-US" sz="1150" dirty="0">
                <a:solidFill>
                  <a:srgbClr val="4A5568"/>
                </a:solidFill>
                <a:latin typeface="Arial" pitchFamily="34" charset="0"/>
                <a:ea typeface="Arial" pitchFamily="34" charset="-122"/>
                <a:cs typeface="Arial" pitchFamily="34" charset="-120"/>
              </a:rPr>
              <a:t>one row: avatar, name, message, time</a:t>
            </a:r>
            <a:endParaRPr lang="en-US" sz="1150" dirty="0"/>
          </a:p>
        </p:txBody>
      </p:sp>
      <p:sp>
        <p:nvSpPr>
          <p:cNvPr id="37" name="Shape 35"/>
          <p:cNvSpPr/>
          <p:nvPr/>
        </p:nvSpPr>
        <p:spPr>
          <a:xfrm>
            <a:off x="3568700" y="3086100"/>
            <a:ext cx="444500" cy="88900"/>
          </a:xfrm>
          <a:prstGeom prst="line">
            <a:avLst/>
          </a:prstGeom>
          <a:noFill/>
          <a:ln w="31750">
            <a:solidFill>
              <a:srgbClr val="0468D7"/>
            </a:solidFill>
            <a:prstDash val="solid"/>
            <a:tailEnd type="triangle"/>
          </a:ln>
        </p:spPr>
      </p:sp>
      <p:sp>
        <p:nvSpPr>
          <p:cNvPr id="38" name="Text 36"/>
          <p:cNvSpPr txBox="1"/>
          <p:nvPr/>
        </p:nvSpPr>
        <p:spPr>
          <a:xfrm>
            <a:off x="4064000" y="4318000"/>
            <a:ext cx="2540000" cy="254000"/>
          </a:xfrm>
          <a:prstGeom prst="rect">
            <a:avLst/>
          </a:prstGeom>
          <a:noFill/>
          <a:ln/>
        </p:spPr>
        <p:txBody>
          <a:bodyPr wrap="square" lIns="0" tIns="0" rIns="0" bIns="0" rtlCol="0" anchor="t"/>
          <a:lstStyle/>
          <a:p>
            <a:pPr indent="0" marL="0">
              <a:buNone/>
            </a:pPr>
            <a:r>
              <a:rPr lang="en-US" sz="1350" b="1" dirty="0">
                <a:solidFill>
                  <a:srgbClr val="0468D7"/>
                </a:solidFill>
                <a:latin typeface="Courier New" pitchFamily="34" charset="0"/>
                <a:ea typeface="Courier New" pitchFamily="34" charset="-122"/>
                <a:cs typeface="Courier New" pitchFamily="34" charset="-120"/>
              </a:rPr>
              <a:t>ListView</a:t>
            </a:r>
            <a:endParaRPr lang="en-US" sz="1350" dirty="0"/>
          </a:p>
        </p:txBody>
      </p:sp>
      <p:sp>
        <p:nvSpPr>
          <p:cNvPr id="39" name="Text 37"/>
          <p:cNvSpPr txBox="1"/>
          <p:nvPr/>
        </p:nvSpPr>
        <p:spPr>
          <a:xfrm>
            <a:off x="4064000" y="4584700"/>
            <a:ext cx="2540000" cy="444500"/>
          </a:xfrm>
          <a:prstGeom prst="rect">
            <a:avLst/>
          </a:prstGeom>
          <a:noFill/>
          <a:ln/>
        </p:spPr>
        <p:txBody>
          <a:bodyPr wrap="square" lIns="0" tIns="0" rIns="0" bIns="0" rtlCol="0" anchor="t"/>
          <a:lstStyle/>
          <a:p>
            <a:pPr indent="0" marL="0">
              <a:buNone/>
            </a:pPr>
            <a:r>
              <a:rPr lang="en-US" sz="1150" dirty="0">
                <a:solidFill>
                  <a:srgbClr val="4A5568"/>
                </a:solidFill>
                <a:latin typeface="Arial" pitchFamily="34" charset="0"/>
                <a:ea typeface="Arial" pitchFamily="34" charset="-122"/>
                <a:cs typeface="Arial" pitchFamily="34" charset="-120"/>
              </a:rPr>
              <a:t>scrolls the rows</a:t>
            </a:r>
            <a:endParaRPr lang="en-US" sz="1150" dirty="0"/>
          </a:p>
        </p:txBody>
      </p:sp>
      <p:sp>
        <p:nvSpPr>
          <p:cNvPr id="40" name="Shape 38"/>
          <p:cNvSpPr/>
          <p:nvPr/>
        </p:nvSpPr>
        <p:spPr>
          <a:xfrm flipV="1">
            <a:off x="3568700" y="4445000"/>
            <a:ext cx="444500" cy="38100"/>
          </a:xfrm>
          <a:prstGeom prst="line">
            <a:avLst/>
          </a:prstGeom>
          <a:noFill/>
          <a:ln w="31750">
            <a:solidFill>
              <a:srgbClr val="0468D7"/>
            </a:solidFill>
            <a:prstDash val="solid"/>
            <a:tailEnd type="triangle"/>
          </a:ln>
        </p:spPr>
      </p:sp>
      <p:sp>
        <p:nvSpPr>
          <p:cNvPr id="41" name="Text 39"/>
          <p:cNvSpPr txBox="1"/>
          <p:nvPr/>
        </p:nvSpPr>
        <p:spPr>
          <a:xfrm>
            <a:off x="4064000" y="5334000"/>
            <a:ext cx="2540000" cy="254000"/>
          </a:xfrm>
          <a:prstGeom prst="rect">
            <a:avLst/>
          </a:prstGeom>
          <a:noFill/>
          <a:ln/>
        </p:spPr>
        <p:txBody>
          <a:bodyPr wrap="square" lIns="0" tIns="0" rIns="0" bIns="0" rtlCol="0" anchor="t"/>
          <a:lstStyle/>
          <a:p>
            <a:pPr indent="0" marL="0">
              <a:buNone/>
            </a:pPr>
            <a:r>
              <a:rPr lang="en-US" sz="1350" b="1" dirty="0">
                <a:solidFill>
                  <a:srgbClr val="0468D7"/>
                </a:solidFill>
                <a:latin typeface="Courier New" pitchFamily="34" charset="0"/>
                <a:ea typeface="Courier New" pitchFamily="34" charset="-122"/>
                <a:cs typeface="Courier New" pitchFamily="34" charset="-120"/>
              </a:rPr>
              <a:t>FloatingActionButton</a:t>
            </a:r>
            <a:endParaRPr lang="en-US" sz="1350" dirty="0"/>
          </a:p>
        </p:txBody>
      </p:sp>
      <p:sp>
        <p:nvSpPr>
          <p:cNvPr id="42" name="Text 40"/>
          <p:cNvSpPr txBox="1"/>
          <p:nvPr/>
        </p:nvSpPr>
        <p:spPr>
          <a:xfrm>
            <a:off x="4064000" y="5600700"/>
            <a:ext cx="2540000" cy="444500"/>
          </a:xfrm>
          <a:prstGeom prst="rect">
            <a:avLst/>
          </a:prstGeom>
          <a:noFill/>
          <a:ln/>
        </p:spPr>
        <p:txBody>
          <a:bodyPr wrap="square" lIns="0" tIns="0" rIns="0" bIns="0" rtlCol="0" anchor="t"/>
          <a:lstStyle/>
          <a:p>
            <a:pPr indent="0" marL="0">
              <a:buNone/>
            </a:pPr>
            <a:r>
              <a:rPr lang="en-US" sz="1150" dirty="0">
                <a:solidFill>
                  <a:srgbClr val="4A5568"/>
                </a:solidFill>
                <a:latin typeface="Arial" pitchFamily="34" charset="0"/>
                <a:ea typeface="Arial" pitchFamily="34" charset="-122"/>
                <a:cs typeface="Arial" pitchFamily="34" charset="-120"/>
              </a:rPr>
              <a:t>the round + button</a:t>
            </a:r>
            <a:endParaRPr lang="en-US" sz="1150" dirty="0"/>
          </a:p>
        </p:txBody>
      </p:sp>
      <p:sp>
        <p:nvSpPr>
          <p:cNvPr id="43" name="Shape 41"/>
          <p:cNvSpPr/>
          <p:nvPr/>
        </p:nvSpPr>
        <p:spPr>
          <a:xfrm flipV="1">
            <a:off x="3568700" y="5461000"/>
            <a:ext cx="444500" cy="254000"/>
          </a:xfrm>
          <a:prstGeom prst="line">
            <a:avLst/>
          </a:prstGeom>
          <a:noFill/>
          <a:ln w="31750">
            <a:solidFill>
              <a:srgbClr val="0468D7"/>
            </a:solidFill>
            <a:prstDash val="solid"/>
            <a:tailEnd type="triangle"/>
          </a:ln>
        </p:spPr>
      </p:sp>
      <p:sp>
        <p:nvSpPr>
          <p:cNvPr id="44" name="Shape 42"/>
          <p:cNvSpPr/>
          <p:nvPr/>
        </p:nvSpPr>
        <p:spPr>
          <a:xfrm>
            <a:off x="6921500" y="1841500"/>
            <a:ext cx="4457700" cy="4381500"/>
          </a:xfrm>
          <a:prstGeom prst="roundRect">
            <a:avLst>
              <a:gd name="adj" fmla="val 3757"/>
            </a:avLst>
          </a:prstGeom>
          <a:solidFill>
            <a:srgbClr val="0E1220"/>
          </a:solidFill>
          <a:ln w="12700">
            <a:solidFill>
              <a:srgbClr val="0E1220"/>
            </a:solidFill>
            <a:prstDash val="solid"/>
          </a:ln>
          <a:effectLst>
            <a:outerShdw sx="100000" sy="100000" kx="0" ky="0" algn="bl" rotWithShape="0" blurRad="279400" dist="101600" dir="5400000">
              <a:srgbClr val="0E1220">
                <a:alpha val="25000"/>
              </a:srgbClr>
            </a:outerShdw>
          </a:effectLst>
        </p:spPr>
      </p:sp>
      <p:sp>
        <p:nvSpPr>
          <p:cNvPr id="45" name="Text 43"/>
          <p:cNvSpPr txBox="1"/>
          <p:nvPr/>
        </p:nvSpPr>
        <p:spPr>
          <a:xfrm>
            <a:off x="7175500" y="2044700"/>
            <a:ext cx="3937000" cy="215900"/>
          </a:xfrm>
          <a:prstGeom prst="rect">
            <a:avLst/>
          </a:prstGeom>
          <a:noFill/>
          <a:ln/>
        </p:spPr>
        <p:txBody>
          <a:bodyPr wrap="square" lIns="0" tIns="0" rIns="0" bIns="0" rtlCol="0" anchor="t"/>
          <a:lstStyle/>
          <a:p>
            <a:pPr indent="0" marL="0">
              <a:buNone/>
            </a:pPr>
            <a:r>
              <a:rPr lang="en-US" sz="1100" b="1" spc="300" kern="0" dirty="0">
                <a:solidFill>
                  <a:srgbClr val="54C5F8"/>
                </a:solidFill>
                <a:latin typeface="Arial" pitchFamily="34" charset="0"/>
                <a:ea typeface="Arial" pitchFamily="34" charset="-122"/>
                <a:cs typeface="Arial" pitchFamily="34" charset="-120"/>
              </a:rPr>
              <a:t>THE SAME SCREEN, AS CODE</a:t>
            </a:r>
            <a:endParaRPr lang="en-US" sz="1100" dirty="0"/>
          </a:p>
        </p:txBody>
      </p:sp>
      <p:sp>
        <p:nvSpPr>
          <p:cNvPr id="46" name="Text 44"/>
          <p:cNvSpPr txBox="1"/>
          <p:nvPr/>
        </p:nvSpPr>
        <p:spPr>
          <a:xfrm>
            <a:off x="7175500" y="2387600"/>
            <a:ext cx="4064000" cy="2984500"/>
          </a:xfrm>
          <a:prstGeom prst="rect">
            <a:avLst/>
          </a:prstGeom>
          <a:noFill/>
          <a:ln/>
        </p:spPr>
        <p:txBody>
          <a:bodyPr wrap="square" lIns="0" tIns="0" rIns="0" bIns="0" rtlCol="0" anchor="t"/>
          <a:lstStyle/>
          <a:p>
            <a:pPr indent="0" marL="0">
              <a:lnSpc>
                <a:spcPct val="135000"/>
              </a:lnSpc>
              <a:buNone/>
            </a:pPr>
            <a:r>
              <a:rPr lang="en-US" sz="1150" dirty="0">
                <a:solidFill>
                  <a:srgbClr val="E3EEFB"/>
                </a:solidFill>
                <a:latin typeface="Courier New" pitchFamily="34" charset="0"/>
                <a:ea typeface="Courier New" pitchFamily="34" charset="-122"/>
                <a:cs typeface="Courier New" pitchFamily="34" charset="-120"/>
              </a:rPr>
              <a:t>Scaffold</a:t>
            </a:r>
            <a:endParaRPr lang="en-US" sz="1150" dirty="0"/>
          </a:p>
          <a:p>
            <a:pPr indent="0" marL="0">
              <a:lnSpc>
                <a:spcPct val="135000"/>
              </a:lnSpc>
              <a:buNone/>
            </a:pPr>
            <a:r>
              <a:rPr lang="en-US" sz="1150" dirty="0">
                <a:solidFill>
                  <a:srgbClr val="E3EEFB"/>
                </a:solidFill>
                <a:latin typeface="Courier New" pitchFamily="34" charset="0"/>
                <a:ea typeface="Courier New" pitchFamily="34" charset="-122"/>
                <a:cs typeface="Courier New" pitchFamily="34" charset="-120"/>
              </a:rPr>
              <a:t>├─ appBar: AppBar</a:t>
            </a:r>
            <a:endParaRPr lang="en-US" sz="1150" dirty="0"/>
          </a:p>
          <a:p>
            <a:pPr indent="0" marL="0">
              <a:lnSpc>
                <a:spcPct val="135000"/>
              </a:lnSpc>
              <a:buNone/>
            </a:pPr>
            <a:r>
              <a:rPr lang="en-US" sz="1150" dirty="0">
                <a:solidFill>
                  <a:srgbClr val="E3EEFB"/>
                </a:solidFill>
                <a:latin typeface="Courier New" pitchFamily="34" charset="0"/>
                <a:ea typeface="Courier New" pitchFamily="34" charset="-122"/>
                <a:cs typeface="Courier New" pitchFamily="34" charset="-120"/>
              </a:rPr>
              <a:t>│   └─ title: Text</a:t>
            </a:r>
            <a:endParaRPr lang="en-US" sz="1150" dirty="0"/>
          </a:p>
          <a:p>
            <a:pPr indent="0" marL="0">
              <a:lnSpc>
                <a:spcPct val="135000"/>
              </a:lnSpc>
              <a:buNone/>
            </a:pPr>
            <a:r>
              <a:rPr lang="en-US" sz="1150" dirty="0">
                <a:solidFill>
                  <a:srgbClr val="E3EEFB"/>
                </a:solidFill>
                <a:latin typeface="Courier New" pitchFamily="34" charset="0"/>
                <a:ea typeface="Courier New" pitchFamily="34" charset="-122"/>
                <a:cs typeface="Courier New" pitchFamily="34" charset="-120"/>
              </a:rPr>
              <a:t>├─ body: ListView</a:t>
            </a:r>
            <a:endParaRPr lang="en-US" sz="1150" dirty="0"/>
          </a:p>
          <a:p>
            <a:pPr indent="0" marL="0">
              <a:lnSpc>
                <a:spcPct val="135000"/>
              </a:lnSpc>
              <a:buNone/>
            </a:pPr>
            <a:r>
              <a:rPr lang="en-US" sz="1150" dirty="0">
                <a:solidFill>
                  <a:srgbClr val="E3EEFB"/>
                </a:solidFill>
                <a:latin typeface="Courier New" pitchFamily="34" charset="0"/>
                <a:ea typeface="Courier New" pitchFamily="34" charset="-122"/>
                <a:cs typeface="Courier New" pitchFamily="34" charset="-120"/>
              </a:rPr>
              <a:t>│   └─ ListTile  (one per chat)</a:t>
            </a:r>
            <a:endParaRPr lang="en-US" sz="1150" dirty="0"/>
          </a:p>
          <a:p>
            <a:pPr indent="0" marL="0">
              <a:lnSpc>
                <a:spcPct val="135000"/>
              </a:lnSpc>
              <a:buNone/>
            </a:pPr>
            <a:r>
              <a:rPr lang="en-US" sz="1150" dirty="0">
                <a:solidFill>
                  <a:srgbClr val="E3EEFB"/>
                </a:solidFill>
                <a:latin typeface="Courier New" pitchFamily="34" charset="0"/>
                <a:ea typeface="Courier New" pitchFamily="34" charset="-122"/>
                <a:cs typeface="Courier New" pitchFamily="34" charset="-120"/>
              </a:rPr>
              <a:t>│       ├─ leading: CircleAvatar</a:t>
            </a:r>
            <a:endParaRPr lang="en-US" sz="1150" dirty="0"/>
          </a:p>
          <a:p>
            <a:pPr indent="0" marL="0">
              <a:lnSpc>
                <a:spcPct val="135000"/>
              </a:lnSpc>
              <a:buNone/>
            </a:pPr>
            <a:r>
              <a:rPr lang="en-US" sz="1150" dirty="0">
                <a:solidFill>
                  <a:srgbClr val="E3EEFB"/>
                </a:solidFill>
                <a:latin typeface="Courier New" pitchFamily="34" charset="0"/>
                <a:ea typeface="Courier New" pitchFamily="34" charset="-122"/>
                <a:cs typeface="Courier New" pitchFamily="34" charset="-120"/>
              </a:rPr>
              <a:t>│       ├─ title: Text</a:t>
            </a:r>
            <a:endParaRPr lang="en-US" sz="1150" dirty="0"/>
          </a:p>
          <a:p>
            <a:pPr indent="0" marL="0">
              <a:lnSpc>
                <a:spcPct val="135000"/>
              </a:lnSpc>
              <a:buNone/>
            </a:pPr>
            <a:r>
              <a:rPr lang="en-US" sz="1150" dirty="0">
                <a:solidFill>
                  <a:srgbClr val="E3EEFB"/>
                </a:solidFill>
                <a:latin typeface="Courier New" pitchFamily="34" charset="0"/>
                <a:ea typeface="Courier New" pitchFamily="34" charset="-122"/>
                <a:cs typeface="Courier New" pitchFamily="34" charset="-120"/>
              </a:rPr>
              <a:t>│       ├─ subtitle: Text</a:t>
            </a:r>
            <a:endParaRPr lang="en-US" sz="1150" dirty="0"/>
          </a:p>
          <a:p>
            <a:pPr indent="0" marL="0">
              <a:lnSpc>
                <a:spcPct val="135000"/>
              </a:lnSpc>
              <a:buNone/>
            </a:pPr>
            <a:r>
              <a:rPr lang="en-US" sz="1150" dirty="0">
                <a:solidFill>
                  <a:srgbClr val="E3EEFB"/>
                </a:solidFill>
                <a:latin typeface="Courier New" pitchFamily="34" charset="0"/>
                <a:ea typeface="Courier New" pitchFamily="34" charset="-122"/>
                <a:cs typeface="Courier New" pitchFamily="34" charset="-120"/>
              </a:rPr>
              <a:t>│       └─ trailing: Text</a:t>
            </a:r>
            <a:endParaRPr lang="en-US" sz="1150" dirty="0"/>
          </a:p>
          <a:p>
            <a:pPr indent="0" marL="0">
              <a:lnSpc>
                <a:spcPct val="135000"/>
              </a:lnSpc>
              <a:buNone/>
            </a:pPr>
            <a:r>
              <a:rPr lang="en-US" sz="1150" dirty="0">
                <a:solidFill>
                  <a:srgbClr val="E3EEFB"/>
                </a:solidFill>
                <a:latin typeface="Courier New" pitchFamily="34" charset="0"/>
                <a:ea typeface="Courier New" pitchFamily="34" charset="-122"/>
                <a:cs typeface="Courier New" pitchFamily="34" charset="-120"/>
              </a:rPr>
              <a:t>└─ floatingActionButton:</a:t>
            </a:r>
            <a:endParaRPr lang="en-US" sz="1150" dirty="0"/>
          </a:p>
          <a:p>
            <a:pPr indent="0" marL="0">
              <a:lnSpc>
                <a:spcPct val="135000"/>
              </a:lnSpc>
              <a:buNone/>
            </a:pPr>
            <a:r>
              <a:rPr lang="en-US" sz="1150" dirty="0">
                <a:solidFill>
                  <a:srgbClr val="E3EEFB"/>
                </a:solidFill>
                <a:latin typeface="Courier New" pitchFamily="34" charset="0"/>
                <a:ea typeface="Courier New" pitchFamily="34" charset="-122"/>
                <a:cs typeface="Courier New" pitchFamily="34" charset="-120"/>
              </a:rPr>
              <a:t>      FloatingActionButton</a:t>
            </a:r>
            <a:endParaRPr lang="en-US" sz="1150" dirty="0"/>
          </a:p>
        </p:txBody>
      </p:sp>
      <p:sp>
        <p:nvSpPr>
          <p:cNvPr id="47" name="Text 45"/>
          <p:cNvSpPr txBox="1"/>
          <p:nvPr/>
        </p:nvSpPr>
        <p:spPr>
          <a:xfrm>
            <a:off x="7175500" y="5524500"/>
            <a:ext cx="3937000" cy="508000"/>
          </a:xfrm>
          <a:prstGeom prst="rect">
            <a:avLst/>
          </a:prstGeom>
          <a:noFill/>
          <a:ln/>
        </p:spPr>
        <p:txBody>
          <a:bodyPr wrap="square" lIns="0" tIns="0" rIns="0" bIns="0" rtlCol="0" anchor="t"/>
          <a:lstStyle/>
          <a:p>
            <a:pPr indent="0" marL="0">
              <a:buNone/>
            </a:pPr>
            <a:r>
              <a:rPr lang="en-US" sz="1200" i="1" dirty="0">
                <a:solidFill>
                  <a:srgbClr val="B8C4D9"/>
                </a:solidFill>
                <a:latin typeface="Arial" pitchFamily="34" charset="0"/>
                <a:ea typeface="Arial" pitchFamily="34" charset="-122"/>
                <a:cs typeface="Arial" pitchFamily="34" charset="-120"/>
              </a:rPr>
              <a:t>Widgets inside widgets. Every box on the left is one widget on the right.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12800" y="762000"/>
            <a:ext cx="10566400" cy="254000"/>
          </a:xfrm>
          <a:prstGeom prst="rect">
            <a:avLst/>
          </a:prstGeom>
          <a:noFill/>
          <a:ln/>
        </p:spPr>
        <p:txBody>
          <a:bodyPr wrap="square" lIns="0" tIns="0" rIns="0" bIns="0" rtlCol="0" anchor="t"/>
          <a:lstStyle/>
          <a:p>
            <a:pPr indent="0" marL="0">
              <a:buNone/>
            </a:pPr>
            <a:r>
              <a:rPr lang="en-US" sz="1200" b="1" spc="400" kern="0" dirty="0">
                <a:solidFill>
                  <a:srgbClr val="54C5F8"/>
                </a:solidFill>
                <a:latin typeface="Arial" pitchFamily="34" charset="0"/>
                <a:ea typeface="Arial" pitchFamily="34" charset="-122"/>
                <a:cs typeface="Arial" pitchFamily="34" charset="-120"/>
              </a:rPr>
              <a:t>THE BUILDING BLOCKS</a:t>
            </a:r>
            <a:endParaRPr lang="en-US" sz="1200" dirty="0"/>
          </a:p>
        </p:txBody>
      </p:sp>
      <p:sp>
        <p:nvSpPr>
          <p:cNvPr id="3" name="Text 1"/>
          <p:cNvSpPr txBox="1"/>
          <p:nvPr/>
        </p:nvSpPr>
        <p:spPr>
          <a:xfrm>
            <a:off x="812800" y="1054100"/>
            <a:ext cx="10566400" cy="698500"/>
          </a:xfrm>
          <a:prstGeom prst="rect">
            <a:avLst/>
          </a:prstGeom>
          <a:noFill/>
          <a:ln/>
        </p:spPr>
        <p:txBody>
          <a:bodyPr wrap="square" lIns="0" tIns="0" rIns="0" bIns="0" rtlCol="0" anchor="t"/>
          <a:lstStyle/>
          <a:p>
            <a:pPr indent="0" marL="0">
              <a:buNone/>
            </a:pPr>
            <a:r>
              <a:rPr lang="en-US" sz="3800" b="1" dirty="0">
                <a:solidFill>
                  <a:srgbClr val="F4F7FB"/>
                </a:solidFill>
                <a:latin typeface="Arial" pitchFamily="34" charset="0"/>
                <a:ea typeface="Arial" pitchFamily="34" charset="-122"/>
                <a:cs typeface="Arial" pitchFamily="34" charset="-120"/>
              </a:rPr>
              <a:t>Everything on screen is a widget</a:t>
            </a:r>
            <a:endParaRPr lang="en-US" sz="3800" dirty="0"/>
          </a:p>
        </p:txBody>
      </p:sp>
      <p:sp>
        <p:nvSpPr>
          <p:cNvPr id="4" name="Shape 2"/>
          <p:cNvSpPr/>
          <p:nvPr/>
        </p:nvSpPr>
        <p:spPr>
          <a:xfrm>
            <a:off x="812800" y="1841500"/>
            <a:ext cx="3378200" cy="1752600"/>
          </a:xfrm>
          <a:prstGeom prst="roundRect">
            <a:avLst>
              <a:gd name="adj" fmla="val 9391"/>
            </a:avLst>
          </a:prstGeom>
          <a:solidFill>
            <a:srgbClr val="FFFFFF">
              <a:alpha val="6000"/>
            </a:srgbClr>
          </a:solidFill>
          <a:ln w="12700">
            <a:solidFill>
              <a:srgbClr val="FFFFFF">
                <a:alpha val="15000"/>
              </a:srgbClr>
            </a:solidFill>
            <a:prstDash val="solid"/>
          </a:ln>
        </p:spPr>
      </p:sp>
      <p:sp>
        <p:nvSpPr>
          <p:cNvPr id="5" name="Text 3"/>
          <p:cNvSpPr txBox="1"/>
          <p:nvPr/>
        </p:nvSpPr>
        <p:spPr>
          <a:xfrm>
            <a:off x="1041400" y="2032000"/>
            <a:ext cx="1905000" cy="571500"/>
          </a:xfrm>
          <a:prstGeom prst="rect">
            <a:avLst/>
          </a:prstGeom>
          <a:noFill/>
          <a:ln/>
        </p:spPr>
        <p:txBody>
          <a:bodyPr wrap="square" lIns="0" tIns="0" rIns="0" bIns="0" rtlCol="0" anchor="t"/>
          <a:lstStyle/>
          <a:p>
            <a:pPr indent="0" marL="0">
              <a:buNone/>
            </a:pPr>
            <a:r>
              <a:rPr lang="en-US" sz="3200" b="1" dirty="0">
                <a:solidFill>
                  <a:srgbClr val="F4F7FB"/>
                </a:solidFill>
                <a:latin typeface="Arial" pitchFamily="34" charset="0"/>
                <a:ea typeface="Arial" pitchFamily="34" charset="-122"/>
                <a:cs typeface="Arial" pitchFamily="34" charset="-120"/>
              </a:rPr>
              <a:t>Hello!</a:t>
            </a:r>
            <a:endParaRPr lang="en-US" sz="3200" dirty="0"/>
          </a:p>
        </p:txBody>
      </p:sp>
      <p:sp>
        <p:nvSpPr>
          <p:cNvPr id="6" name="Text 4"/>
          <p:cNvSpPr txBox="1"/>
          <p:nvPr/>
        </p:nvSpPr>
        <p:spPr>
          <a:xfrm>
            <a:off x="1041400" y="2730500"/>
            <a:ext cx="2921000" cy="279400"/>
          </a:xfrm>
          <a:prstGeom prst="rect">
            <a:avLst/>
          </a:prstGeom>
          <a:noFill/>
          <a:ln/>
        </p:spPr>
        <p:txBody>
          <a:bodyPr wrap="square" lIns="0" tIns="0" rIns="0" bIns="0" rtlCol="0" anchor="t"/>
          <a:lstStyle/>
          <a:p>
            <a:pPr indent="0" marL="0">
              <a:buNone/>
            </a:pPr>
            <a:r>
              <a:rPr lang="en-US" sz="1600" b="1" dirty="0">
                <a:solidFill>
                  <a:srgbClr val="54C5F8"/>
                </a:solidFill>
                <a:latin typeface="Courier New" pitchFamily="34" charset="0"/>
                <a:ea typeface="Courier New" pitchFamily="34" charset="-122"/>
                <a:cs typeface="Courier New" pitchFamily="34" charset="-120"/>
              </a:rPr>
              <a:t>Text</a:t>
            </a:r>
            <a:endParaRPr lang="en-US" sz="1600" dirty="0"/>
          </a:p>
        </p:txBody>
      </p:sp>
      <p:sp>
        <p:nvSpPr>
          <p:cNvPr id="7" name="Text 5"/>
          <p:cNvSpPr txBox="1"/>
          <p:nvPr/>
        </p:nvSpPr>
        <p:spPr>
          <a:xfrm>
            <a:off x="1041400" y="3048000"/>
            <a:ext cx="2921000" cy="444500"/>
          </a:xfrm>
          <a:prstGeom prst="rect">
            <a:avLst/>
          </a:prstGeom>
          <a:noFill/>
          <a:ln/>
        </p:spPr>
        <p:txBody>
          <a:bodyPr wrap="square" lIns="0" tIns="0" rIns="0" bIns="0" rtlCol="0" anchor="t"/>
          <a:lstStyle/>
          <a:p>
            <a:pPr indent="0" marL="0">
              <a:buNone/>
            </a:pPr>
            <a:r>
              <a:rPr lang="en-US" sz="1300" dirty="0">
                <a:solidFill>
                  <a:srgbClr val="B8C4D9"/>
                </a:solidFill>
                <a:latin typeface="Arial" pitchFamily="34" charset="0"/>
                <a:ea typeface="Arial" pitchFamily="34" charset="-122"/>
                <a:cs typeface="Arial" pitchFamily="34" charset="-120"/>
              </a:rPr>
              <a:t>Shows words on the screen</a:t>
            </a:r>
            <a:endParaRPr lang="en-US" sz="1300" dirty="0"/>
          </a:p>
        </p:txBody>
      </p:sp>
      <p:sp>
        <p:nvSpPr>
          <p:cNvPr id="8" name="Shape 6"/>
          <p:cNvSpPr/>
          <p:nvPr/>
        </p:nvSpPr>
        <p:spPr>
          <a:xfrm>
            <a:off x="4406900" y="1841500"/>
            <a:ext cx="3378200" cy="1752600"/>
          </a:xfrm>
          <a:prstGeom prst="roundRect">
            <a:avLst>
              <a:gd name="adj" fmla="val 9391"/>
            </a:avLst>
          </a:prstGeom>
          <a:solidFill>
            <a:srgbClr val="FFFFFF">
              <a:alpha val="6000"/>
            </a:srgbClr>
          </a:solidFill>
          <a:ln w="12700">
            <a:solidFill>
              <a:srgbClr val="FFFFFF">
                <a:alpha val="15000"/>
              </a:srgbClr>
            </a:solidFill>
            <a:prstDash val="solid"/>
          </a:ln>
        </p:spPr>
      </p:sp>
      <p:pic>
        <p:nvPicPr>
          <p:cNvPr id="9" name="Image 0" descr="preencoded.png">    </p:cNvPr>
          <p:cNvPicPr>
            <a:picLocks noChangeAspect="1"/>
          </p:cNvPicPr>
          <p:nvPr/>
        </p:nvPicPr>
        <p:blipFill>
          <a:blip r:embed="rId2"/>
          <a:stretch>
            <a:fillRect/>
          </a:stretch>
        </p:blipFill>
        <p:spPr>
          <a:xfrm>
            <a:off x="4635500" y="2057400"/>
            <a:ext cx="533400" cy="533400"/>
          </a:xfrm>
          <a:prstGeom prst="rect">
            <a:avLst/>
          </a:prstGeom>
        </p:spPr>
      </p:pic>
      <p:sp>
        <p:nvSpPr>
          <p:cNvPr id="10" name="Text 7"/>
          <p:cNvSpPr txBox="1"/>
          <p:nvPr/>
        </p:nvSpPr>
        <p:spPr>
          <a:xfrm>
            <a:off x="4635500" y="2730500"/>
            <a:ext cx="2921000" cy="279400"/>
          </a:xfrm>
          <a:prstGeom prst="rect">
            <a:avLst/>
          </a:prstGeom>
          <a:noFill/>
          <a:ln/>
        </p:spPr>
        <p:txBody>
          <a:bodyPr wrap="square" lIns="0" tIns="0" rIns="0" bIns="0" rtlCol="0" anchor="t"/>
          <a:lstStyle/>
          <a:p>
            <a:pPr indent="0" marL="0">
              <a:buNone/>
            </a:pPr>
            <a:r>
              <a:rPr lang="en-US" sz="1600" b="1" dirty="0">
                <a:solidFill>
                  <a:srgbClr val="54C5F8"/>
                </a:solidFill>
                <a:latin typeface="Courier New" pitchFamily="34" charset="0"/>
                <a:ea typeface="Courier New" pitchFamily="34" charset="-122"/>
                <a:cs typeface="Courier New" pitchFamily="34" charset="-120"/>
              </a:rPr>
              <a:t>Icon</a:t>
            </a:r>
            <a:endParaRPr lang="en-US" sz="1600" dirty="0"/>
          </a:p>
        </p:txBody>
      </p:sp>
      <p:sp>
        <p:nvSpPr>
          <p:cNvPr id="11" name="Text 8"/>
          <p:cNvSpPr txBox="1"/>
          <p:nvPr/>
        </p:nvSpPr>
        <p:spPr>
          <a:xfrm>
            <a:off x="4635500" y="3048000"/>
            <a:ext cx="2921000" cy="444500"/>
          </a:xfrm>
          <a:prstGeom prst="rect">
            <a:avLst/>
          </a:prstGeom>
          <a:noFill/>
          <a:ln/>
        </p:spPr>
        <p:txBody>
          <a:bodyPr wrap="square" lIns="0" tIns="0" rIns="0" bIns="0" rtlCol="0" anchor="t"/>
          <a:lstStyle/>
          <a:p>
            <a:pPr indent="0" marL="0">
              <a:buNone/>
            </a:pPr>
            <a:r>
              <a:rPr lang="en-US" sz="1300" dirty="0">
                <a:solidFill>
                  <a:srgbClr val="B8C4D9"/>
                </a:solidFill>
                <a:latin typeface="Arial" pitchFamily="34" charset="0"/>
                <a:ea typeface="Arial" pitchFamily="34" charset="-122"/>
                <a:cs typeface="Arial" pitchFamily="34" charset="-120"/>
              </a:rPr>
              <a:t>A small picture from Flutter's icon set</a:t>
            </a:r>
            <a:endParaRPr lang="en-US" sz="1300" dirty="0"/>
          </a:p>
        </p:txBody>
      </p:sp>
      <p:sp>
        <p:nvSpPr>
          <p:cNvPr id="12" name="Shape 9"/>
          <p:cNvSpPr/>
          <p:nvPr/>
        </p:nvSpPr>
        <p:spPr>
          <a:xfrm>
            <a:off x="8001000" y="1841500"/>
            <a:ext cx="3378200" cy="1752600"/>
          </a:xfrm>
          <a:prstGeom prst="roundRect">
            <a:avLst>
              <a:gd name="adj" fmla="val 9391"/>
            </a:avLst>
          </a:prstGeom>
          <a:solidFill>
            <a:srgbClr val="FFFFFF">
              <a:alpha val="6000"/>
            </a:srgbClr>
          </a:solidFill>
          <a:ln w="12700">
            <a:solidFill>
              <a:srgbClr val="FFFFFF">
                <a:alpha val="15000"/>
              </a:srgbClr>
            </a:solidFill>
            <a:prstDash val="solid"/>
          </a:ln>
        </p:spPr>
      </p:sp>
      <p:sp>
        <p:nvSpPr>
          <p:cNvPr id="13" name="Shape 10"/>
          <p:cNvSpPr/>
          <p:nvPr/>
        </p:nvSpPr>
        <p:spPr>
          <a:xfrm>
            <a:off x="8229600" y="2120900"/>
            <a:ext cx="1206500" cy="406400"/>
          </a:xfrm>
          <a:prstGeom prst="roundRect">
            <a:avLst>
              <a:gd name="adj" fmla="val 49500"/>
            </a:avLst>
          </a:prstGeom>
          <a:solidFill>
            <a:srgbClr val="0468D7"/>
          </a:solidFill>
          <a:ln w="12700">
            <a:solidFill>
              <a:srgbClr val="0468D7"/>
            </a:solidFill>
            <a:prstDash val="solid"/>
          </a:ln>
        </p:spPr>
      </p:sp>
      <p:sp>
        <p:nvSpPr>
          <p:cNvPr id="14" name="Text 11"/>
          <p:cNvSpPr txBox="1"/>
          <p:nvPr/>
        </p:nvSpPr>
        <p:spPr>
          <a:xfrm>
            <a:off x="8229600" y="2120900"/>
            <a:ext cx="1206500" cy="406400"/>
          </a:xfrm>
          <a:prstGeom prst="rect">
            <a:avLst/>
          </a:prstGeom>
          <a:noFill/>
          <a:ln/>
        </p:spPr>
        <p:txBody>
          <a:bodyPr wrap="square" lIns="0" tIns="0" rIns="0" bIns="0" rtlCol="0" anchor="ctr"/>
          <a:lstStyle/>
          <a:p>
            <a:pPr algn="ctr" indent="0" marL="0">
              <a:buNone/>
            </a:pPr>
            <a:r>
              <a:rPr lang="en-US" sz="1300" b="1" dirty="0">
                <a:solidFill>
                  <a:srgbClr val="F4F7FB"/>
                </a:solidFill>
                <a:latin typeface="Arial" pitchFamily="34" charset="0"/>
                <a:ea typeface="Arial" pitchFamily="34" charset="-122"/>
                <a:cs typeface="Arial" pitchFamily="34" charset="-120"/>
              </a:rPr>
              <a:t>Add</a:t>
            </a:r>
            <a:endParaRPr lang="en-US" sz="1300" dirty="0"/>
          </a:p>
        </p:txBody>
      </p:sp>
      <p:sp>
        <p:nvSpPr>
          <p:cNvPr id="15" name="Text 12"/>
          <p:cNvSpPr txBox="1"/>
          <p:nvPr/>
        </p:nvSpPr>
        <p:spPr>
          <a:xfrm>
            <a:off x="8229600" y="2730500"/>
            <a:ext cx="2921000" cy="279400"/>
          </a:xfrm>
          <a:prstGeom prst="rect">
            <a:avLst/>
          </a:prstGeom>
          <a:noFill/>
          <a:ln/>
        </p:spPr>
        <p:txBody>
          <a:bodyPr wrap="square" lIns="0" tIns="0" rIns="0" bIns="0" rtlCol="0" anchor="t"/>
          <a:lstStyle/>
          <a:p>
            <a:pPr indent="0" marL="0">
              <a:buNone/>
            </a:pPr>
            <a:r>
              <a:rPr lang="en-US" sz="1600" b="1" dirty="0">
                <a:solidFill>
                  <a:srgbClr val="54C5F8"/>
                </a:solidFill>
                <a:latin typeface="Courier New" pitchFamily="34" charset="0"/>
                <a:ea typeface="Courier New" pitchFamily="34" charset="-122"/>
                <a:cs typeface="Courier New" pitchFamily="34" charset="-120"/>
              </a:rPr>
              <a:t>FilledButton</a:t>
            </a:r>
            <a:endParaRPr lang="en-US" sz="1600" dirty="0"/>
          </a:p>
        </p:txBody>
      </p:sp>
      <p:sp>
        <p:nvSpPr>
          <p:cNvPr id="16" name="Text 13"/>
          <p:cNvSpPr txBox="1"/>
          <p:nvPr/>
        </p:nvSpPr>
        <p:spPr>
          <a:xfrm>
            <a:off x="8229600" y="3048000"/>
            <a:ext cx="2921000" cy="444500"/>
          </a:xfrm>
          <a:prstGeom prst="rect">
            <a:avLst/>
          </a:prstGeom>
          <a:noFill/>
          <a:ln/>
        </p:spPr>
        <p:txBody>
          <a:bodyPr wrap="square" lIns="0" tIns="0" rIns="0" bIns="0" rtlCol="0" anchor="t"/>
          <a:lstStyle/>
          <a:p>
            <a:pPr indent="0" marL="0">
              <a:buNone/>
            </a:pPr>
            <a:r>
              <a:rPr lang="en-US" sz="1300" dirty="0">
                <a:solidFill>
                  <a:srgbClr val="B8C4D9"/>
                </a:solidFill>
                <a:latin typeface="Arial" pitchFamily="34" charset="0"/>
                <a:ea typeface="Arial" pitchFamily="34" charset="-122"/>
                <a:cs typeface="Arial" pitchFamily="34" charset="-120"/>
              </a:rPr>
              <a:t>Something to tap, with an onPressed</a:t>
            </a:r>
            <a:endParaRPr lang="en-US" sz="1300" dirty="0"/>
          </a:p>
        </p:txBody>
      </p:sp>
      <p:sp>
        <p:nvSpPr>
          <p:cNvPr id="17" name="Shape 14"/>
          <p:cNvSpPr/>
          <p:nvPr/>
        </p:nvSpPr>
        <p:spPr>
          <a:xfrm>
            <a:off x="812800" y="3746500"/>
            <a:ext cx="3378200" cy="1752600"/>
          </a:xfrm>
          <a:prstGeom prst="roundRect">
            <a:avLst>
              <a:gd name="adj" fmla="val 9391"/>
            </a:avLst>
          </a:prstGeom>
          <a:solidFill>
            <a:srgbClr val="FFFFFF">
              <a:alpha val="6000"/>
            </a:srgbClr>
          </a:solidFill>
          <a:ln w="12700">
            <a:solidFill>
              <a:srgbClr val="FFFFFF">
                <a:alpha val="15000"/>
              </a:srgbClr>
            </a:solidFill>
            <a:prstDash val="solid"/>
          </a:ln>
        </p:spPr>
      </p:sp>
      <p:sp>
        <p:nvSpPr>
          <p:cNvPr id="18" name="Shape 15"/>
          <p:cNvSpPr/>
          <p:nvPr/>
        </p:nvSpPr>
        <p:spPr>
          <a:xfrm>
            <a:off x="1041400" y="4000500"/>
            <a:ext cx="533400" cy="457200"/>
          </a:xfrm>
          <a:prstGeom prst="roundRect">
            <a:avLst>
              <a:gd name="adj" fmla="val 20000"/>
            </a:avLst>
          </a:prstGeom>
          <a:solidFill>
            <a:srgbClr val="3A4770"/>
          </a:solidFill>
          <a:ln w="12700">
            <a:solidFill>
              <a:srgbClr val="3A4770"/>
            </a:solidFill>
            <a:prstDash val="solid"/>
          </a:ln>
        </p:spPr>
      </p:sp>
      <p:sp>
        <p:nvSpPr>
          <p:cNvPr id="19" name="Shape 16"/>
          <p:cNvSpPr/>
          <p:nvPr/>
        </p:nvSpPr>
        <p:spPr>
          <a:xfrm>
            <a:off x="1676400" y="4000500"/>
            <a:ext cx="533400" cy="457200"/>
          </a:xfrm>
          <a:prstGeom prst="roundRect">
            <a:avLst>
              <a:gd name="adj" fmla="val 20000"/>
            </a:avLst>
          </a:prstGeom>
          <a:solidFill>
            <a:srgbClr val="54C5F8"/>
          </a:solidFill>
          <a:ln w="12700">
            <a:solidFill>
              <a:srgbClr val="54C5F8"/>
            </a:solidFill>
            <a:prstDash val="solid"/>
          </a:ln>
        </p:spPr>
      </p:sp>
      <p:sp>
        <p:nvSpPr>
          <p:cNvPr id="20" name="Shape 17"/>
          <p:cNvSpPr/>
          <p:nvPr/>
        </p:nvSpPr>
        <p:spPr>
          <a:xfrm>
            <a:off x="2311400" y="4000500"/>
            <a:ext cx="533400" cy="457200"/>
          </a:xfrm>
          <a:prstGeom prst="roundRect">
            <a:avLst>
              <a:gd name="adj" fmla="val 20000"/>
            </a:avLst>
          </a:prstGeom>
          <a:solidFill>
            <a:srgbClr val="3A4770"/>
          </a:solidFill>
          <a:ln w="12700">
            <a:solidFill>
              <a:srgbClr val="3A4770"/>
            </a:solidFill>
            <a:prstDash val="solid"/>
          </a:ln>
        </p:spPr>
      </p:sp>
      <p:sp>
        <p:nvSpPr>
          <p:cNvPr id="21" name="Text 18"/>
          <p:cNvSpPr txBox="1"/>
          <p:nvPr/>
        </p:nvSpPr>
        <p:spPr>
          <a:xfrm>
            <a:off x="1041400" y="4635500"/>
            <a:ext cx="2921000" cy="279400"/>
          </a:xfrm>
          <a:prstGeom prst="rect">
            <a:avLst/>
          </a:prstGeom>
          <a:noFill/>
          <a:ln/>
        </p:spPr>
        <p:txBody>
          <a:bodyPr wrap="square" lIns="0" tIns="0" rIns="0" bIns="0" rtlCol="0" anchor="t"/>
          <a:lstStyle/>
          <a:p>
            <a:pPr indent="0" marL="0">
              <a:buNone/>
            </a:pPr>
            <a:r>
              <a:rPr lang="en-US" sz="1600" b="1" dirty="0">
                <a:solidFill>
                  <a:srgbClr val="54C5F8"/>
                </a:solidFill>
                <a:latin typeface="Courier New" pitchFamily="34" charset="0"/>
                <a:ea typeface="Courier New" pitchFamily="34" charset="-122"/>
                <a:cs typeface="Courier New" pitchFamily="34" charset="-120"/>
              </a:rPr>
              <a:t>Row</a:t>
            </a:r>
            <a:endParaRPr lang="en-US" sz="1600" dirty="0"/>
          </a:p>
        </p:txBody>
      </p:sp>
      <p:sp>
        <p:nvSpPr>
          <p:cNvPr id="22" name="Text 19"/>
          <p:cNvSpPr txBox="1"/>
          <p:nvPr/>
        </p:nvSpPr>
        <p:spPr>
          <a:xfrm>
            <a:off x="1041400" y="4953000"/>
            <a:ext cx="2921000" cy="444500"/>
          </a:xfrm>
          <a:prstGeom prst="rect">
            <a:avLst/>
          </a:prstGeom>
          <a:noFill/>
          <a:ln/>
        </p:spPr>
        <p:txBody>
          <a:bodyPr wrap="square" lIns="0" tIns="0" rIns="0" bIns="0" rtlCol="0" anchor="t"/>
          <a:lstStyle/>
          <a:p>
            <a:pPr indent="0" marL="0">
              <a:buNone/>
            </a:pPr>
            <a:r>
              <a:rPr lang="en-US" sz="1300" dirty="0">
                <a:solidFill>
                  <a:srgbClr val="B8C4D9"/>
                </a:solidFill>
                <a:latin typeface="Arial" pitchFamily="34" charset="0"/>
                <a:ea typeface="Arial" pitchFamily="34" charset="-122"/>
                <a:cs typeface="Arial" pitchFamily="34" charset="-120"/>
              </a:rPr>
              <a:t>Puts widgets side by side</a:t>
            </a:r>
            <a:endParaRPr lang="en-US" sz="1300" dirty="0"/>
          </a:p>
        </p:txBody>
      </p:sp>
      <p:sp>
        <p:nvSpPr>
          <p:cNvPr id="23" name="Shape 20"/>
          <p:cNvSpPr/>
          <p:nvPr/>
        </p:nvSpPr>
        <p:spPr>
          <a:xfrm>
            <a:off x="4406900" y="3746500"/>
            <a:ext cx="3378200" cy="1752600"/>
          </a:xfrm>
          <a:prstGeom prst="roundRect">
            <a:avLst>
              <a:gd name="adj" fmla="val 9391"/>
            </a:avLst>
          </a:prstGeom>
          <a:solidFill>
            <a:srgbClr val="FFFFFF">
              <a:alpha val="6000"/>
            </a:srgbClr>
          </a:solidFill>
          <a:ln w="12700">
            <a:solidFill>
              <a:srgbClr val="FFFFFF">
                <a:alpha val="15000"/>
              </a:srgbClr>
            </a:solidFill>
            <a:prstDash val="solid"/>
          </a:ln>
        </p:spPr>
      </p:sp>
      <p:sp>
        <p:nvSpPr>
          <p:cNvPr id="24" name="Shape 21"/>
          <p:cNvSpPr/>
          <p:nvPr/>
        </p:nvSpPr>
        <p:spPr>
          <a:xfrm>
            <a:off x="4635500" y="3937000"/>
            <a:ext cx="1651000" cy="152400"/>
          </a:xfrm>
          <a:prstGeom prst="roundRect">
            <a:avLst>
              <a:gd name="adj" fmla="val 36000"/>
            </a:avLst>
          </a:prstGeom>
          <a:solidFill>
            <a:srgbClr val="3A4770"/>
          </a:solidFill>
          <a:ln w="12700">
            <a:solidFill>
              <a:srgbClr val="3A4770"/>
            </a:solidFill>
            <a:prstDash val="solid"/>
          </a:ln>
        </p:spPr>
      </p:sp>
      <p:sp>
        <p:nvSpPr>
          <p:cNvPr id="25" name="Shape 22"/>
          <p:cNvSpPr/>
          <p:nvPr/>
        </p:nvSpPr>
        <p:spPr>
          <a:xfrm>
            <a:off x="4635500" y="4140200"/>
            <a:ext cx="1651000" cy="152400"/>
          </a:xfrm>
          <a:prstGeom prst="roundRect">
            <a:avLst>
              <a:gd name="adj" fmla="val 36000"/>
            </a:avLst>
          </a:prstGeom>
          <a:solidFill>
            <a:srgbClr val="54C5F8"/>
          </a:solidFill>
          <a:ln w="12700">
            <a:solidFill>
              <a:srgbClr val="54C5F8"/>
            </a:solidFill>
            <a:prstDash val="solid"/>
          </a:ln>
        </p:spPr>
      </p:sp>
      <p:sp>
        <p:nvSpPr>
          <p:cNvPr id="26" name="Shape 23"/>
          <p:cNvSpPr/>
          <p:nvPr/>
        </p:nvSpPr>
        <p:spPr>
          <a:xfrm>
            <a:off x="4635500" y="4343400"/>
            <a:ext cx="1651000" cy="152400"/>
          </a:xfrm>
          <a:prstGeom prst="roundRect">
            <a:avLst>
              <a:gd name="adj" fmla="val 36000"/>
            </a:avLst>
          </a:prstGeom>
          <a:solidFill>
            <a:srgbClr val="3A4770"/>
          </a:solidFill>
          <a:ln w="12700">
            <a:solidFill>
              <a:srgbClr val="3A4770"/>
            </a:solidFill>
            <a:prstDash val="solid"/>
          </a:ln>
        </p:spPr>
      </p:sp>
      <p:sp>
        <p:nvSpPr>
          <p:cNvPr id="27" name="Text 24"/>
          <p:cNvSpPr txBox="1"/>
          <p:nvPr/>
        </p:nvSpPr>
        <p:spPr>
          <a:xfrm>
            <a:off x="4635500" y="4635500"/>
            <a:ext cx="2921000" cy="279400"/>
          </a:xfrm>
          <a:prstGeom prst="rect">
            <a:avLst/>
          </a:prstGeom>
          <a:noFill/>
          <a:ln/>
        </p:spPr>
        <p:txBody>
          <a:bodyPr wrap="square" lIns="0" tIns="0" rIns="0" bIns="0" rtlCol="0" anchor="t"/>
          <a:lstStyle/>
          <a:p>
            <a:pPr indent="0" marL="0">
              <a:buNone/>
            </a:pPr>
            <a:r>
              <a:rPr lang="en-US" sz="1600" b="1" dirty="0">
                <a:solidFill>
                  <a:srgbClr val="54C5F8"/>
                </a:solidFill>
                <a:latin typeface="Courier New" pitchFamily="34" charset="0"/>
                <a:ea typeface="Courier New" pitchFamily="34" charset="-122"/>
                <a:cs typeface="Courier New" pitchFamily="34" charset="-120"/>
              </a:rPr>
              <a:t>Column</a:t>
            </a:r>
            <a:endParaRPr lang="en-US" sz="1600" dirty="0"/>
          </a:p>
        </p:txBody>
      </p:sp>
      <p:sp>
        <p:nvSpPr>
          <p:cNvPr id="28" name="Text 25"/>
          <p:cNvSpPr txBox="1"/>
          <p:nvPr/>
        </p:nvSpPr>
        <p:spPr>
          <a:xfrm>
            <a:off x="4635500" y="4953000"/>
            <a:ext cx="2921000" cy="444500"/>
          </a:xfrm>
          <a:prstGeom prst="rect">
            <a:avLst/>
          </a:prstGeom>
          <a:noFill/>
          <a:ln/>
        </p:spPr>
        <p:txBody>
          <a:bodyPr wrap="square" lIns="0" tIns="0" rIns="0" bIns="0" rtlCol="0" anchor="t"/>
          <a:lstStyle/>
          <a:p>
            <a:pPr indent="0" marL="0">
              <a:buNone/>
            </a:pPr>
            <a:r>
              <a:rPr lang="en-US" sz="1300" dirty="0">
                <a:solidFill>
                  <a:srgbClr val="B8C4D9"/>
                </a:solidFill>
                <a:latin typeface="Arial" pitchFamily="34" charset="0"/>
                <a:ea typeface="Arial" pitchFamily="34" charset="-122"/>
                <a:cs typeface="Arial" pitchFamily="34" charset="-120"/>
              </a:rPr>
              <a:t>Puts widgets one under another</a:t>
            </a:r>
            <a:endParaRPr lang="en-US" sz="1300" dirty="0"/>
          </a:p>
        </p:txBody>
      </p:sp>
      <p:sp>
        <p:nvSpPr>
          <p:cNvPr id="29" name="Shape 26"/>
          <p:cNvSpPr/>
          <p:nvPr/>
        </p:nvSpPr>
        <p:spPr>
          <a:xfrm>
            <a:off x="8001000" y="3746500"/>
            <a:ext cx="3378200" cy="1752600"/>
          </a:xfrm>
          <a:prstGeom prst="roundRect">
            <a:avLst>
              <a:gd name="adj" fmla="val 9391"/>
            </a:avLst>
          </a:prstGeom>
          <a:solidFill>
            <a:srgbClr val="FFFFFF">
              <a:alpha val="6000"/>
            </a:srgbClr>
          </a:solidFill>
          <a:ln w="12700">
            <a:solidFill>
              <a:srgbClr val="FFFFFF">
                <a:alpha val="15000"/>
              </a:srgbClr>
            </a:solidFill>
            <a:prstDash val="solid"/>
          </a:ln>
        </p:spPr>
      </p:sp>
      <p:sp>
        <p:nvSpPr>
          <p:cNvPr id="30" name="Shape 27"/>
          <p:cNvSpPr/>
          <p:nvPr/>
        </p:nvSpPr>
        <p:spPr>
          <a:xfrm>
            <a:off x="8229600" y="3937000"/>
            <a:ext cx="139700" cy="139700"/>
          </a:xfrm>
          <a:prstGeom prst="ellipse">
            <a:avLst/>
          </a:prstGeom>
          <a:solidFill>
            <a:srgbClr val="54C5F8"/>
          </a:solidFill>
          <a:ln w="12700">
            <a:solidFill>
              <a:srgbClr val="54C5F8"/>
            </a:solidFill>
            <a:prstDash val="solid"/>
          </a:ln>
        </p:spPr>
      </p:sp>
      <p:sp>
        <p:nvSpPr>
          <p:cNvPr id="31" name="Shape 28"/>
          <p:cNvSpPr/>
          <p:nvPr/>
        </p:nvSpPr>
        <p:spPr>
          <a:xfrm>
            <a:off x="8458200" y="3962400"/>
            <a:ext cx="1524000" cy="88900"/>
          </a:xfrm>
          <a:prstGeom prst="roundRect">
            <a:avLst>
              <a:gd name="adj" fmla="val 51429"/>
            </a:avLst>
          </a:prstGeom>
          <a:solidFill>
            <a:srgbClr val="3A4770"/>
          </a:solidFill>
          <a:ln w="12700">
            <a:solidFill>
              <a:srgbClr val="3A4770"/>
            </a:solidFill>
            <a:prstDash val="solid"/>
          </a:ln>
        </p:spPr>
      </p:sp>
      <p:sp>
        <p:nvSpPr>
          <p:cNvPr id="32" name="Shape 29"/>
          <p:cNvSpPr/>
          <p:nvPr/>
        </p:nvSpPr>
        <p:spPr>
          <a:xfrm>
            <a:off x="8229600" y="4140200"/>
            <a:ext cx="139700" cy="139700"/>
          </a:xfrm>
          <a:prstGeom prst="ellipse">
            <a:avLst/>
          </a:prstGeom>
          <a:solidFill>
            <a:srgbClr val="54C5F8"/>
          </a:solidFill>
          <a:ln w="12700">
            <a:solidFill>
              <a:srgbClr val="54C5F8"/>
            </a:solidFill>
            <a:prstDash val="solid"/>
          </a:ln>
        </p:spPr>
      </p:sp>
      <p:sp>
        <p:nvSpPr>
          <p:cNvPr id="33" name="Shape 30"/>
          <p:cNvSpPr/>
          <p:nvPr/>
        </p:nvSpPr>
        <p:spPr>
          <a:xfrm>
            <a:off x="8458200" y="4165600"/>
            <a:ext cx="1524000" cy="88900"/>
          </a:xfrm>
          <a:prstGeom prst="roundRect">
            <a:avLst>
              <a:gd name="adj" fmla="val 51429"/>
            </a:avLst>
          </a:prstGeom>
          <a:solidFill>
            <a:srgbClr val="3A4770"/>
          </a:solidFill>
          <a:ln w="12700">
            <a:solidFill>
              <a:srgbClr val="3A4770"/>
            </a:solidFill>
            <a:prstDash val="solid"/>
          </a:ln>
        </p:spPr>
      </p:sp>
      <p:sp>
        <p:nvSpPr>
          <p:cNvPr id="34" name="Shape 31"/>
          <p:cNvSpPr/>
          <p:nvPr/>
        </p:nvSpPr>
        <p:spPr>
          <a:xfrm>
            <a:off x="8229600" y="4343400"/>
            <a:ext cx="139700" cy="139700"/>
          </a:xfrm>
          <a:prstGeom prst="ellipse">
            <a:avLst/>
          </a:prstGeom>
          <a:solidFill>
            <a:srgbClr val="54C5F8"/>
          </a:solidFill>
          <a:ln w="12700">
            <a:solidFill>
              <a:srgbClr val="54C5F8"/>
            </a:solidFill>
            <a:prstDash val="solid"/>
          </a:ln>
        </p:spPr>
      </p:sp>
      <p:sp>
        <p:nvSpPr>
          <p:cNvPr id="35" name="Shape 32"/>
          <p:cNvSpPr/>
          <p:nvPr/>
        </p:nvSpPr>
        <p:spPr>
          <a:xfrm>
            <a:off x="8458200" y="4368800"/>
            <a:ext cx="1524000" cy="88900"/>
          </a:xfrm>
          <a:prstGeom prst="roundRect">
            <a:avLst>
              <a:gd name="adj" fmla="val 51429"/>
            </a:avLst>
          </a:prstGeom>
          <a:solidFill>
            <a:srgbClr val="3A4770"/>
          </a:solidFill>
          <a:ln w="12700">
            <a:solidFill>
              <a:srgbClr val="3A4770"/>
            </a:solidFill>
            <a:prstDash val="solid"/>
          </a:ln>
        </p:spPr>
      </p:sp>
      <p:sp>
        <p:nvSpPr>
          <p:cNvPr id="36" name="Text 33"/>
          <p:cNvSpPr txBox="1"/>
          <p:nvPr/>
        </p:nvSpPr>
        <p:spPr>
          <a:xfrm>
            <a:off x="8229600" y="4635500"/>
            <a:ext cx="2921000" cy="279400"/>
          </a:xfrm>
          <a:prstGeom prst="rect">
            <a:avLst/>
          </a:prstGeom>
          <a:noFill/>
          <a:ln/>
        </p:spPr>
        <p:txBody>
          <a:bodyPr wrap="square" lIns="0" tIns="0" rIns="0" bIns="0" rtlCol="0" anchor="t"/>
          <a:lstStyle/>
          <a:p>
            <a:pPr indent="0" marL="0">
              <a:buNone/>
            </a:pPr>
            <a:r>
              <a:rPr lang="en-US" sz="1600" b="1" dirty="0">
                <a:solidFill>
                  <a:srgbClr val="54C5F8"/>
                </a:solidFill>
                <a:latin typeface="Courier New" pitchFamily="34" charset="0"/>
                <a:ea typeface="Courier New" pitchFamily="34" charset="-122"/>
                <a:cs typeface="Courier New" pitchFamily="34" charset="-120"/>
              </a:rPr>
              <a:t>ListView</a:t>
            </a:r>
            <a:endParaRPr lang="en-US" sz="1600" dirty="0"/>
          </a:p>
        </p:txBody>
      </p:sp>
      <p:sp>
        <p:nvSpPr>
          <p:cNvPr id="37" name="Text 34"/>
          <p:cNvSpPr txBox="1"/>
          <p:nvPr/>
        </p:nvSpPr>
        <p:spPr>
          <a:xfrm>
            <a:off x="8229600" y="4953000"/>
            <a:ext cx="2921000" cy="444500"/>
          </a:xfrm>
          <a:prstGeom prst="rect">
            <a:avLst/>
          </a:prstGeom>
          <a:noFill/>
          <a:ln/>
        </p:spPr>
        <p:txBody>
          <a:bodyPr wrap="square" lIns="0" tIns="0" rIns="0" bIns="0" rtlCol="0" anchor="t"/>
          <a:lstStyle/>
          <a:p>
            <a:pPr indent="0" marL="0">
              <a:buNone/>
            </a:pPr>
            <a:r>
              <a:rPr lang="en-US" sz="1300" dirty="0">
                <a:solidFill>
                  <a:srgbClr val="B8C4D9"/>
                </a:solidFill>
                <a:latin typeface="Arial" pitchFamily="34" charset="0"/>
                <a:ea typeface="Arial" pitchFamily="34" charset="-122"/>
                <a:cs typeface="Arial" pitchFamily="34" charset="-120"/>
              </a:rPr>
              <a:t>A scrolling list of rows</a:t>
            </a:r>
            <a:endParaRPr lang="en-US" sz="1300" dirty="0"/>
          </a:p>
        </p:txBody>
      </p:sp>
      <p:sp>
        <p:nvSpPr>
          <p:cNvPr id="38" name="Shape 35"/>
          <p:cNvSpPr/>
          <p:nvPr/>
        </p:nvSpPr>
        <p:spPr>
          <a:xfrm>
            <a:off x="812800" y="5689600"/>
            <a:ext cx="10566400" cy="584200"/>
          </a:xfrm>
          <a:prstGeom prst="roundRect">
            <a:avLst>
              <a:gd name="adj" fmla="val 23478"/>
            </a:avLst>
          </a:prstGeom>
          <a:solidFill>
            <a:srgbClr val="0468D7"/>
          </a:solidFill>
          <a:ln w="12700">
            <a:solidFill>
              <a:srgbClr val="0468D7"/>
            </a:solidFill>
            <a:prstDash val="solid"/>
          </a:ln>
          <a:effectLst>
            <a:outerShdw sx="100000" sy="100000" kx="0" ky="0" algn="bl" rotWithShape="0" blurRad="330200" dist="76200" dir="5400000">
              <a:srgbClr val="0468D7">
                <a:alpha val="40000"/>
              </a:srgbClr>
            </a:outerShdw>
          </a:effectLst>
        </p:spPr>
      </p:sp>
      <p:sp>
        <p:nvSpPr>
          <p:cNvPr id="39" name="Text 36"/>
          <p:cNvSpPr txBox="1"/>
          <p:nvPr/>
        </p:nvSpPr>
        <p:spPr>
          <a:xfrm>
            <a:off x="1066800" y="5689600"/>
            <a:ext cx="10058400" cy="584200"/>
          </a:xfrm>
          <a:prstGeom prst="rect">
            <a:avLst/>
          </a:prstGeom>
          <a:noFill/>
          <a:ln/>
        </p:spPr>
        <p:txBody>
          <a:bodyPr wrap="square" lIns="0" tIns="0" rIns="0" bIns="0" rtlCol="0" anchor="ctr"/>
          <a:lstStyle/>
          <a:p>
            <a:pPr indent="0" marL="0">
              <a:buNone/>
            </a:pPr>
            <a:r>
              <a:rPr lang="en-US" sz="1350" b="1" dirty="0">
                <a:solidFill>
                  <a:srgbClr val="F4F7FB"/>
                </a:solidFill>
                <a:latin typeface="Arial" pitchFamily="34" charset="0"/>
                <a:ea typeface="Arial" pitchFamily="34" charset="-122"/>
                <a:cs typeface="Arial" pitchFamily="34" charset="-120"/>
              </a:rPr>
              <a:t>Like LEGO:  </a:t>
            </a:r>
            <a:pPr indent="0" marL="0">
              <a:buNone/>
            </a:pPr>
            <a:r>
              <a:rPr lang="en-US" sz="1350" dirty="0">
                <a:solidFill>
                  <a:srgbClr val="E3EEFB"/>
                </a:solidFill>
                <a:latin typeface="Arial" pitchFamily="34" charset="0"/>
                <a:ea typeface="Arial" pitchFamily="34" charset="-122"/>
                <a:cs typeface="Arial" pitchFamily="34" charset="-120"/>
              </a:rPr>
              <a:t>small widgets snap into bigger ones. A whole page is a widget, and so is the app itself.</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812800" y="762000"/>
            <a:ext cx="10566400" cy="254000"/>
          </a:xfrm>
          <a:prstGeom prst="rect">
            <a:avLst/>
          </a:prstGeom>
          <a:noFill/>
          <a:ln/>
        </p:spPr>
        <p:txBody>
          <a:bodyPr wrap="square" lIns="0" tIns="0" rIns="0" bIns="0" rtlCol="0" anchor="t"/>
          <a:lstStyle/>
          <a:p>
            <a:pPr indent="0" marL="0">
              <a:buNone/>
            </a:pPr>
            <a:r>
              <a:rPr lang="en-US" sz="1200" b="1" spc="400" kern="0" dirty="0">
                <a:solidFill>
                  <a:srgbClr val="0468D7"/>
                </a:solidFill>
                <a:latin typeface="Arial" pitchFamily="34" charset="0"/>
                <a:ea typeface="Arial" pitchFamily="34" charset="-122"/>
                <a:cs typeface="Arial" pitchFamily="34" charset="-120"/>
              </a:rPr>
              <a:t>THE DART THAT FLUTTER USES</a:t>
            </a:r>
            <a:endParaRPr lang="en-US" sz="1200" dirty="0"/>
          </a:p>
        </p:txBody>
      </p:sp>
      <p:sp>
        <p:nvSpPr>
          <p:cNvPr id="3" name="Text 1"/>
          <p:cNvSpPr txBox="1"/>
          <p:nvPr/>
        </p:nvSpPr>
        <p:spPr>
          <a:xfrm>
            <a:off x="812800" y="1054100"/>
            <a:ext cx="10566400" cy="698500"/>
          </a:xfrm>
          <a:prstGeom prst="rect">
            <a:avLst/>
          </a:prstGeom>
          <a:noFill/>
          <a:ln/>
        </p:spPr>
        <p:txBody>
          <a:bodyPr wrap="square" lIns="0" tIns="0" rIns="0" bIns="0" rtlCol="0" anchor="t"/>
          <a:lstStyle/>
          <a:p>
            <a:pPr indent="0" marL="0">
              <a:buNone/>
            </a:pPr>
            <a:r>
              <a:rPr lang="en-US" sz="3500" b="1" dirty="0">
                <a:solidFill>
                  <a:srgbClr val="0E1220"/>
                </a:solidFill>
                <a:latin typeface="Arial" pitchFamily="34" charset="0"/>
                <a:ea typeface="Arial" pitchFamily="34" charset="-122"/>
                <a:cs typeface="Arial" pitchFamily="34" charset="-120"/>
              </a:rPr>
              <a:t>Three ideas on every line of Flutter</a:t>
            </a:r>
            <a:endParaRPr lang="en-US" sz="3500" dirty="0"/>
          </a:p>
        </p:txBody>
      </p:sp>
      <p:sp>
        <p:nvSpPr>
          <p:cNvPr id="4" name="Text 2"/>
          <p:cNvSpPr txBox="1"/>
          <p:nvPr/>
        </p:nvSpPr>
        <p:spPr>
          <a:xfrm>
            <a:off x="2857500" y="1854200"/>
            <a:ext cx="4064000" cy="190500"/>
          </a:xfrm>
          <a:prstGeom prst="rect">
            <a:avLst/>
          </a:prstGeom>
          <a:noFill/>
          <a:ln/>
        </p:spPr>
        <p:txBody>
          <a:bodyPr wrap="square" lIns="0" tIns="0" rIns="0" bIns="0" rtlCol="0" anchor="t"/>
          <a:lstStyle/>
          <a:p>
            <a:pPr indent="0" marL="0">
              <a:buNone/>
            </a:pPr>
            <a:r>
              <a:rPr lang="en-US" sz="1050" b="1" spc="300" kern="0" dirty="0">
                <a:solidFill>
                  <a:srgbClr val="8A97B5"/>
                </a:solidFill>
                <a:latin typeface="Arial" pitchFamily="34" charset="0"/>
                <a:ea typeface="Arial" pitchFamily="34" charset="-122"/>
                <a:cs typeface="Arial" pitchFamily="34" charset="-120"/>
              </a:rPr>
              <a:t>YOUR BUS (DART)</a:t>
            </a:r>
            <a:endParaRPr lang="en-US" sz="1050" dirty="0"/>
          </a:p>
        </p:txBody>
      </p:sp>
      <p:sp>
        <p:nvSpPr>
          <p:cNvPr id="5" name="Text 3"/>
          <p:cNvSpPr txBox="1"/>
          <p:nvPr/>
        </p:nvSpPr>
        <p:spPr>
          <a:xfrm>
            <a:off x="7378700" y="1854200"/>
            <a:ext cx="4000500" cy="190500"/>
          </a:xfrm>
          <a:prstGeom prst="rect">
            <a:avLst/>
          </a:prstGeom>
          <a:noFill/>
          <a:ln/>
        </p:spPr>
        <p:txBody>
          <a:bodyPr wrap="square" lIns="0" tIns="0" rIns="0" bIns="0" rtlCol="0" anchor="t"/>
          <a:lstStyle/>
          <a:p>
            <a:pPr indent="0" marL="0">
              <a:buNone/>
            </a:pPr>
            <a:r>
              <a:rPr lang="en-US" sz="1050" b="1" spc="300" kern="0" dirty="0">
                <a:solidFill>
                  <a:srgbClr val="0468D7"/>
                </a:solidFill>
                <a:latin typeface="Arial" pitchFamily="34" charset="0"/>
                <a:ea typeface="Arial" pitchFamily="34" charset="-122"/>
                <a:cs typeface="Arial" pitchFamily="34" charset="-120"/>
              </a:rPr>
              <a:t>FLUTTER</a:t>
            </a:r>
            <a:endParaRPr lang="en-US" sz="1050" dirty="0"/>
          </a:p>
        </p:txBody>
      </p:sp>
      <p:pic>
        <p:nvPicPr>
          <p:cNvPr id="6" name="Image 0" descr="preencoded.png">    </p:cNvPr>
          <p:cNvPicPr>
            <a:picLocks noChangeAspect="1"/>
          </p:cNvPicPr>
          <p:nvPr/>
        </p:nvPicPr>
        <p:blipFill>
          <a:blip r:embed="rId1"/>
          <a:stretch>
            <a:fillRect/>
          </a:stretch>
        </p:blipFill>
        <p:spPr>
          <a:xfrm>
            <a:off x="812800" y="2247900"/>
            <a:ext cx="457200" cy="457200"/>
          </a:xfrm>
          <a:prstGeom prst="rect">
            <a:avLst/>
          </a:prstGeom>
        </p:spPr>
      </p:pic>
      <p:sp>
        <p:nvSpPr>
          <p:cNvPr id="7" name="Text 4"/>
          <p:cNvSpPr txBox="1"/>
          <p:nvPr/>
        </p:nvSpPr>
        <p:spPr>
          <a:xfrm>
            <a:off x="812800" y="2781300"/>
            <a:ext cx="1905000" cy="254000"/>
          </a:xfrm>
          <a:prstGeom prst="rect">
            <a:avLst/>
          </a:prstGeom>
          <a:noFill/>
          <a:ln/>
        </p:spPr>
        <p:txBody>
          <a:bodyPr wrap="square" lIns="0" tIns="0" rIns="0" bIns="0" rtlCol="0" anchor="t"/>
          <a:lstStyle/>
          <a:p>
            <a:pPr indent="0" marL="0">
              <a:buNone/>
            </a:pPr>
            <a:r>
              <a:rPr lang="en-US" sz="1300" b="1" dirty="0">
                <a:solidFill>
                  <a:srgbClr val="0E1220"/>
                </a:solidFill>
                <a:latin typeface="Arial" pitchFamily="34" charset="0"/>
                <a:ea typeface="Arial" pitchFamily="34" charset="-122"/>
                <a:cs typeface="Arial" pitchFamily="34" charset="-120"/>
              </a:rPr>
              <a:t>1. Classes</a:t>
            </a:r>
            <a:endParaRPr lang="en-US" sz="1300" dirty="0"/>
          </a:p>
        </p:txBody>
      </p:sp>
      <p:sp>
        <p:nvSpPr>
          <p:cNvPr id="8" name="Text 5"/>
          <p:cNvSpPr txBox="1"/>
          <p:nvPr/>
        </p:nvSpPr>
        <p:spPr>
          <a:xfrm>
            <a:off x="812800" y="3022600"/>
            <a:ext cx="1905000" cy="317500"/>
          </a:xfrm>
          <a:prstGeom prst="rect">
            <a:avLst/>
          </a:prstGeom>
          <a:noFill/>
          <a:ln/>
        </p:spPr>
        <p:txBody>
          <a:bodyPr wrap="square" lIns="0" tIns="0" rIns="0" bIns="0" rtlCol="0" anchor="t"/>
          <a:lstStyle/>
          <a:p>
            <a:pPr indent="0" marL="0">
              <a:buNone/>
            </a:pPr>
            <a:r>
              <a:rPr lang="en-US" sz="1050" dirty="0">
                <a:solidFill>
                  <a:srgbClr val="4A5568"/>
                </a:solidFill>
                <a:latin typeface="Arial" pitchFamily="34" charset="0"/>
                <a:ea typeface="Arial" pitchFamily="34" charset="-122"/>
                <a:cs typeface="Arial" pitchFamily="34" charset="-120"/>
              </a:rPr>
              <a:t>A blueprint you make objects from</a:t>
            </a:r>
            <a:endParaRPr lang="en-US" sz="1050" dirty="0"/>
          </a:p>
        </p:txBody>
      </p:sp>
      <p:sp>
        <p:nvSpPr>
          <p:cNvPr id="9" name="Shape 6"/>
          <p:cNvSpPr/>
          <p:nvPr/>
        </p:nvSpPr>
        <p:spPr>
          <a:xfrm>
            <a:off x="2857500" y="2120900"/>
            <a:ext cx="4064000" cy="1206500"/>
          </a:xfrm>
          <a:prstGeom prst="roundRect">
            <a:avLst>
              <a:gd name="adj" fmla="val 10611"/>
            </a:avLst>
          </a:prstGeom>
          <a:solidFill>
            <a:srgbClr val="070A14"/>
          </a:solidFill>
          <a:ln w="12700">
            <a:solidFill>
              <a:srgbClr val="2E3A5C"/>
            </a:solidFill>
            <a:prstDash val="solid"/>
          </a:ln>
        </p:spPr>
      </p:sp>
      <p:sp>
        <p:nvSpPr>
          <p:cNvPr id="10" name="Text 7"/>
          <p:cNvSpPr txBox="1"/>
          <p:nvPr/>
        </p:nvSpPr>
        <p:spPr>
          <a:xfrm>
            <a:off x="3022600" y="2235200"/>
            <a:ext cx="3733800" cy="977900"/>
          </a:xfrm>
          <a:prstGeom prst="rect">
            <a:avLst/>
          </a:prstGeom>
          <a:noFill/>
          <a:ln/>
        </p:spPr>
        <p:txBody>
          <a:bodyPr wrap="square" lIns="0" tIns="0" rIns="0" bIns="0" rtlCol="0" anchor="ctr"/>
          <a:lstStyle/>
          <a:p>
            <a:pPr indent="0" marL="0">
              <a:lnSpc>
                <a:spcPct val="130000"/>
              </a:lnSpc>
              <a:buNone/>
            </a:pPr>
            <a:r>
              <a:rPr lang="en-US" sz="1100" dirty="0">
                <a:solidFill>
                  <a:srgbClr val="FF7AB2"/>
                </a:solidFill>
                <a:latin typeface="Courier New" pitchFamily="34" charset="0"/>
                <a:ea typeface="Courier New" pitchFamily="34" charset="-122"/>
                <a:cs typeface="Courier New" pitchFamily="34" charset="-120"/>
              </a:rPr>
              <a:t>class </a:t>
            </a:r>
            <a:pPr indent="0" marL="0">
              <a:lnSpc>
                <a:spcPct val="130000"/>
              </a:lnSpc>
              <a:buNone/>
            </a:pPr>
            <a:r>
              <a:rPr lang="en-US" sz="1100" dirty="0">
                <a:solidFill>
                  <a:srgbClr val="54C5F8"/>
                </a:solidFill>
                <a:latin typeface="Courier New" pitchFamily="34" charset="0"/>
                <a:ea typeface="Courier New" pitchFamily="34" charset="-122"/>
                <a:cs typeface="Courier New" pitchFamily="34" charset="-120"/>
              </a:rPr>
              <a:t>Bus</a:t>
            </a:r>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 {</a:t>
            </a:r>
            <a:pPr indent="0" marL="0">
              <a:lnSpc>
                <a:spcPct val="130000"/>
              </a:lnSpc>
              <a:buNone/>
            </a:pPr>
            <a:endParaRPr lang="en-US" sz="1100" dirty="0"/>
          </a:p>
          <a:p>
            <a:pPr indent="0" marL="0">
              <a:lnSpc>
                <a:spcPct val="130000"/>
              </a:lnSpc>
              <a:buNone/>
            </a:pPr>
            <a:r>
              <a:rPr lang="en-US" sz="1100" dirty="0">
                <a:solidFill>
                  <a:srgbClr val="FF7AB2"/>
                </a:solidFill>
                <a:latin typeface="Courier New" pitchFamily="34" charset="0"/>
                <a:ea typeface="Courier New" pitchFamily="34" charset="-122"/>
                <a:cs typeface="Courier New" pitchFamily="34" charset="-120"/>
              </a:rPr>
              <a:t>  final </a:t>
            </a:r>
            <a:pPr indent="0" marL="0">
              <a:lnSpc>
                <a:spcPct val="130000"/>
              </a:lnSpc>
              <a:buNone/>
            </a:pPr>
            <a:r>
              <a:rPr lang="en-US" sz="1100" dirty="0">
                <a:solidFill>
                  <a:srgbClr val="54C5F8"/>
                </a:solidFill>
                <a:latin typeface="Courier New" pitchFamily="34" charset="0"/>
                <a:ea typeface="Courier New" pitchFamily="34" charset="-122"/>
                <a:cs typeface="Courier New" pitchFamily="34" charset="-120"/>
              </a:rPr>
              <a:t>String</a:t>
            </a:r>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 route;</a:t>
            </a:r>
            <a:pPr indent="0" marL="0">
              <a:lnSpc>
                <a:spcPct val="130000"/>
              </a:lnSpc>
              <a:buNone/>
            </a:pPr>
            <a:endParaRPr lang="en-US" sz="1100" dirty="0"/>
          </a:p>
          <a:p>
            <a:pPr indent="0" marL="0">
              <a:lnSpc>
                <a:spcPct val="130000"/>
              </a:lnSpc>
              <a:buNone/>
            </a:pPr>
            <a:r>
              <a:rPr lang="en-US" sz="1100" dirty="0">
                <a:solidFill>
                  <a:srgbClr val="FF7AB2"/>
                </a:solidFill>
                <a:latin typeface="Courier New" pitchFamily="34" charset="0"/>
                <a:ea typeface="Courier New" pitchFamily="34" charset="-122"/>
                <a:cs typeface="Courier New" pitchFamily="34" charset="-120"/>
              </a:rPr>
              <a:t>  void </a:t>
            </a:r>
            <a:pPr indent="0" marL="0">
              <a:lnSpc>
                <a:spcPct val="130000"/>
              </a:lnSpc>
              <a:buNone/>
            </a:pPr>
            <a:r>
              <a:rPr lang="en-US" sz="1100" dirty="0">
                <a:solidFill>
                  <a:srgbClr val="FFD479"/>
                </a:solidFill>
                <a:latin typeface="Courier New" pitchFamily="34" charset="0"/>
                <a:ea typeface="Courier New" pitchFamily="34" charset="-122"/>
                <a:cs typeface="Courier New" pitchFamily="34" charset="-120"/>
              </a:rPr>
              <a:t>book</a:t>
            </a:r>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 { ... }</a:t>
            </a:r>
            <a:pPr indent="0" marL="0">
              <a:lnSpc>
                <a:spcPct val="130000"/>
              </a:lnSpc>
              <a:buNone/>
            </a:pPr>
            <a:endParaRPr lang="en-US" sz="1100" dirty="0"/>
          </a:p>
          <a:p>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a:t>
            </a:r>
            <a:endParaRPr lang="en-US" sz="1100" dirty="0"/>
          </a:p>
        </p:txBody>
      </p:sp>
      <p:sp>
        <p:nvSpPr>
          <p:cNvPr id="11" name="Shape 8"/>
          <p:cNvSpPr/>
          <p:nvPr/>
        </p:nvSpPr>
        <p:spPr>
          <a:xfrm>
            <a:off x="6985000" y="2724150"/>
            <a:ext cx="317500" cy="0"/>
          </a:xfrm>
          <a:prstGeom prst="line">
            <a:avLst/>
          </a:prstGeom>
          <a:noFill/>
          <a:ln w="31750">
            <a:solidFill>
              <a:srgbClr val="0468D7"/>
            </a:solidFill>
            <a:prstDash val="solid"/>
            <a:tailEnd type="triangle"/>
          </a:ln>
        </p:spPr>
      </p:sp>
      <p:sp>
        <p:nvSpPr>
          <p:cNvPr id="12" name="Shape 9"/>
          <p:cNvSpPr/>
          <p:nvPr/>
        </p:nvSpPr>
        <p:spPr>
          <a:xfrm>
            <a:off x="7378700" y="2120900"/>
            <a:ext cx="4000500" cy="1206500"/>
          </a:xfrm>
          <a:prstGeom prst="roundRect">
            <a:avLst>
              <a:gd name="adj" fmla="val 10611"/>
            </a:avLst>
          </a:prstGeom>
          <a:solidFill>
            <a:srgbClr val="0B2348"/>
          </a:solidFill>
          <a:ln w="12700">
            <a:solidFill>
              <a:srgbClr val="2E3A5C"/>
            </a:solidFill>
            <a:prstDash val="solid"/>
          </a:ln>
        </p:spPr>
      </p:sp>
      <p:sp>
        <p:nvSpPr>
          <p:cNvPr id="13" name="Text 10"/>
          <p:cNvSpPr txBox="1"/>
          <p:nvPr/>
        </p:nvSpPr>
        <p:spPr>
          <a:xfrm>
            <a:off x="7543800" y="2235200"/>
            <a:ext cx="3670300" cy="977900"/>
          </a:xfrm>
          <a:prstGeom prst="rect">
            <a:avLst/>
          </a:prstGeom>
          <a:noFill/>
          <a:ln/>
        </p:spPr>
        <p:txBody>
          <a:bodyPr wrap="square" lIns="0" tIns="0" rIns="0" bIns="0" rtlCol="0" anchor="ctr"/>
          <a:lstStyle/>
          <a:p>
            <a:pPr indent="0" marL="0">
              <a:lnSpc>
                <a:spcPct val="130000"/>
              </a:lnSpc>
              <a:buNone/>
            </a:pPr>
            <a:r>
              <a:rPr lang="en-US" sz="1100" dirty="0">
                <a:solidFill>
                  <a:srgbClr val="FF7AB2"/>
                </a:solidFill>
                <a:latin typeface="Courier New" pitchFamily="34" charset="0"/>
                <a:ea typeface="Courier New" pitchFamily="34" charset="-122"/>
                <a:cs typeface="Courier New" pitchFamily="34" charset="-120"/>
              </a:rPr>
              <a:t>class </a:t>
            </a:r>
            <a:pPr indent="0" marL="0">
              <a:lnSpc>
                <a:spcPct val="130000"/>
              </a:lnSpc>
              <a:buNone/>
            </a:pPr>
            <a:r>
              <a:rPr lang="en-US" sz="1100" dirty="0">
                <a:solidFill>
                  <a:srgbClr val="54C5F8"/>
                </a:solidFill>
                <a:latin typeface="Courier New" pitchFamily="34" charset="0"/>
                <a:ea typeface="Courier New" pitchFamily="34" charset="-122"/>
                <a:cs typeface="Courier New" pitchFamily="34" charset="-120"/>
              </a:rPr>
              <a:t>HomeScreen</a:t>
            </a:r>
            <a:pPr indent="0" marL="0">
              <a:lnSpc>
                <a:spcPct val="130000"/>
              </a:lnSpc>
              <a:buNone/>
            </a:pPr>
            <a:endParaRPr lang="en-US" sz="1100" dirty="0"/>
          </a:p>
          <a:p>
            <a:pPr indent="0" marL="0">
              <a:lnSpc>
                <a:spcPct val="130000"/>
              </a:lnSpc>
              <a:buNone/>
            </a:pPr>
            <a:r>
              <a:rPr lang="en-US" sz="1100" dirty="0">
                <a:solidFill>
                  <a:srgbClr val="FF7AB2"/>
                </a:solidFill>
                <a:latin typeface="Courier New" pitchFamily="34" charset="0"/>
                <a:ea typeface="Courier New" pitchFamily="34" charset="-122"/>
                <a:cs typeface="Courier New" pitchFamily="34" charset="-120"/>
              </a:rPr>
              <a:t>    extends </a:t>
            </a:r>
            <a:pPr indent="0" marL="0">
              <a:lnSpc>
                <a:spcPct val="130000"/>
              </a:lnSpc>
              <a:buNone/>
            </a:pPr>
            <a:r>
              <a:rPr lang="en-US" sz="1100" dirty="0">
                <a:solidFill>
                  <a:srgbClr val="54C5F8"/>
                </a:solidFill>
                <a:latin typeface="Courier New" pitchFamily="34" charset="0"/>
                <a:ea typeface="Courier New" pitchFamily="34" charset="-122"/>
                <a:cs typeface="Courier New" pitchFamily="34" charset="-120"/>
              </a:rPr>
              <a:t>StatelessWidget</a:t>
            </a:r>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 {</a:t>
            </a:r>
            <a:pPr indent="0" marL="0">
              <a:lnSpc>
                <a:spcPct val="130000"/>
              </a:lnSpc>
              <a:buNone/>
            </a:pPr>
            <a:endParaRPr lang="en-US" sz="1100" dirty="0"/>
          </a:p>
          <a:p>
            <a:pPr indent="0" marL="0">
              <a:lnSpc>
                <a:spcPct val="130000"/>
              </a:lnSpc>
              <a:buNone/>
            </a:pPr>
            <a:r>
              <a:rPr lang="en-US" sz="1100" dirty="0">
                <a:solidFill>
                  <a:srgbClr val="54C5F8"/>
                </a:solidFill>
                <a:latin typeface="Courier New" pitchFamily="34" charset="0"/>
                <a:ea typeface="Courier New" pitchFamily="34" charset="-122"/>
                <a:cs typeface="Courier New" pitchFamily="34" charset="-120"/>
              </a:rPr>
              <a:t>  Widget </a:t>
            </a:r>
            <a:pPr indent="0" marL="0">
              <a:lnSpc>
                <a:spcPct val="130000"/>
              </a:lnSpc>
              <a:buNone/>
            </a:pPr>
            <a:r>
              <a:rPr lang="en-US" sz="1100" dirty="0">
                <a:solidFill>
                  <a:srgbClr val="FFD479"/>
                </a:solidFill>
                <a:latin typeface="Courier New" pitchFamily="34" charset="0"/>
                <a:ea typeface="Courier New" pitchFamily="34" charset="-122"/>
                <a:cs typeface="Courier New" pitchFamily="34" charset="-120"/>
              </a:rPr>
              <a:t>build</a:t>
            </a:r>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 { ... }</a:t>
            </a:r>
            <a:pPr indent="0" marL="0">
              <a:lnSpc>
                <a:spcPct val="130000"/>
              </a:lnSpc>
              <a:buNone/>
            </a:pPr>
            <a:endParaRPr lang="en-US" sz="1100" dirty="0"/>
          </a:p>
          <a:p>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a:t>
            </a:r>
            <a:endParaRPr lang="en-US" sz="1100" dirty="0"/>
          </a:p>
        </p:txBody>
      </p:sp>
      <p:pic>
        <p:nvPicPr>
          <p:cNvPr id="14" name="Image 1" descr="preencoded.png">    </p:cNvPr>
          <p:cNvPicPr>
            <a:picLocks noChangeAspect="1"/>
          </p:cNvPicPr>
          <p:nvPr/>
        </p:nvPicPr>
        <p:blipFill>
          <a:blip r:embed="rId2"/>
          <a:stretch>
            <a:fillRect/>
          </a:stretch>
        </p:blipFill>
        <p:spPr>
          <a:xfrm>
            <a:off x="812800" y="3594100"/>
            <a:ext cx="457200" cy="457200"/>
          </a:xfrm>
          <a:prstGeom prst="rect">
            <a:avLst/>
          </a:prstGeom>
        </p:spPr>
      </p:pic>
      <p:sp>
        <p:nvSpPr>
          <p:cNvPr id="15" name="Text 11"/>
          <p:cNvSpPr txBox="1"/>
          <p:nvPr/>
        </p:nvSpPr>
        <p:spPr>
          <a:xfrm>
            <a:off x="812800" y="4127500"/>
            <a:ext cx="1905000" cy="254000"/>
          </a:xfrm>
          <a:prstGeom prst="rect">
            <a:avLst/>
          </a:prstGeom>
          <a:noFill/>
          <a:ln/>
        </p:spPr>
        <p:txBody>
          <a:bodyPr wrap="square" lIns="0" tIns="0" rIns="0" bIns="0" rtlCol="0" anchor="t"/>
          <a:lstStyle/>
          <a:p>
            <a:pPr indent="0" marL="0">
              <a:buNone/>
            </a:pPr>
            <a:r>
              <a:rPr lang="en-US" sz="1300" b="1" dirty="0">
                <a:solidFill>
                  <a:srgbClr val="0E1220"/>
                </a:solidFill>
                <a:latin typeface="Arial" pitchFamily="34" charset="0"/>
                <a:ea typeface="Arial" pitchFamily="34" charset="-122"/>
                <a:cs typeface="Arial" pitchFamily="34" charset="-120"/>
              </a:rPr>
              <a:t>2. Named parameters</a:t>
            </a:r>
            <a:endParaRPr lang="en-US" sz="1300" dirty="0"/>
          </a:p>
        </p:txBody>
      </p:sp>
      <p:sp>
        <p:nvSpPr>
          <p:cNvPr id="16" name="Text 12"/>
          <p:cNvSpPr txBox="1"/>
          <p:nvPr/>
        </p:nvSpPr>
        <p:spPr>
          <a:xfrm>
            <a:off x="812800" y="4368800"/>
            <a:ext cx="1905000" cy="317500"/>
          </a:xfrm>
          <a:prstGeom prst="rect">
            <a:avLst/>
          </a:prstGeom>
          <a:noFill/>
          <a:ln/>
        </p:spPr>
        <p:txBody>
          <a:bodyPr wrap="square" lIns="0" tIns="0" rIns="0" bIns="0" rtlCol="0" anchor="t"/>
          <a:lstStyle/>
          <a:p>
            <a:pPr indent="0" marL="0">
              <a:buNone/>
            </a:pPr>
            <a:r>
              <a:rPr lang="en-US" sz="1050" dirty="0">
                <a:solidFill>
                  <a:srgbClr val="4A5568"/>
                </a:solidFill>
                <a:latin typeface="Arial" pitchFamily="34" charset="0"/>
                <a:ea typeface="Arial" pitchFamily="34" charset="-122"/>
                <a:cs typeface="Arial" pitchFamily="34" charset="-120"/>
              </a:rPr>
              <a:t>Every value has a label</a:t>
            </a:r>
            <a:endParaRPr lang="en-US" sz="1050" dirty="0"/>
          </a:p>
        </p:txBody>
      </p:sp>
      <p:sp>
        <p:nvSpPr>
          <p:cNvPr id="17" name="Shape 13"/>
          <p:cNvSpPr/>
          <p:nvPr/>
        </p:nvSpPr>
        <p:spPr>
          <a:xfrm>
            <a:off x="2857500" y="3467100"/>
            <a:ext cx="4064000" cy="1206500"/>
          </a:xfrm>
          <a:prstGeom prst="roundRect">
            <a:avLst>
              <a:gd name="adj" fmla="val 10611"/>
            </a:avLst>
          </a:prstGeom>
          <a:solidFill>
            <a:srgbClr val="070A14"/>
          </a:solidFill>
          <a:ln w="12700">
            <a:solidFill>
              <a:srgbClr val="2E3A5C"/>
            </a:solidFill>
            <a:prstDash val="solid"/>
          </a:ln>
        </p:spPr>
      </p:sp>
      <p:sp>
        <p:nvSpPr>
          <p:cNvPr id="18" name="Text 14"/>
          <p:cNvSpPr txBox="1"/>
          <p:nvPr/>
        </p:nvSpPr>
        <p:spPr>
          <a:xfrm>
            <a:off x="3022600" y="3581400"/>
            <a:ext cx="3733800" cy="977900"/>
          </a:xfrm>
          <a:prstGeom prst="rect">
            <a:avLst/>
          </a:prstGeom>
          <a:noFill/>
          <a:ln/>
        </p:spPr>
        <p:txBody>
          <a:bodyPr wrap="square" lIns="0" tIns="0" rIns="0" bIns="0" rtlCol="0" anchor="ctr"/>
          <a:lstStyle/>
          <a:p>
            <a:pPr indent="0" marL="0">
              <a:lnSpc>
                <a:spcPct val="130000"/>
              </a:lnSpc>
              <a:buNone/>
            </a:pPr>
            <a:r>
              <a:rPr lang="en-US" sz="1100" dirty="0">
                <a:solidFill>
                  <a:srgbClr val="54C5F8"/>
                </a:solidFill>
                <a:latin typeface="Courier New" pitchFamily="34" charset="0"/>
                <a:ea typeface="Courier New" pitchFamily="34" charset="-122"/>
                <a:cs typeface="Courier New" pitchFamily="34" charset="-120"/>
              </a:rPr>
              <a:t>Bus</a:t>
            </a:r>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a:t>
            </a:r>
            <a:pPr indent="0" marL="0">
              <a:lnSpc>
                <a:spcPct val="130000"/>
              </a:lnSpc>
              <a:buNone/>
            </a:pPr>
            <a:endParaRPr lang="en-US" sz="1100" dirty="0"/>
          </a:p>
          <a:p>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  route: </a:t>
            </a:r>
            <a:pPr indent="0" marL="0">
              <a:lnSpc>
                <a:spcPct val="130000"/>
              </a:lnSpc>
              <a:buNone/>
            </a:pPr>
            <a:r>
              <a:rPr lang="en-US" sz="1100" dirty="0">
                <a:solidFill>
                  <a:srgbClr val="9CE29C"/>
                </a:solidFill>
                <a:latin typeface="Courier New" pitchFamily="34" charset="0"/>
                <a:ea typeface="Courier New" pitchFamily="34" charset="-122"/>
                <a:cs typeface="Courier New" pitchFamily="34" charset="-120"/>
              </a:rPr>
              <a:t>'huye'</a:t>
            </a:r>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a:t>
            </a:r>
            <a:pPr indent="0" marL="0">
              <a:lnSpc>
                <a:spcPct val="130000"/>
              </a:lnSpc>
              <a:buNone/>
            </a:pPr>
            <a:endParaRPr lang="en-US" sz="1100" dirty="0"/>
          </a:p>
          <a:p>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  price: </a:t>
            </a:r>
            <a:pPr indent="0" marL="0">
              <a:lnSpc>
                <a:spcPct val="130000"/>
              </a:lnSpc>
              <a:buNone/>
            </a:pPr>
            <a:r>
              <a:rPr lang="en-US" sz="1100" dirty="0">
                <a:solidFill>
                  <a:srgbClr val="D9C97C"/>
                </a:solidFill>
                <a:latin typeface="Courier New" pitchFamily="34" charset="0"/>
                <a:ea typeface="Courier New" pitchFamily="34" charset="-122"/>
                <a:cs typeface="Courier New" pitchFamily="34" charset="-120"/>
              </a:rPr>
              <a:t>3000</a:t>
            </a:r>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a:t>
            </a:r>
            <a:pPr indent="0" marL="0">
              <a:lnSpc>
                <a:spcPct val="130000"/>
              </a:lnSpc>
              <a:buNone/>
            </a:pPr>
            <a:endParaRPr lang="en-US" sz="1100" dirty="0"/>
          </a:p>
          <a:p>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a:t>
            </a:r>
            <a:endParaRPr lang="en-US" sz="1100" dirty="0"/>
          </a:p>
        </p:txBody>
      </p:sp>
      <p:sp>
        <p:nvSpPr>
          <p:cNvPr id="19" name="Shape 15"/>
          <p:cNvSpPr/>
          <p:nvPr/>
        </p:nvSpPr>
        <p:spPr>
          <a:xfrm>
            <a:off x="6985000" y="4070350"/>
            <a:ext cx="317500" cy="0"/>
          </a:xfrm>
          <a:prstGeom prst="line">
            <a:avLst/>
          </a:prstGeom>
          <a:noFill/>
          <a:ln w="31750">
            <a:solidFill>
              <a:srgbClr val="0468D7"/>
            </a:solidFill>
            <a:prstDash val="solid"/>
            <a:tailEnd type="triangle"/>
          </a:ln>
        </p:spPr>
      </p:sp>
      <p:sp>
        <p:nvSpPr>
          <p:cNvPr id="20" name="Shape 16"/>
          <p:cNvSpPr/>
          <p:nvPr/>
        </p:nvSpPr>
        <p:spPr>
          <a:xfrm>
            <a:off x="7378700" y="3467100"/>
            <a:ext cx="4000500" cy="1206500"/>
          </a:xfrm>
          <a:prstGeom prst="roundRect">
            <a:avLst>
              <a:gd name="adj" fmla="val 10611"/>
            </a:avLst>
          </a:prstGeom>
          <a:solidFill>
            <a:srgbClr val="0B2348"/>
          </a:solidFill>
          <a:ln w="12700">
            <a:solidFill>
              <a:srgbClr val="2E3A5C"/>
            </a:solidFill>
            <a:prstDash val="solid"/>
          </a:ln>
        </p:spPr>
      </p:sp>
      <p:sp>
        <p:nvSpPr>
          <p:cNvPr id="21" name="Text 17"/>
          <p:cNvSpPr txBox="1"/>
          <p:nvPr/>
        </p:nvSpPr>
        <p:spPr>
          <a:xfrm>
            <a:off x="7543800" y="3581400"/>
            <a:ext cx="3670300" cy="977900"/>
          </a:xfrm>
          <a:prstGeom prst="rect">
            <a:avLst/>
          </a:prstGeom>
          <a:noFill/>
          <a:ln/>
        </p:spPr>
        <p:txBody>
          <a:bodyPr wrap="square" lIns="0" tIns="0" rIns="0" bIns="0" rtlCol="0" anchor="ctr"/>
          <a:lstStyle/>
          <a:p>
            <a:pPr indent="0" marL="0">
              <a:lnSpc>
                <a:spcPct val="130000"/>
              </a:lnSpc>
              <a:buNone/>
            </a:pPr>
            <a:r>
              <a:rPr lang="en-US" sz="1100" dirty="0">
                <a:solidFill>
                  <a:srgbClr val="54C5F8"/>
                </a:solidFill>
                <a:latin typeface="Courier New" pitchFamily="34" charset="0"/>
                <a:ea typeface="Courier New" pitchFamily="34" charset="-122"/>
                <a:cs typeface="Courier New" pitchFamily="34" charset="-120"/>
              </a:rPr>
              <a:t>Text</a:t>
            </a:r>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a:t>
            </a:r>
            <a:pPr indent="0" marL="0">
              <a:lnSpc>
                <a:spcPct val="130000"/>
              </a:lnSpc>
              <a:buNone/>
            </a:pPr>
            <a:endParaRPr lang="en-US" sz="1100" dirty="0"/>
          </a:p>
          <a:p>
            <a:pPr indent="0" marL="0">
              <a:lnSpc>
                <a:spcPct val="130000"/>
              </a:lnSpc>
              <a:buNone/>
            </a:pPr>
            <a:r>
              <a:rPr lang="en-US" sz="1100" dirty="0">
                <a:solidFill>
                  <a:srgbClr val="9CE29C"/>
                </a:solidFill>
                <a:latin typeface="Courier New" pitchFamily="34" charset="0"/>
                <a:ea typeface="Courier New" pitchFamily="34" charset="-122"/>
                <a:cs typeface="Courier New" pitchFamily="34" charset="-120"/>
              </a:rPr>
              <a:t>  'Shopping List'</a:t>
            </a:r>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a:t>
            </a:r>
            <a:pPr indent="0" marL="0">
              <a:lnSpc>
                <a:spcPct val="130000"/>
              </a:lnSpc>
              <a:buNone/>
            </a:pPr>
            <a:endParaRPr lang="en-US" sz="1100" dirty="0"/>
          </a:p>
          <a:p>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  style: </a:t>
            </a:r>
            <a:pPr indent="0" marL="0">
              <a:lnSpc>
                <a:spcPct val="130000"/>
              </a:lnSpc>
              <a:buNone/>
            </a:pPr>
            <a:r>
              <a:rPr lang="en-US" sz="1100" dirty="0">
                <a:solidFill>
                  <a:srgbClr val="54C5F8"/>
                </a:solidFill>
                <a:latin typeface="Courier New" pitchFamily="34" charset="0"/>
                <a:ea typeface="Courier New" pitchFamily="34" charset="-122"/>
                <a:cs typeface="Courier New" pitchFamily="34" charset="-120"/>
              </a:rPr>
              <a:t>TextStyle</a:t>
            </a:r>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(fontSize: </a:t>
            </a:r>
            <a:pPr indent="0" marL="0">
              <a:lnSpc>
                <a:spcPct val="130000"/>
              </a:lnSpc>
              <a:buNone/>
            </a:pPr>
            <a:r>
              <a:rPr lang="en-US" sz="1100" dirty="0">
                <a:solidFill>
                  <a:srgbClr val="D9C97C"/>
                </a:solidFill>
                <a:latin typeface="Courier New" pitchFamily="34" charset="0"/>
                <a:ea typeface="Courier New" pitchFamily="34" charset="-122"/>
                <a:cs typeface="Courier New" pitchFamily="34" charset="-120"/>
              </a:rPr>
              <a:t>24</a:t>
            </a:r>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a:t>
            </a:r>
            <a:pPr indent="0" marL="0">
              <a:lnSpc>
                <a:spcPct val="130000"/>
              </a:lnSpc>
              <a:buNone/>
            </a:pPr>
            <a:endParaRPr lang="en-US" sz="1100" dirty="0"/>
          </a:p>
          <a:p>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a:t>
            </a:r>
            <a:endParaRPr lang="en-US" sz="1100" dirty="0"/>
          </a:p>
        </p:txBody>
      </p:sp>
      <p:pic>
        <p:nvPicPr>
          <p:cNvPr id="22" name="Image 2" descr="preencoded.png">    </p:cNvPr>
          <p:cNvPicPr>
            <a:picLocks noChangeAspect="1"/>
          </p:cNvPicPr>
          <p:nvPr/>
        </p:nvPicPr>
        <p:blipFill>
          <a:blip r:embed="rId3"/>
          <a:stretch>
            <a:fillRect/>
          </a:stretch>
        </p:blipFill>
        <p:spPr>
          <a:xfrm>
            <a:off x="812800" y="4940300"/>
            <a:ext cx="457200" cy="457200"/>
          </a:xfrm>
          <a:prstGeom prst="rect">
            <a:avLst/>
          </a:prstGeom>
        </p:spPr>
      </p:pic>
      <p:sp>
        <p:nvSpPr>
          <p:cNvPr id="23" name="Text 18"/>
          <p:cNvSpPr txBox="1"/>
          <p:nvPr/>
        </p:nvSpPr>
        <p:spPr>
          <a:xfrm>
            <a:off x="812800" y="5473700"/>
            <a:ext cx="1905000" cy="254000"/>
          </a:xfrm>
          <a:prstGeom prst="rect">
            <a:avLst/>
          </a:prstGeom>
          <a:noFill/>
          <a:ln/>
        </p:spPr>
        <p:txBody>
          <a:bodyPr wrap="square" lIns="0" tIns="0" rIns="0" bIns="0" rtlCol="0" anchor="t"/>
          <a:lstStyle/>
          <a:p>
            <a:pPr indent="0" marL="0">
              <a:buNone/>
            </a:pPr>
            <a:r>
              <a:rPr lang="en-US" sz="1300" b="1" dirty="0">
                <a:solidFill>
                  <a:srgbClr val="0E1220"/>
                </a:solidFill>
                <a:latin typeface="Arial" pitchFamily="34" charset="0"/>
                <a:ea typeface="Arial" pitchFamily="34" charset="-122"/>
                <a:cs typeface="Arial" pitchFamily="34" charset="-120"/>
              </a:rPr>
              <a:t>3. Functions as values</a:t>
            </a:r>
            <a:endParaRPr lang="en-US" sz="1300" dirty="0"/>
          </a:p>
        </p:txBody>
      </p:sp>
      <p:sp>
        <p:nvSpPr>
          <p:cNvPr id="24" name="Text 19"/>
          <p:cNvSpPr txBox="1"/>
          <p:nvPr/>
        </p:nvSpPr>
        <p:spPr>
          <a:xfrm>
            <a:off x="812800" y="5715000"/>
            <a:ext cx="1905000" cy="317500"/>
          </a:xfrm>
          <a:prstGeom prst="rect">
            <a:avLst/>
          </a:prstGeom>
          <a:noFill/>
          <a:ln/>
        </p:spPr>
        <p:txBody>
          <a:bodyPr wrap="square" lIns="0" tIns="0" rIns="0" bIns="0" rtlCol="0" anchor="t"/>
          <a:lstStyle/>
          <a:p>
            <a:pPr indent="0" marL="0">
              <a:buNone/>
            </a:pPr>
            <a:r>
              <a:rPr lang="en-US" sz="1050" dirty="0">
                <a:solidFill>
                  <a:srgbClr val="4A5568"/>
                </a:solidFill>
                <a:latin typeface="Arial" pitchFamily="34" charset="0"/>
                <a:ea typeface="Arial" pitchFamily="34" charset="-122"/>
                <a:cs typeface="Arial" pitchFamily="34" charset="-120"/>
              </a:rPr>
              <a:t>Code that runs later, on a tap</a:t>
            </a:r>
            <a:endParaRPr lang="en-US" sz="1050" dirty="0"/>
          </a:p>
        </p:txBody>
      </p:sp>
      <p:sp>
        <p:nvSpPr>
          <p:cNvPr id="25" name="Shape 20"/>
          <p:cNvSpPr/>
          <p:nvPr/>
        </p:nvSpPr>
        <p:spPr>
          <a:xfrm>
            <a:off x="2857500" y="4813300"/>
            <a:ext cx="4064000" cy="1206500"/>
          </a:xfrm>
          <a:prstGeom prst="roundRect">
            <a:avLst>
              <a:gd name="adj" fmla="val 10611"/>
            </a:avLst>
          </a:prstGeom>
          <a:solidFill>
            <a:srgbClr val="070A14"/>
          </a:solidFill>
          <a:ln w="12700">
            <a:solidFill>
              <a:srgbClr val="2E3A5C"/>
            </a:solidFill>
            <a:prstDash val="solid"/>
          </a:ln>
        </p:spPr>
      </p:sp>
      <p:sp>
        <p:nvSpPr>
          <p:cNvPr id="26" name="Text 21"/>
          <p:cNvSpPr txBox="1"/>
          <p:nvPr/>
        </p:nvSpPr>
        <p:spPr>
          <a:xfrm>
            <a:off x="3022600" y="4927600"/>
            <a:ext cx="3733800" cy="977900"/>
          </a:xfrm>
          <a:prstGeom prst="rect">
            <a:avLst/>
          </a:prstGeom>
          <a:noFill/>
          <a:ln/>
        </p:spPr>
        <p:txBody>
          <a:bodyPr wrap="square" lIns="0" tIns="0" rIns="0" bIns="0" rtlCol="0" anchor="ctr"/>
          <a:lstStyle/>
          <a:p>
            <a:pPr indent="0" marL="0">
              <a:lnSpc>
                <a:spcPct val="130000"/>
              </a:lnSpc>
              <a:buNone/>
            </a:pPr>
            <a:r>
              <a:rPr lang="en-US" sz="1100" dirty="0">
                <a:solidFill>
                  <a:srgbClr val="54C5F8"/>
                </a:solidFill>
                <a:latin typeface="Courier New" pitchFamily="34" charset="0"/>
                <a:ea typeface="Courier New" pitchFamily="34" charset="-122"/>
                <a:cs typeface="Courier New" pitchFamily="34" charset="-120"/>
              </a:rPr>
              <a:t>Button</a:t>
            </a:r>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a:t>
            </a:r>
            <a:pPr indent="0" marL="0">
              <a:lnSpc>
                <a:spcPct val="130000"/>
              </a:lnSpc>
              <a:buNone/>
            </a:pPr>
            <a:endParaRPr lang="en-US" sz="1100" dirty="0"/>
          </a:p>
          <a:p>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  label: </a:t>
            </a:r>
            <a:pPr indent="0" marL="0">
              <a:lnSpc>
                <a:spcPct val="130000"/>
              </a:lnSpc>
              <a:buNone/>
            </a:pPr>
            <a:r>
              <a:rPr lang="en-US" sz="1100" dirty="0">
                <a:solidFill>
                  <a:srgbClr val="9CE29C"/>
                </a:solidFill>
                <a:latin typeface="Courier New" pitchFamily="34" charset="0"/>
                <a:ea typeface="Courier New" pitchFamily="34" charset="-122"/>
                <a:cs typeface="Courier New" pitchFamily="34" charset="-120"/>
              </a:rPr>
              <a:t>'Book seat 1'</a:t>
            </a:r>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a:t>
            </a:r>
            <a:pPr indent="0" marL="0">
              <a:lnSpc>
                <a:spcPct val="130000"/>
              </a:lnSpc>
              <a:buNone/>
            </a:pPr>
            <a:endParaRPr lang="en-US" sz="1100" dirty="0"/>
          </a:p>
          <a:p>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  onPressed: () =&gt; huye.</a:t>
            </a:r>
            <a:pPr indent="0" marL="0">
              <a:lnSpc>
                <a:spcPct val="130000"/>
              </a:lnSpc>
              <a:buNone/>
            </a:pPr>
            <a:r>
              <a:rPr lang="en-US" sz="1100" dirty="0">
                <a:solidFill>
                  <a:srgbClr val="FFD479"/>
                </a:solidFill>
                <a:latin typeface="Courier New" pitchFamily="34" charset="0"/>
                <a:ea typeface="Courier New" pitchFamily="34" charset="-122"/>
                <a:cs typeface="Courier New" pitchFamily="34" charset="-120"/>
              </a:rPr>
              <a:t>book</a:t>
            </a:r>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a:t>
            </a:r>
            <a:pPr indent="0" marL="0">
              <a:lnSpc>
                <a:spcPct val="130000"/>
              </a:lnSpc>
              <a:buNone/>
            </a:pPr>
            <a:endParaRPr lang="en-US" sz="1100" dirty="0"/>
          </a:p>
          <a:p>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a:t>
            </a:r>
            <a:endParaRPr lang="en-US" sz="1100" dirty="0"/>
          </a:p>
        </p:txBody>
      </p:sp>
      <p:sp>
        <p:nvSpPr>
          <p:cNvPr id="27" name="Shape 22"/>
          <p:cNvSpPr/>
          <p:nvPr/>
        </p:nvSpPr>
        <p:spPr>
          <a:xfrm>
            <a:off x="6985000" y="5416550"/>
            <a:ext cx="317500" cy="0"/>
          </a:xfrm>
          <a:prstGeom prst="line">
            <a:avLst/>
          </a:prstGeom>
          <a:noFill/>
          <a:ln w="31750">
            <a:solidFill>
              <a:srgbClr val="0468D7"/>
            </a:solidFill>
            <a:prstDash val="solid"/>
            <a:tailEnd type="triangle"/>
          </a:ln>
        </p:spPr>
      </p:sp>
      <p:sp>
        <p:nvSpPr>
          <p:cNvPr id="28" name="Shape 23"/>
          <p:cNvSpPr/>
          <p:nvPr/>
        </p:nvSpPr>
        <p:spPr>
          <a:xfrm>
            <a:off x="7378700" y="4813300"/>
            <a:ext cx="4000500" cy="1206500"/>
          </a:xfrm>
          <a:prstGeom prst="roundRect">
            <a:avLst>
              <a:gd name="adj" fmla="val 10611"/>
            </a:avLst>
          </a:prstGeom>
          <a:solidFill>
            <a:srgbClr val="0B2348"/>
          </a:solidFill>
          <a:ln w="12700">
            <a:solidFill>
              <a:srgbClr val="2E3A5C"/>
            </a:solidFill>
            <a:prstDash val="solid"/>
          </a:ln>
        </p:spPr>
      </p:sp>
      <p:sp>
        <p:nvSpPr>
          <p:cNvPr id="29" name="Text 24"/>
          <p:cNvSpPr txBox="1"/>
          <p:nvPr/>
        </p:nvSpPr>
        <p:spPr>
          <a:xfrm>
            <a:off x="7543800" y="4927600"/>
            <a:ext cx="3670300" cy="977900"/>
          </a:xfrm>
          <a:prstGeom prst="rect">
            <a:avLst/>
          </a:prstGeom>
          <a:noFill/>
          <a:ln/>
        </p:spPr>
        <p:txBody>
          <a:bodyPr wrap="square" lIns="0" tIns="0" rIns="0" bIns="0" rtlCol="0" anchor="ctr"/>
          <a:lstStyle/>
          <a:p>
            <a:pPr indent="0" marL="0">
              <a:lnSpc>
                <a:spcPct val="130000"/>
              </a:lnSpc>
              <a:buNone/>
            </a:pPr>
            <a:r>
              <a:rPr lang="en-US" sz="1100" dirty="0">
                <a:solidFill>
                  <a:srgbClr val="54C5F8"/>
                </a:solidFill>
                <a:latin typeface="Courier New" pitchFamily="34" charset="0"/>
                <a:ea typeface="Courier New" pitchFamily="34" charset="-122"/>
                <a:cs typeface="Courier New" pitchFamily="34" charset="-120"/>
              </a:rPr>
              <a:t>FilledButton</a:t>
            </a:r>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a:t>
            </a:r>
            <a:pPr indent="0" marL="0">
              <a:lnSpc>
                <a:spcPct val="130000"/>
              </a:lnSpc>
              <a:buNone/>
            </a:pPr>
            <a:endParaRPr lang="en-US" sz="1100" dirty="0"/>
          </a:p>
          <a:p>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  onPressed: addItem,</a:t>
            </a:r>
            <a:pPr indent="0" marL="0">
              <a:lnSpc>
                <a:spcPct val="130000"/>
              </a:lnSpc>
              <a:buNone/>
            </a:pPr>
            <a:endParaRPr lang="en-US" sz="1100" dirty="0"/>
          </a:p>
          <a:p>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  child: </a:t>
            </a:r>
            <a:pPr indent="0" marL="0">
              <a:lnSpc>
                <a:spcPct val="130000"/>
              </a:lnSpc>
              <a:buNone/>
            </a:pPr>
            <a:r>
              <a:rPr lang="en-US" sz="1100" dirty="0">
                <a:solidFill>
                  <a:srgbClr val="54C5F8"/>
                </a:solidFill>
                <a:latin typeface="Courier New" pitchFamily="34" charset="0"/>
                <a:ea typeface="Courier New" pitchFamily="34" charset="-122"/>
                <a:cs typeface="Courier New" pitchFamily="34" charset="-120"/>
              </a:rPr>
              <a:t>Text</a:t>
            </a:r>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a:t>
            </a:r>
            <a:pPr indent="0" marL="0">
              <a:lnSpc>
                <a:spcPct val="130000"/>
              </a:lnSpc>
              <a:buNone/>
            </a:pPr>
            <a:r>
              <a:rPr lang="en-US" sz="1100" dirty="0">
                <a:solidFill>
                  <a:srgbClr val="9CE29C"/>
                </a:solidFill>
                <a:latin typeface="Courier New" pitchFamily="34" charset="0"/>
                <a:ea typeface="Courier New" pitchFamily="34" charset="-122"/>
                <a:cs typeface="Courier New" pitchFamily="34" charset="-120"/>
              </a:rPr>
              <a:t>'Add'</a:t>
            </a:r>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a:t>
            </a:r>
            <a:pPr indent="0" marL="0">
              <a:lnSpc>
                <a:spcPct val="130000"/>
              </a:lnSpc>
              <a:buNone/>
            </a:pPr>
            <a:endParaRPr lang="en-US" sz="1100" dirty="0"/>
          </a:p>
          <a:p>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12800" y="762000"/>
            <a:ext cx="10566400" cy="254000"/>
          </a:xfrm>
          <a:prstGeom prst="rect">
            <a:avLst/>
          </a:prstGeom>
          <a:noFill/>
          <a:ln/>
        </p:spPr>
        <p:txBody>
          <a:bodyPr wrap="square" lIns="0" tIns="0" rIns="0" bIns="0" rtlCol="0" anchor="t"/>
          <a:lstStyle/>
          <a:p>
            <a:pPr indent="0" marL="0">
              <a:buNone/>
            </a:pPr>
            <a:r>
              <a:rPr lang="en-US" sz="1200" b="1" spc="400" kern="0" dirty="0">
                <a:solidFill>
                  <a:srgbClr val="54C5F8"/>
                </a:solidFill>
                <a:latin typeface="Arial" pitchFamily="34" charset="0"/>
                <a:ea typeface="Arial" pitchFamily="34" charset="-122"/>
                <a:cs typeface="Arial" pitchFamily="34" charset="-120"/>
              </a:rPr>
              <a:t>TWO KINDS OF WIDGETS</a:t>
            </a:r>
            <a:endParaRPr lang="en-US" sz="1200" dirty="0"/>
          </a:p>
        </p:txBody>
      </p:sp>
      <p:sp>
        <p:nvSpPr>
          <p:cNvPr id="3" name="Text 1"/>
          <p:cNvSpPr txBox="1"/>
          <p:nvPr/>
        </p:nvSpPr>
        <p:spPr>
          <a:xfrm>
            <a:off x="812800" y="1054100"/>
            <a:ext cx="10566400" cy="698500"/>
          </a:xfrm>
          <a:prstGeom prst="rect">
            <a:avLst/>
          </a:prstGeom>
          <a:noFill/>
          <a:ln/>
        </p:spPr>
        <p:txBody>
          <a:bodyPr wrap="square" lIns="0" tIns="0" rIns="0" bIns="0" rtlCol="0" anchor="t"/>
          <a:lstStyle/>
          <a:p>
            <a:pPr indent="0" marL="0">
              <a:buNone/>
            </a:pPr>
            <a:r>
              <a:rPr lang="en-US" sz="3800" b="1" dirty="0">
                <a:solidFill>
                  <a:srgbClr val="F4F7FB"/>
                </a:solidFill>
                <a:latin typeface="Arial" pitchFamily="34" charset="0"/>
                <a:ea typeface="Arial" pitchFamily="34" charset="-122"/>
                <a:cs typeface="Arial" pitchFamily="34" charset="-120"/>
              </a:rPr>
              <a:t>Some widgets change, some never do</a:t>
            </a:r>
            <a:endParaRPr lang="en-US" sz="3800" dirty="0"/>
          </a:p>
        </p:txBody>
      </p:sp>
      <p:sp>
        <p:nvSpPr>
          <p:cNvPr id="4" name="Shape 2"/>
          <p:cNvSpPr/>
          <p:nvPr/>
        </p:nvSpPr>
        <p:spPr>
          <a:xfrm>
            <a:off x="812800" y="1841500"/>
            <a:ext cx="5207000" cy="3429000"/>
          </a:xfrm>
          <a:prstGeom prst="roundRect">
            <a:avLst>
              <a:gd name="adj" fmla="val 4800"/>
            </a:avLst>
          </a:prstGeom>
          <a:solidFill>
            <a:srgbClr val="FFFFFF">
              <a:alpha val="6000"/>
            </a:srgbClr>
          </a:solidFill>
          <a:ln w="12700">
            <a:solidFill>
              <a:srgbClr val="FFFFFF">
                <a:alpha val="15000"/>
              </a:srgbClr>
            </a:solidFill>
            <a:prstDash val="solid"/>
          </a:ln>
        </p:spPr>
      </p:sp>
      <p:sp>
        <p:nvSpPr>
          <p:cNvPr id="5" name="Text 3"/>
          <p:cNvSpPr txBox="1"/>
          <p:nvPr/>
        </p:nvSpPr>
        <p:spPr>
          <a:xfrm>
            <a:off x="1066800" y="2070100"/>
            <a:ext cx="4699000" cy="355600"/>
          </a:xfrm>
          <a:prstGeom prst="rect">
            <a:avLst/>
          </a:prstGeom>
          <a:noFill/>
          <a:ln/>
        </p:spPr>
        <p:txBody>
          <a:bodyPr wrap="square" lIns="0" tIns="0" rIns="0" bIns="0" rtlCol="0" anchor="t"/>
          <a:lstStyle/>
          <a:p>
            <a:pPr indent="0" marL="0">
              <a:buNone/>
            </a:pPr>
            <a:r>
              <a:rPr lang="en-US" sz="1900" b="1" dirty="0">
                <a:solidFill>
                  <a:srgbClr val="F4F7FB"/>
                </a:solidFill>
                <a:latin typeface="Courier New" pitchFamily="34" charset="0"/>
                <a:ea typeface="Courier New" pitchFamily="34" charset="-122"/>
                <a:cs typeface="Courier New" pitchFamily="34" charset="-120"/>
              </a:rPr>
              <a:t>StatelessWidget</a:t>
            </a:r>
            <a:endParaRPr lang="en-US" sz="1900" dirty="0"/>
          </a:p>
        </p:txBody>
      </p:sp>
      <p:sp>
        <p:nvSpPr>
          <p:cNvPr id="6" name="Text 4"/>
          <p:cNvSpPr txBox="1"/>
          <p:nvPr/>
        </p:nvSpPr>
        <p:spPr>
          <a:xfrm>
            <a:off x="1066800" y="2476500"/>
            <a:ext cx="4699000" cy="317500"/>
          </a:xfrm>
          <a:prstGeom prst="rect">
            <a:avLst/>
          </a:prstGeom>
          <a:noFill/>
          <a:ln/>
        </p:spPr>
        <p:txBody>
          <a:bodyPr wrap="square" lIns="0" tIns="0" rIns="0" bIns="0" rtlCol="0" anchor="t"/>
          <a:lstStyle/>
          <a:p>
            <a:pPr indent="0" marL="0">
              <a:buNone/>
            </a:pPr>
            <a:r>
              <a:rPr lang="en-US" sz="1500" b="1" dirty="0">
                <a:solidFill>
                  <a:srgbClr val="54C5F8"/>
                </a:solidFill>
                <a:latin typeface="Arial" pitchFamily="34" charset="0"/>
                <a:ea typeface="Arial" pitchFamily="34" charset="-122"/>
                <a:cs typeface="Arial" pitchFamily="34" charset="-120"/>
              </a:rPr>
              <a:t>Never changes by itself</a:t>
            </a:r>
            <a:endParaRPr lang="en-US" sz="1500" dirty="0"/>
          </a:p>
        </p:txBody>
      </p:sp>
      <p:sp>
        <p:nvSpPr>
          <p:cNvPr id="7" name="Text 5"/>
          <p:cNvSpPr txBox="1"/>
          <p:nvPr/>
        </p:nvSpPr>
        <p:spPr>
          <a:xfrm>
            <a:off x="1066800" y="2921000"/>
            <a:ext cx="4699000" cy="952500"/>
          </a:xfrm>
          <a:prstGeom prst="rect">
            <a:avLst/>
          </a:prstGeom>
          <a:noFill/>
          <a:ln/>
        </p:spPr>
        <p:txBody>
          <a:bodyPr wrap="square" lIns="0" tIns="0" rIns="0" bIns="0" rtlCol="0" anchor="t"/>
          <a:lstStyle/>
          <a:p>
            <a:pPr marL="228600" indent="-228600">
              <a:spcAft>
                <a:spcPts val="600"/>
              </a:spcAft>
              <a:buSzPct val="100000"/>
              <a:buChar char="•"/>
            </a:pPr>
            <a:r>
              <a:rPr lang="en-US" sz="1350" dirty="0">
                <a:solidFill>
                  <a:srgbClr val="B8C4D9"/>
                </a:solidFill>
                <a:latin typeface="Arial" pitchFamily="34" charset="0"/>
                <a:ea typeface="Arial" pitchFamily="34" charset="-122"/>
                <a:cs typeface="Arial" pitchFamily="34" charset="-120"/>
              </a:rPr>
              <a:t>A title</a:t>
            </a:r>
            <a:endParaRPr lang="en-US" sz="1350" dirty="0"/>
          </a:p>
          <a:p>
            <a:pPr marL="228600" indent="-228600">
              <a:spcAft>
                <a:spcPts val="600"/>
              </a:spcAft>
              <a:buSzPct val="100000"/>
              <a:buChar char="•"/>
            </a:pPr>
            <a:r>
              <a:rPr lang="en-US" sz="1350" dirty="0">
                <a:solidFill>
                  <a:srgbClr val="B8C4D9"/>
                </a:solidFill>
                <a:latin typeface="Arial" pitchFamily="34" charset="0"/>
                <a:ea typeface="Arial" pitchFamily="34" charset="-122"/>
                <a:cs typeface="Arial" pitchFamily="34" charset="-120"/>
              </a:rPr>
              <a:t>An icon</a:t>
            </a:r>
            <a:endParaRPr lang="en-US" sz="1350" dirty="0"/>
          </a:p>
          <a:p>
            <a:pPr marL="228600" indent="-228600">
              <a:spcAft>
                <a:spcPts val="600"/>
              </a:spcAft>
              <a:buSzPct val="100000"/>
              <a:buChar char="•"/>
            </a:pPr>
            <a:r>
              <a:rPr lang="en-US" sz="1350" dirty="0">
                <a:solidFill>
                  <a:srgbClr val="B8C4D9"/>
                </a:solidFill>
                <a:latin typeface="Arial" pitchFamily="34" charset="0"/>
                <a:ea typeface="Arial" pitchFamily="34" charset="-122"/>
                <a:cs typeface="Arial" pitchFamily="34" charset="-120"/>
              </a:rPr>
              <a:t>A logo or a label</a:t>
            </a:r>
            <a:endParaRPr lang="en-US" sz="1350" dirty="0"/>
          </a:p>
        </p:txBody>
      </p:sp>
      <p:sp>
        <p:nvSpPr>
          <p:cNvPr id="8" name="Shape 6"/>
          <p:cNvSpPr/>
          <p:nvPr/>
        </p:nvSpPr>
        <p:spPr>
          <a:xfrm>
            <a:off x="1066800" y="4127500"/>
            <a:ext cx="4699000" cy="952500"/>
          </a:xfrm>
          <a:prstGeom prst="roundRect">
            <a:avLst>
              <a:gd name="adj" fmla="val 13440"/>
            </a:avLst>
          </a:prstGeom>
          <a:solidFill>
            <a:srgbClr val="070A14"/>
          </a:solidFill>
          <a:ln w="12700">
            <a:solidFill>
              <a:srgbClr val="2E3A5C"/>
            </a:solidFill>
            <a:prstDash val="solid"/>
          </a:ln>
        </p:spPr>
      </p:sp>
      <p:sp>
        <p:nvSpPr>
          <p:cNvPr id="9" name="Text 7"/>
          <p:cNvSpPr txBox="1"/>
          <p:nvPr/>
        </p:nvSpPr>
        <p:spPr>
          <a:xfrm>
            <a:off x="1231900" y="4241800"/>
            <a:ext cx="4368800" cy="723900"/>
          </a:xfrm>
          <a:prstGeom prst="rect">
            <a:avLst/>
          </a:prstGeom>
          <a:noFill/>
          <a:ln/>
        </p:spPr>
        <p:txBody>
          <a:bodyPr wrap="square" lIns="0" tIns="0" rIns="0" bIns="0" rtlCol="0" anchor="ctr"/>
          <a:lstStyle/>
          <a:p>
            <a:pPr indent="0" marL="0">
              <a:lnSpc>
                <a:spcPct val="130000"/>
              </a:lnSpc>
              <a:buNone/>
            </a:pPr>
            <a:r>
              <a:rPr lang="en-US" sz="1100" dirty="0">
                <a:solidFill>
                  <a:srgbClr val="FF7AB2"/>
                </a:solidFill>
                <a:latin typeface="Courier New" pitchFamily="34" charset="0"/>
                <a:ea typeface="Courier New" pitchFamily="34" charset="-122"/>
                <a:cs typeface="Courier New" pitchFamily="34" charset="-120"/>
              </a:rPr>
              <a:t>class </a:t>
            </a:r>
            <a:pPr indent="0" marL="0">
              <a:lnSpc>
                <a:spcPct val="130000"/>
              </a:lnSpc>
              <a:buNone/>
            </a:pPr>
            <a:r>
              <a:rPr lang="en-US" sz="1100" dirty="0">
                <a:solidFill>
                  <a:srgbClr val="54C5F8"/>
                </a:solidFill>
                <a:latin typeface="Courier New" pitchFamily="34" charset="0"/>
                <a:ea typeface="Courier New" pitchFamily="34" charset="-122"/>
                <a:cs typeface="Courier New" pitchFamily="34" charset="-120"/>
              </a:rPr>
              <a:t>Title</a:t>
            </a:r>
            <a:pPr indent="0" marL="0">
              <a:lnSpc>
                <a:spcPct val="130000"/>
              </a:lnSpc>
              <a:buNone/>
            </a:pPr>
            <a:r>
              <a:rPr lang="en-US" sz="1100" dirty="0">
                <a:solidFill>
                  <a:srgbClr val="FF7AB2"/>
                </a:solidFill>
                <a:latin typeface="Courier New" pitchFamily="34" charset="0"/>
                <a:ea typeface="Courier New" pitchFamily="34" charset="-122"/>
                <a:cs typeface="Courier New" pitchFamily="34" charset="-120"/>
              </a:rPr>
              <a:t> extends</a:t>
            </a:r>
            <a:pPr indent="0" marL="0">
              <a:lnSpc>
                <a:spcPct val="130000"/>
              </a:lnSpc>
              <a:buNone/>
            </a:pPr>
            <a:endParaRPr lang="en-US" sz="1100" dirty="0"/>
          </a:p>
          <a:p>
            <a:pPr indent="0" marL="0">
              <a:lnSpc>
                <a:spcPct val="130000"/>
              </a:lnSpc>
              <a:buNone/>
            </a:pPr>
            <a:r>
              <a:rPr lang="en-US" sz="1100" dirty="0">
                <a:solidFill>
                  <a:srgbClr val="54C5F8"/>
                </a:solidFill>
                <a:latin typeface="Courier New" pitchFamily="34" charset="0"/>
                <a:ea typeface="Courier New" pitchFamily="34" charset="-122"/>
                <a:cs typeface="Courier New" pitchFamily="34" charset="-120"/>
              </a:rPr>
              <a:t>    StatelessWidget</a:t>
            </a:r>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 { ... }</a:t>
            </a:r>
            <a:endParaRPr lang="en-US" sz="1100" dirty="0"/>
          </a:p>
        </p:txBody>
      </p:sp>
      <p:sp>
        <p:nvSpPr>
          <p:cNvPr id="10" name="Shape 8"/>
          <p:cNvSpPr/>
          <p:nvPr/>
        </p:nvSpPr>
        <p:spPr>
          <a:xfrm>
            <a:off x="6172200" y="1841500"/>
            <a:ext cx="5207000" cy="3429000"/>
          </a:xfrm>
          <a:prstGeom prst="roundRect">
            <a:avLst>
              <a:gd name="adj" fmla="val 4800"/>
            </a:avLst>
          </a:prstGeom>
          <a:solidFill>
            <a:srgbClr val="0468D7"/>
          </a:solidFill>
          <a:ln w="12700">
            <a:solidFill>
              <a:srgbClr val="0468D7"/>
            </a:solidFill>
            <a:prstDash val="solid"/>
          </a:ln>
          <a:effectLst>
            <a:outerShdw sx="100000" sy="100000" kx="0" ky="0" algn="bl" rotWithShape="0" blurRad="330200" dist="76200" dir="5400000">
              <a:srgbClr val="0468D7">
                <a:alpha val="40000"/>
              </a:srgbClr>
            </a:outerShdw>
          </a:effectLst>
        </p:spPr>
      </p:sp>
      <p:sp>
        <p:nvSpPr>
          <p:cNvPr id="11" name="Text 9"/>
          <p:cNvSpPr txBox="1"/>
          <p:nvPr/>
        </p:nvSpPr>
        <p:spPr>
          <a:xfrm>
            <a:off x="6426200" y="2070100"/>
            <a:ext cx="4699000" cy="355600"/>
          </a:xfrm>
          <a:prstGeom prst="rect">
            <a:avLst/>
          </a:prstGeom>
          <a:noFill/>
          <a:ln/>
        </p:spPr>
        <p:txBody>
          <a:bodyPr wrap="square" lIns="0" tIns="0" rIns="0" bIns="0" rtlCol="0" anchor="t"/>
          <a:lstStyle/>
          <a:p>
            <a:pPr indent="0" marL="0">
              <a:buNone/>
            </a:pPr>
            <a:r>
              <a:rPr lang="en-US" sz="1900" b="1" dirty="0">
                <a:solidFill>
                  <a:srgbClr val="F4F7FB"/>
                </a:solidFill>
                <a:latin typeface="Courier New" pitchFamily="34" charset="0"/>
                <a:ea typeface="Courier New" pitchFamily="34" charset="-122"/>
                <a:cs typeface="Courier New" pitchFamily="34" charset="-120"/>
              </a:rPr>
              <a:t>StatefulWidget</a:t>
            </a:r>
            <a:endParaRPr lang="en-US" sz="1900" dirty="0"/>
          </a:p>
        </p:txBody>
      </p:sp>
      <p:sp>
        <p:nvSpPr>
          <p:cNvPr id="12" name="Text 10"/>
          <p:cNvSpPr txBox="1"/>
          <p:nvPr/>
        </p:nvSpPr>
        <p:spPr>
          <a:xfrm>
            <a:off x="6426200" y="2476500"/>
            <a:ext cx="4699000" cy="317500"/>
          </a:xfrm>
          <a:prstGeom prst="rect">
            <a:avLst/>
          </a:prstGeom>
          <a:noFill/>
          <a:ln/>
        </p:spPr>
        <p:txBody>
          <a:bodyPr wrap="square" lIns="0" tIns="0" rIns="0" bIns="0" rtlCol="0" anchor="t"/>
          <a:lstStyle/>
          <a:p>
            <a:pPr indent="0" marL="0">
              <a:buNone/>
            </a:pPr>
            <a:r>
              <a:rPr lang="en-US" sz="1500" b="1" dirty="0">
                <a:solidFill>
                  <a:srgbClr val="BFE6FB"/>
                </a:solidFill>
                <a:latin typeface="Arial" pitchFamily="34" charset="0"/>
                <a:ea typeface="Arial" pitchFamily="34" charset="-122"/>
                <a:cs typeface="Arial" pitchFamily="34" charset="-120"/>
              </a:rPr>
              <a:t>Has data that changes</a:t>
            </a:r>
            <a:endParaRPr lang="en-US" sz="1500" dirty="0"/>
          </a:p>
        </p:txBody>
      </p:sp>
      <p:sp>
        <p:nvSpPr>
          <p:cNvPr id="13" name="Text 11"/>
          <p:cNvSpPr txBox="1"/>
          <p:nvPr/>
        </p:nvSpPr>
        <p:spPr>
          <a:xfrm>
            <a:off x="6426200" y="2921000"/>
            <a:ext cx="4699000" cy="952500"/>
          </a:xfrm>
          <a:prstGeom prst="rect">
            <a:avLst/>
          </a:prstGeom>
          <a:noFill/>
          <a:ln/>
        </p:spPr>
        <p:txBody>
          <a:bodyPr wrap="square" lIns="0" tIns="0" rIns="0" bIns="0" rtlCol="0" anchor="t"/>
          <a:lstStyle/>
          <a:p>
            <a:pPr marL="228600" indent="-228600">
              <a:spcAft>
                <a:spcPts val="600"/>
              </a:spcAft>
              <a:buSzPct val="100000"/>
              <a:buChar char="•"/>
            </a:pPr>
            <a:r>
              <a:rPr lang="en-US" sz="1350" dirty="0">
                <a:solidFill>
                  <a:srgbClr val="E3EEFB"/>
                </a:solidFill>
                <a:latin typeface="Arial" pitchFamily="34" charset="0"/>
                <a:ea typeface="Arial" pitchFamily="34" charset="-122"/>
                <a:cs typeface="Arial" pitchFamily="34" charset="-120"/>
              </a:rPr>
              <a:t>A list that grows</a:t>
            </a:r>
            <a:endParaRPr lang="en-US" sz="1350" dirty="0"/>
          </a:p>
          <a:p>
            <a:pPr marL="228600" indent="-228600">
              <a:spcAft>
                <a:spcPts val="600"/>
              </a:spcAft>
              <a:buSzPct val="100000"/>
              <a:buChar char="•"/>
            </a:pPr>
            <a:r>
              <a:rPr lang="en-US" sz="1350" dirty="0">
                <a:solidFill>
                  <a:srgbClr val="E3EEFB"/>
                </a:solidFill>
                <a:latin typeface="Arial" pitchFamily="34" charset="0"/>
                <a:ea typeface="Arial" pitchFamily="34" charset="-122"/>
                <a:cs typeface="Arial" pitchFamily="34" charset="-120"/>
              </a:rPr>
              <a:t>A counter</a:t>
            </a:r>
            <a:endParaRPr lang="en-US" sz="1350" dirty="0"/>
          </a:p>
          <a:p>
            <a:pPr marL="228600" indent="-228600">
              <a:spcAft>
                <a:spcPts val="600"/>
              </a:spcAft>
              <a:buSzPct val="100000"/>
              <a:buChar char="•"/>
            </a:pPr>
            <a:r>
              <a:rPr lang="en-US" sz="1350" dirty="0">
                <a:solidFill>
                  <a:srgbClr val="E3EEFB"/>
                </a:solidFill>
                <a:latin typeface="Arial" pitchFamily="34" charset="0"/>
                <a:ea typeface="Arial" pitchFamily="34" charset="-122"/>
                <a:cs typeface="Arial" pitchFamily="34" charset="-120"/>
              </a:rPr>
              <a:t>A balance after a payment</a:t>
            </a:r>
            <a:endParaRPr lang="en-US" sz="1350" dirty="0"/>
          </a:p>
        </p:txBody>
      </p:sp>
      <p:sp>
        <p:nvSpPr>
          <p:cNvPr id="14" name="Shape 12"/>
          <p:cNvSpPr/>
          <p:nvPr/>
        </p:nvSpPr>
        <p:spPr>
          <a:xfrm>
            <a:off x="6426200" y="4127500"/>
            <a:ext cx="4699000" cy="952500"/>
          </a:xfrm>
          <a:prstGeom prst="roundRect">
            <a:avLst>
              <a:gd name="adj" fmla="val 13440"/>
            </a:avLst>
          </a:prstGeom>
          <a:solidFill>
            <a:srgbClr val="073A80"/>
          </a:solidFill>
          <a:ln w="12700">
            <a:solidFill>
              <a:srgbClr val="2E3A5C"/>
            </a:solidFill>
            <a:prstDash val="solid"/>
          </a:ln>
        </p:spPr>
      </p:sp>
      <p:sp>
        <p:nvSpPr>
          <p:cNvPr id="15" name="Text 13"/>
          <p:cNvSpPr txBox="1"/>
          <p:nvPr/>
        </p:nvSpPr>
        <p:spPr>
          <a:xfrm>
            <a:off x="6591300" y="4241800"/>
            <a:ext cx="4368800" cy="723900"/>
          </a:xfrm>
          <a:prstGeom prst="rect">
            <a:avLst/>
          </a:prstGeom>
          <a:noFill/>
          <a:ln/>
        </p:spPr>
        <p:txBody>
          <a:bodyPr wrap="square" lIns="0" tIns="0" rIns="0" bIns="0" rtlCol="0" anchor="ctr"/>
          <a:lstStyle/>
          <a:p>
            <a:pPr indent="0" marL="0">
              <a:lnSpc>
                <a:spcPct val="130000"/>
              </a:lnSpc>
              <a:buNone/>
            </a:pPr>
            <a:r>
              <a:rPr lang="en-US" sz="1100" dirty="0">
                <a:solidFill>
                  <a:srgbClr val="FF7AB2"/>
                </a:solidFill>
                <a:latin typeface="Courier New" pitchFamily="34" charset="0"/>
                <a:ea typeface="Courier New" pitchFamily="34" charset="-122"/>
                <a:cs typeface="Courier New" pitchFamily="34" charset="-120"/>
              </a:rPr>
              <a:t>class </a:t>
            </a:r>
            <a:pPr indent="0" marL="0">
              <a:lnSpc>
                <a:spcPct val="130000"/>
              </a:lnSpc>
              <a:buNone/>
            </a:pPr>
            <a:r>
              <a:rPr lang="en-US" sz="1100" dirty="0">
                <a:solidFill>
                  <a:srgbClr val="54C5F8"/>
                </a:solidFill>
                <a:latin typeface="Courier New" pitchFamily="34" charset="0"/>
                <a:ea typeface="Courier New" pitchFamily="34" charset="-122"/>
                <a:cs typeface="Courier New" pitchFamily="34" charset="-120"/>
              </a:rPr>
              <a:t>HomeScreen</a:t>
            </a:r>
            <a:pPr indent="0" marL="0">
              <a:lnSpc>
                <a:spcPct val="130000"/>
              </a:lnSpc>
              <a:buNone/>
            </a:pPr>
            <a:r>
              <a:rPr lang="en-US" sz="1100" dirty="0">
                <a:solidFill>
                  <a:srgbClr val="FF7AB2"/>
                </a:solidFill>
                <a:latin typeface="Courier New" pitchFamily="34" charset="0"/>
                <a:ea typeface="Courier New" pitchFamily="34" charset="-122"/>
                <a:cs typeface="Courier New" pitchFamily="34" charset="-120"/>
              </a:rPr>
              <a:t> extends</a:t>
            </a:r>
            <a:pPr indent="0" marL="0">
              <a:lnSpc>
                <a:spcPct val="130000"/>
              </a:lnSpc>
              <a:buNone/>
            </a:pPr>
            <a:endParaRPr lang="en-US" sz="1100" dirty="0"/>
          </a:p>
          <a:p>
            <a:pPr indent="0" marL="0">
              <a:lnSpc>
                <a:spcPct val="130000"/>
              </a:lnSpc>
              <a:buNone/>
            </a:pPr>
            <a:r>
              <a:rPr lang="en-US" sz="1100" dirty="0">
                <a:solidFill>
                  <a:srgbClr val="54C5F8"/>
                </a:solidFill>
                <a:latin typeface="Courier New" pitchFamily="34" charset="0"/>
                <a:ea typeface="Courier New" pitchFamily="34" charset="-122"/>
                <a:cs typeface="Courier New" pitchFamily="34" charset="-120"/>
              </a:rPr>
              <a:t>    StatefulWidget</a:t>
            </a:r>
            <a:pPr indent="0" marL="0">
              <a:lnSpc>
                <a:spcPct val="130000"/>
              </a:lnSpc>
              <a:buNone/>
            </a:pPr>
            <a:r>
              <a:rPr lang="en-US" sz="1100" dirty="0">
                <a:solidFill>
                  <a:srgbClr val="E3EEFB"/>
                </a:solidFill>
                <a:latin typeface="Courier New" pitchFamily="34" charset="0"/>
                <a:ea typeface="Courier New" pitchFamily="34" charset="-122"/>
                <a:cs typeface="Courier New" pitchFamily="34" charset="-120"/>
              </a:rPr>
              <a:t> { ... }</a:t>
            </a:r>
            <a:pPr indent="0" marL="0">
              <a:lnSpc>
                <a:spcPct val="130000"/>
              </a:lnSpc>
              <a:buNone/>
            </a:pPr>
            <a:endParaRPr lang="en-US" sz="1100" dirty="0"/>
          </a:p>
          <a:p>
            <a:pPr indent="0" marL="0">
              <a:lnSpc>
                <a:spcPct val="130000"/>
              </a:lnSpc>
              <a:buNone/>
            </a:pPr>
            <a:r>
              <a:rPr lang="en-US" sz="1100" i="1" dirty="0">
                <a:solidFill>
                  <a:srgbClr val="7F8C98"/>
                </a:solidFill>
                <a:latin typeface="Courier New" pitchFamily="34" charset="0"/>
                <a:ea typeface="Courier New" pitchFamily="34" charset="-122"/>
                <a:cs typeface="Courier New" pitchFamily="34" charset="-120"/>
              </a:rPr>
              <a:t>// + a State that holds the data</a:t>
            </a:r>
            <a:endParaRPr lang="en-US" sz="1100" dirty="0"/>
          </a:p>
        </p:txBody>
      </p:sp>
      <p:sp>
        <p:nvSpPr>
          <p:cNvPr id="16" name="Shape 14"/>
          <p:cNvSpPr/>
          <p:nvPr/>
        </p:nvSpPr>
        <p:spPr>
          <a:xfrm>
            <a:off x="812800" y="5524500"/>
            <a:ext cx="10566400" cy="609600"/>
          </a:xfrm>
          <a:prstGeom prst="roundRect">
            <a:avLst>
              <a:gd name="adj" fmla="val 22500"/>
            </a:avLst>
          </a:prstGeom>
          <a:solidFill>
            <a:srgbClr val="0468D7"/>
          </a:solidFill>
          <a:ln w="12700">
            <a:solidFill>
              <a:srgbClr val="0468D7"/>
            </a:solidFill>
            <a:prstDash val="solid"/>
          </a:ln>
          <a:effectLst>
            <a:outerShdw sx="100000" sy="100000" kx="0" ky="0" algn="bl" rotWithShape="0" blurRad="330200" dist="76200" dir="5400000">
              <a:srgbClr val="0468D7">
                <a:alpha val="40000"/>
              </a:srgbClr>
            </a:outerShdw>
          </a:effectLst>
        </p:spPr>
      </p:sp>
      <p:sp>
        <p:nvSpPr>
          <p:cNvPr id="17" name="Text 15"/>
          <p:cNvSpPr txBox="1"/>
          <p:nvPr/>
        </p:nvSpPr>
        <p:spPr>
          <a:xfrm>
            <a:off x="1066800" y="5524500"/>
            <a:ext cx="10058400" cy="609600"/>
          </a:xfrm>
          <a:prstGeom prst="rect">
            <a:avLst/>
          </a:prstGeom>
          <a:noFill/>
          <a:ln/>
        </p:spPr>
        <p:txBody>
          <a:bodyPr wrap="square" lIns="0" tIns="0" rIns="0" bIns="0" rtlCol="0" anchor="ctr"/>
          <a:lstStyle/>
          <a:p>
            <a:pPr indent="0" marL="0">
              <a:buNone/>
            </a:pPr>
            <a:r>
              <a:rPr lang="en-US" sz="1350" b="1" dirty="0">
                <a:solidFill>
                  <a:srgbClr val="F4F7FB"/>
                </a:solidFill>
                <a:latin typeface="Arial" pitchFamily="34" charset="0"/>
                <a:ea typeface="Arial" pitchFamily="34" charset="-122"/>
                <a:cs typeface="Arial" pitchFamily="34" charset="-120"/>
              </a:rPr>
              <a:t>Rule of thumb:  </a:t>
            </a:r>
            <a:pPr indent="0" marL="0">
              <a:buNone/>
            </a:pPr>
            <a:r>
              <a:rPr lang="en-US" sz="1350" dirty="0">
                <a:solidFill>
                  <a:srgbClr val="E3EEFB"/>
                </a:solidFill>
                <a:latin typeface="Arial" pitchFamily="34" charset="0"/>
                <a:ea typeface="Arial" pitchFamily="34" charset="-122"/>
                <a:cs typeface="Arial" pitchFamily="34" charset="-120"/>
              </a:rPr>
              <a:t>if something on the screen can change after a tap, its data lives in a State.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812800" y="762000"/>
            <a:ext cx="10566400" cy="254000"/>
          </a:xfrm>
          <a:prstGeom prst="rect">
            <a:avLst/>
          </a:prstGeom>
          <a:noFill/>
          <a:ln/>
        </p:spPr>
        <p:txBody>
          <a:bodyPr wrap="square" lIns="0" tIns="0" rIns="0" bIns="0" rtlCol="0" anchor="t"/>
          <a:lstStyle/>
          <a:p>
            <a:pPr indent="0" marL="0">
              <a:buNone/>
            </a:pPr>
            <a:r>
              <a:rPr lang="en-US" sz="1200" b="1" spc="400" kern="0" dirty="0">
                <a:solidFill>
                  <a:srgbClr val="0468D7"/>
                </a:solidFill>
                <a:latin typeface="Arial" pitchFamily="34" charset="0"/>
                <a:ea typeface="Arial" pitchFamily="34" charset="-122"/>
                <a:cs typeface="Arial" pitchFamily="34" charset="-120"/>
              </a:rPr>
              <a:t>HOW A TAP CHANGES THE SCREEN</a:t>
            </a:r>
            <a:endParaRPr lang="en-US" sz="1200" dirty="0"/>
          </a:p>
        </p:txBody>
      </p:sp>
      <p:sp>
        <p:nvSpPr>
          <p:cNvPr id="3" name="Text 1"/>
          <p:cNvSpPr txBox="1"/>
          <p:nvPr/>
        </p:nvSpPr>
        <p:spPr>
          <a:xfrm>
            <a:off x="812800" y="1054100"/>
            <a:ext cx="10566400" cy="698500"/>
          </a:xfrm>
          <a:prstGeom prst="rect">
            <a:avLst/>
          </a:prstGeom>
          <a:noFill/>
          <a:ln/>
        </p:spPr>
        <p:txBody>
          <a:bodyPr wrap="square" lIns="0" tIns="0" rIns="0" bIns="0" rtlCol="0" anchor="t"/>
          <a:lstStyle/>
          <a:p>
            <a:pPr indent="0" marL="0">
              <a:buNone/>
            </a:pPr>
            <a:r>
              <a:rPr lang="en-US" sz="3300" b="1" dirty="0">
                <a:solidFill>
                  <a:srgbClr val="0E1220"/>
                </a:solidFill>
                <a:latin typeface="Arial" pitchFamily="34" charset="0"/>
                <a:ea typeface="Arial" pitchFamily="34" charset="-122"/>
                <a:cs typeface="Arial" pitchFamily="34" charset="-120"/>
              </a:rPr>
              <a:t>setState: "I changed something, redraw"</a:t>
            </a:r>
            <a:endParaRPr lang="en-US" sz="3300" dirty="0"/>
          </a:p>
        </p:txBody>
      </p:sp>
      <p:sp>
        <p:nvSpPr>
          <p:cNvPr id="4" name="Shape 2"/>
          <p:cNvSpPr/>
          <p:nvPr/>
        </p:nvSpPr>
        <p:spPr>
          <a:xfrm>
            <a:off x="812800" y="1905000"/>
            <a:ext cx="2508250" cy="2730500"/>
          </a:xfrm>
          <a:prstGeom prst="roundRect">
            <a:avLst>
              <a:gd name="adj" fmla="val 6562"/>
            </a:avLst>
          </a:prstGeom>
          <a:solidFill>
            <a:srgbClr val="FFFFFF"/>
          </a:solidFill>
          <a:ln w="12700">
            <a:solidFill>
              <a:srgbClr val="E1E7F0"/>
            </a:solidFill>
            <a:prstDash val="solid"/>
          </a:ln>
        </p:spPr>
      </p:sp>
      <p:sp>
        <p:nvSpPr>
          <p:cNvPr id="5" name="Shape 3"/>
          <p:cNvSpPr/>
          <p:nvPr/>
        </p:nvSpPr>
        <p:spPr>
          <a:xfrm>
            <a:off x="1003300" y="2095500"/>
            <a:ext cx="355600" cy="355600"/>
          </a:xfrm>
          <a:prstGeom prst="roundRect">
            <a:avLst>
              <a:gd name="adj" fmla="val 51429"/>
            </a:avLst>
          </a:prstGeom>
          <a:solidFill>
            <a:srgbClr val="0468D7"/>
          </a:solidFill>
          <a:ln w="12700">
            <a:solidFill>
              <a:srgbClr val="0468D7"/>
            </a:solidFill>
            <a:prstDash val="solid"/>
          </a:ln>
        </p:spPr>
      </p:sp>
      <p:sp>
        <p:nvSpPr>
          <p:cNvPr id="6" name="Text 4"/>
          <p:cNvSpPr txBox="1"/>
          <p:nvPr/>
        </p:nvSpPr>
        <p:spPr>
          <a:xfrm>
            <a:off x="1003300" y="2095500"/>
            <a:ext cx="355600" cy="355600"/>
          </a:xfrm>
          <a:prstGeom prst="rect">
            <a:avLst/>
          </a:prstGeom>
          <a:noFill/>
          <a:ln/>
        </p:spPr>
        <p:txBody>
          <a:bodyPr wrap="square" lIns="0" tIns="0" rIns="0" bIns="0" rtlCol="0" anchor="ctr"/>
          <a:lstStyle/>
          <a:p>
            <a:pPr algn="ctr" indent="0" marL="0">
              <a:buNone/>
            </a:pPr>
            <a:r>
              <a:rPr lang="en-US" sz="1400" b="1" dirty="0">
                <a:solidFill>
                  <a:srgbClr val="F4F7FB"/>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003300" y="2540000"/>
            <a:ext cx="2159000" cy="317500"/>
          </a:xfrm>
          <a:prstGeom prst="rect">
            <a:avLst/>
          </a:prstGeom>
          <a:noFill/>
          <a:ln/>
        </p:spPr>
        <p:txBody>
          <a:bodyPr wrap="square" lIns="0" tIns="0" rIns="0" bIns="0" rtlCol="0" anchor="t"/>
          <a:lstStyle/>
          <a:p>
            <a:pPr indent="0" marL="0">
              <a:buNone/>
            </a:pPr>
            <a:r>
              <a:rPr lang="en-US" sz="1450" b="1" dirty="0">
                <a:solidFill>
                  <a:srgbClr val="0E1220"/>
                </a:solidFill>
                <a:latin typeface="Arial" pitchFamily="34" charset="0"/>
                <a:ea typeface="Arial" pitchFamily="34" charset="-122"/>
                <a:cs typeface="Arial" pitchFamily="34" charset="-120"/>
              </a:rPr>
              <a:t>The user taps</a:t>
            </a:r>
            <a:endParaRPr lang="en-US" sz="1450" dirty="0"/>
          </a:p>
        </p:txBody>
      </p:sp>
      <p:sp>
        <p:nvSpPr>
          <p:cNvPr id="8" name="Shape 6"/>
          <p:cNvSpPr/>
          <p:nvPr/>
        </p:nvSpPr>
        <p:spPr>
          <a:xfrm>
            <a:off x="1003300" y="2959100"/>
            <a:ext cx="2127250" cy="825500"/>
          </a:xfrm>
          <a:prstGeom prst="roundRect">
            <a:avLst>
              <a:gd name="adj" fmla="val 15508"/>
            </a:avLst>
          </a:prstGeom>
          <a:solidFill>
            <a:srgbClr val="070A14"/>
          </a:solidFill>
          <a:ln w="12700">
            <a:solidFill>
              <a:srgbClr val="2E3A5C"/>
            </a:solidFill>
            <a:prstDash val="solid"/>
          </a:ln>
        </p:spPr>
      </p:sp>
      <p:sp>
        <p:nvSpPr>
          <p:cNvPr id="9" name="Text 7"/>
          <p:cNvSpPr txBox="1"/>
          <p:nvPr/>
        </p:nvSpPr>
        <p:spPr>
          <a:xfrm>
            <a:off x="1168400" y="3073400"/>
            <a:ext cx="1797050" cy="596900"/>
          </a:xfrm>
          <a:prstGeom prst="rect">
            <a:avLst/>
          </a:prstGeom>
          <a:noFill/>
          <a:ln/>
        </p:spPr>
        <p:txBody>
          <a:bodyPr wrap="square" lIns="0" tIns="0" rIns="0" bIns="0" rtlCol="0" anchor="ctr"/>
          <a:lstStyle/>
          <a:p>
            <a:pPr indent="0" marL="0">
              <a:lnSpc>
                <a:spcPct val="130000"/>
              </a:lnSpc>
              <a:buNone/>
            </a:pPr>
            <a:r>
              <a:rPr lang="en-US" sz="1050" dirty="0">
                <a:solidFill>
                  <a:srgbClr val="54C5F8"/>
                </a:solidFill>
                <a:latin typeface="Courier New" pitchFamily="34" charset="0"/>
                <a:ea typeface="Courier New" pitchFamily="34" charset="-122"/>
                <a:cs typeface="Courier New" pitchFamily="34" charset="-120"/>
              </a:rPr>
              <a:t>FilledButton</a:t>
            </a:r>
            <a:pPr indent="0" marL="0">
              <a:lnSpc>
                <a:spcPct val="130000"/>
              </a:lnSpc>
              <a:buNone/>
            </a:pPr>
            <a:r>
              <a:rPr lang="en-US" sz="1050" dirty="0">
                <a:solidFill>
                  <a:srgbClr val="E3EEFB"/>
                </a:solidFill>
                <a:latin typeface="Courier New" pitchFamily="34" charset="0"/>
                <a:ea typeface="Courier New" pitchFamily="34" charset="-122"/>
                <a:cs typeface="Courier New" pitchFamily="34" charset="-120"/>
              </a:rPr>
              <a:t>(</a:t>
            </a:r>
            <a:pPr indent="0" marL="0">
              <a:lnSpc>
                <a:spcPct val="130000"/>
              </a:lnSpc>
              <a:buNone/>
            </a:pPr>
            <a:endParaRPr lang="en-US" sz="1050" dirty="0"/>
          </a:p>
          <a:p>
            <a:pPr indent="0" marL="0">
              <a:lnSpc>
                <a:spcPct val="130000"/>
              </a:lnSpc>
              <a:buNone/>
            </a:pPr>
            <a:r>
              <a:rPr lang="en-US" sz="1050" dirty="0">
                <a:solidFill>
                  <a:srgbClr val="E3EEFB"/>
                </a:solidFill>
                <a:latin typeface="Courier New" pitchFamily="34" charset="0"/>
                <a:ea typeface="Courier New" pitchFamily="34" charset="-122"/>
                <a:cs typeface="Courier New" pitchFamily="34" charset="-120"/>
              </a:rPr>
              <a:t>  onPressed: addItem,</a:t>
            </a:r>
            <a:pPr indent="0" marL="0">
              <a:lnSpc>
                <a:spcPct val="130000"/>
              </a:lnSpc>
              <a:buNone/>
            </a:pPr>
            <a:endParaRPr lang="en-US" sz="1050" dirty="0"/>
          </a:p>
          <a:p>
            <a:pPr indent="0" marL="0">
              <a:lnSpc>
                <a:spcPct val="130000"/>
              </a:lnSpc>
              <a:buNone/>
            </a:pPr>
            <a:r>
              <a:rPr lang="en-US" sz="1050" dirty="0">
                <a:solidFill>
                  <a:srgbClr val="E3EEFB"/>
                </a:solidFill>
                <a:latin typeface="Courier New" pitchFamily="34" charset="0"/>
                <a:ea typeface="Courier New" pitchFamily="34" charset="-122"/>
                <a:cs typeface="Courier New" pitchFamily="34" charset="-120"/>
              </a:rPr>
              <a:t>)</a:t>
            </a:r>
            <a:endParaRPr lang="en-US" sz="1050" dirty="0"/>
          </a:p>
        </p:txBody>
      </p:sp>
      <p:sp>
        <p:nvSpPr>
          <p:cNvPr id="10" name="Text 8"/>
          <p:cNvSpPr txBox="1"/>
          <p:nvPr/>
        </p:nvSpPr>
        <p:spPr>
          <a:xfrm>
            <a:off x="1003300" y="3886200"/>
            <a:ext cx="2127250" cy="635000"/>
          </a:xfrm>
          <a:prstGeom prst="rect">
            <a:avLst/>
          </a:prstGeom>
          <a:noFill/>
          <a:ln/>
        </p:spPr>
        <p:txBody>
          <a:bodyPr wrap="square" lIns="0" tIns="0" rIns="0" bIns="0" rtlCol="0" anchor="t"/>
          <a:lstStyle/>
          <a:p>
            <a:pPr indent="0" marL="0">
              <a:lnSpc>
                <a:spcPct val="115000"/>
              </a:lnSpc>
              <a:buNone/>
            </a:pPr>
            <a:r>
              <a:rPr lang="en-US" sz="1150" dirty="0">
                <a:solidFill>
                  <a:srgbClr val="4A5568"/>
                </a:solidFill>
                <a:latin typeface="Arial" pitchFamily="34" charset="0"/>
                <a:ea typeface="Arial" pitchFamily="34" charset="-122"/>
                <a:cs typeface="Arial" pitchFamily="34" charset="-120"/>
              </a:rPr>
              <a:t>Flutter sees the tap on your button.</a:t>
            </a:r>
            <a:endParaRPr lang="en-US" sz="1150" dirty="0"/>
          </a:p>
        </p:txBody>
      </p:sp>
      <p:sp>
        <p:nvSpPr>
          <p:cNvPr id="11" name="Shape 9"/>
          <p:cNvSpPr/>
          <p:nvPr/>
        </p:nvSpPr>
        <p:spPr>
          <a:xfrm>
            <a:off x="3333750" y="3270250"/>
            <a:ext cx="152400" cy="0"/>
          </a:xfrm>
          <a:prstGeom prst="line">
            <a:avLst/>
          </a:prstGeom>
          <a:noFill/>
          <a:ln w="31750">
            <a:solidFill>
              <a:srgbClr val="0468D7"/>
            </a:solidFill>
            <a:prstDash val="solid"/>
            <a:tailEnd type="triangle"/>
          </a:ln>
        </p:spPr>
      </p:sp>
      <p:sp>
        <p:nvSpPr>
          <p:cNvPr id="12" name="Shape 10"/>
          <p:cNvSpPr/>
          <p:nvPr/>
        </p:nvSpPr>
        <p:spPr>
          <a:xfrm>
            <a:off x="3498850" y="1905000"/>
            <a:ext cx="2508250" cy="2730500"/>
          </a:xfrm>
          <a:prstGeom prst="roundRect">
            <a:avLst>
              <a:gd name="adj" fmla="val 6562"/>
            </a:avLst>
          </a:prstGeom>
          <a:solidFill>
            <a:srgbClr val="FFFFFF"/>
          </a:solidFill>
          <a:ln w="12700">
            <a:solidFill>
              <a:srgbClr val="E1E7F0"/>
            </a:solidFill>
            <a:prstDash val="solid"/>
          </a:ln>
        </p:spPr>
      </p:sp>
      <p:sp>
        <p:nvSpPr>
          <p:cNvPr id="13" name="Shape 11"/>
          <p:cNvSpPr/>
          <p:nvPr/>
        </p:nvSpPr>
        <p:spPr>
          <a:xfrm>
            <a:off x="3689350" y="2095500"/>
            <a:ext cx="355600" cy="355600"/>
          </a:xfrm>
          <a:prstGeom prst="roundRect">
            <a:avLst>
              <a:gd name="adj" fmla="val 51429"/>
            </a:avLst>
          </a:prstGeom>
          <a:solidFill>
            <a:srgbClr val="0468D7"/>
          </a:solidFill>
          <a:ln w="12700">
            <a:solidFill>
              <a:srgbClr val="0468D7"/>
            </a:solidFill>
            <a:prstDash val="solid"/>
          </a:ln>
        </p:spPr>
      </p:sp>
      <p:sp>
        <p:nvSpPr>
          <p:cNvPr id="14" name="Text 12"/>
          <p:cNvSpPr txBox="1"/>
          <p:nvPr/>
        </p:nvSpPr>
        <p:spPr>
          <a:xfrm>
            <a:off x="3689350" y="2095500"/>
            <a:ext cx="355600" cy="355600"/>
          </a:xfrm>
          <a:prstGeom prst="rect">
            <a:avLst/>
          </a:prstGeom>
          <a:noFill/>
          <a:ln/>
        </p:spPr>
        <p:txBody>
          <a:bodyPr wrap="square" lIns="0" tIns="0" rIns="0" bIns="0" rtlCol="0" anchor="ctr"/>
          <a:lstStyle/>
          <a:p>
            <a:pPr algn="ctr" indent="0" marL="0">
              <a:buNone/>
            </a:pPr>
            <a:r>
              <a:rPr lang="en-US" sz="1400" b="1" dirty="0">
                <a:solidFill>
                  <a:srgbClr val="F4F7FB"/>
                </a:solidFill>
                <a:latin typeface="Arial" pitchFamily="34" charset="0"/>
                <a:ea typeface="Arial" pitchFamily="34" charset="-122"/>
                <a:cs typeface="Arial" pitchFamily="34" charset="-120"/>
              </a:rPr>
              <a:t>2</a:t>
            </a:r>
            <a:endParaRPr lang="en-US" sz="1400" dirty="0"/>
          </a:p>
        </p:txBody>
      </p:sp>
      <p:sp>
        <p:nvSpPr>
          <p:cNvPr id="15" name="Text 13"/>
          <p:cNvSpPr txBox="1"/>
          <p:nvPr/>
        </p:nvSpPr>
        <p:spPr>
          <a:xfrm>
            <a:off x="3689350" y="2540000"/>
            <a:ext cx="2159000" cy="317500"/>
          </a:xfrm>
          <a:prstGeom prst="rect">
            <a:avLst/>
          </a:prstGeom>
          <a:noFill/>
          <a:ln/>
        </p:spPr>
        <p:txBody>
          <a:bodyPr wrap="square" lIns="0" tIns="0" rIns="0" bIns="0" rtlCol="0" anchor="t"/>
          <a:lstStyle/>
          <a:p>
            <a:pPr indent="0" marL="0">
              <a:buNone/>
            </a:pPr>
            <a:r>
              <a:rPr lang="en-US" sz="1450" b="1" dirty="0">
                <a:solidFill>
                  <a:srgbClr val="0E1220"/>
                </a:solidFill>
                <a:latin typeface="Arial" pitchFamily="34" charset="0"/>
                <a:ea typeface="Arial" pitchFamily="34" charset="-122"/>
                <a:cs typeface="Arial" pitchFamily="34" charset="-120"/>
              </a:rPr>
              <a:t>Your function runs</a:t>
            </a:r>
            <a:endParaRPr lang="en-US" sz="1450" dirty="0"/>
          </a:p>
        </p:txBody>
      </p:sp>
      <p:sp>
        <p:nvSpPr>
          <p:cNvPr id="16" name="Shape 14"/>
          <p:cNvSpPr/>
          <p:nvPr/>
        </p:nvSpPr>
        <p:spPr>
          <a:xfrm>
            <a:off x="3689350" y="2959100"/>
            <a:ext cx="2127250" cy="825500"/>
          </a:xfrm>
          <a:prstGeom prst="roundRect">
            <a:avLst>
              <a:gd name="adj" fmla="val 15508"/>
            </a:avLst>
          </a:prstGeom>
          <a:solidFill>
            <a:srgbClr val="070A14"/>
          </a:solidFill>
          <a:ln w="12700">
            <a:solidFill>
              <a:srgbClr val="2E3A5C"/>
            </a:solidFill>
            <a:prstDash val="solid"/>
          </a:ln>
        </p:spPr>
      </p:sp>
      <p:sp>
        <p:nvSpPr>
          <p:cNvPr id="17" name="Text 15"/>
          <p:cNvSpPr txBox="1"/>
          <p:nvPr/>
        </p:nvSpPr>
        <p:spPr>
          <a:xfrm>
            <a:off x="3854450" y="3073400"/>
            <a:ext cx="1797050" cy="596900"/>
          </a:xfrm>
          <a:prstGeom prst="rect">
            <a:avLst/>
          </a:prstGeom>
          <a:noFill/>
          <a:ln/>
        </p:spPr>
        <p:txBody>
          <a:bodyPr wrap="square" lIns="0" tIns="0" rIns="0" bIns="0" rtlCol="0" anchor="ctr"/>
          <a:lstStyle/>
          <a:p>
            <a:pPr indent="0" marL="0">
              <a:lnSpc>
                <a:spcPct val="130000"/>
              </a:lnSpc>
              <a:buNone/>
            </a:pPr>
            <a:r>
              <a:rPr lang="en-US" sz="1050" dirty="0">
                <a:solidFill>
                  <a:srgbClr val="FFD479"/>
                </a:solidFill>
                <a:latin typeface="Courier New" pitchFamily="34" charset="0"/>
                <a:ea typeface="Courier New" pitchFamily="34" charset="-122"/>
                <a:cs typeface="Courier New" pitchFamily="34" charset="-120"/>
              </a:rPr>
              <a:t>addItem</a:t>
            </a:r>
            <a:pPr indent="0" marL="0">
              <a:lnSpc>
                <a:spcPct val="130000"/>
              </a:lnSpc>
              <a:buNone/>
            </a:pPr>
            <a:r>
              <a:rPr lang="en-US" sz="1050" dirty="0">
                <a:solidFill>
                  <a:srgbClr val="E3EEFB"/>
                </a:solidFill>
                <a:latin typeface="Courier New" pitchFamily="34" charset="0"/>
                <a:ea typeface="Courier New" pitchFamily="34" charset="-122"/>
                <a:cs typeface="Courier New" pitchFamily="34" charset="-120"/>
              </a:rPr>
              <a:t>()</a:t>
            </a:r>
            <a:endParaRPr lang="en-US" sz="1050" dirty="0"/>
          </a:p>
        </p:txBody>
      </p:sp>
      <p:sp>
        <p:nvSpPr>
          <p:cNvPr id="18" name="Text 16"/>
          <p:cNvSpPr txBox="1"/>
          <p:nvPr/>
        </p:nvSpPr>
        <p:spPr>
          <a:xfrm>
            <a:off x="3689350" y="3886200"/>
            <a:ext cx="2127250" cy="635000"/>
          </a:xfrm>
          <a:prstGeom prst="rect">
            <a:avLst/>
          </a:prstGeom>
          <a:noFill/>
          <a:ln/>
        </p:spPr>
        <p:txBody>
          <a:bodyPr wrap="square" lIns="0" tIns="0" rIns="0" bIns="0" rtlCol="0" anchor="t"/>
          <a:lstStyle/>
          <a:p>
            <a:pPr indent="0" marL="0">
              <a:lnSpc>
                <a:spcPct val="115000"/>
              </a:lnSpc>
              <a:buNone/>
            </a:pPr>
            <a:r>
              <a:rPr lang="en-US" sz="1150" dirty="0">
                <a:solidFill>
                  <a:srgbClr val="4A5568"/>
                </a:solidFill>
                <a:latin typeface="Arial" pitchFamily="34" charset="0"/>
                <a:ea typeface="Arial" pitchFamily="34" charset="-122"/>
                <a:cs typeface="Arial" pitchFamily="34" charset="-120"/>
              </a:rPr>
              <a:t>The function you gave to onPressed is called.</a:t>
            </a:r>
            <a:endParaRPr lang="en-US" sz="1150" dirty="0"/>
          </a:p>
        </p:txBody>
      </p:sp>
      <p:sp>
        <p:nvSpPr>
          <p:cNvPr id="19" name="Shape 17"/>
          <p:cNvSpPr/>
          <p:nvPr/>
        </p:nvSpPr>
        <p:spPr>
          <a:xfrm>
            <a:off x="6019800" y="3270250"/>
            <a:ext cx="152400" cy="0"/>
          </a:xfrm>
          <a:prstGeom prst="line">
            <a:avLst/>
          </a:prstGeom>
          <a:noFill/>
          <a:ln w="31750">
            <a:solidFill>
              <a:srgbClr val="0468D7"/>
            </a:solidFill>
            <a:prstDash val="solid"/>
            <a:tailEnd type="triangle"/>
          </a:ln>
        </p:spPr>
      </p:sp>
      <p:sp>
        <p:nvSpPr>
          <p:cNvPr id="20" name="Shape 18"/>
          <p:cNvSpPr/>
          <p:nvPr/>
        </p:nvSpPr>
        <p:spPr>
          <a:xfrm>
            <a:off x="6184900" y="1905000"/>
            <a:ext cx="2508250" cy="2730500"/>
          </a:xfrm>
          <a:prstGeom prst="roundRect">
            <a:avLst>
              <a:gd name="adj" fmla="val 6562"/>
            </a:avLst>
          </a:prstGeom>
          <a:solidFill>
            <a:srgbClr val="0E1220"/>
          </a:solidFill>
          <a:ln w="12700">
            <a:solidFill>
              <a:srgbClr val="0E1220"/>
            </a:solidFill>
            <a:prstDash val="solid"/>
          </a:ln>
          <a:effectLst>
            <a:outerShdw sx="100000" sy="100000" kx="0" ky="0" algn="bl" rotWithShape="0" blurRad="330200" dist="76200" dir="5400000">
              <a:srgbClr val="0468D7">
                <a:alpha val="40000"/>
              </a:srgbClr>
            </a:outerShdw>
          </a:effectLst>
        </p:spPr>
      </p:sp>
      <p:sp>
        <p:nvSpPr>
          <p:cNvPr id="21" name="Shape 19"/>
          <p:cNvSpPr/>
          <p:nvPr/>
        </p:nvSpPr>
        <p:spPr>
          <a:xfrm>
            <a:off x="6375400" y="2095500"/>
            <a:ext cx="355600" cy="355600"/>
          </a:xfrm>
          <a:prstGeom prst="roundRect">
            <a:avLst>
              <a:gd name="adj" fmla="val 51429"/>
            </a:avLst>
          </a:prstGeom>
          <a:solidFill>
            <a:srgbClr val="54C5F8"/>
          </a:solidFill>
          <a:ln w="12700">
            <a:solidFill>
              <a:srgbClr val="54C5F8"/>
            </a:solidFill>
            <a:prstDash val="solid"/>
          </a:ln>
        </p:spPr>
      </p:sp>
      <p:sp>
        <p:nvSpPr>
          <p:cNvPr id="22" name="Text 20"/>
          <p:cNvSpPr txBox="1"/>
          <p:nvPr/>
        </p:nvSpPr>
        <p:spPr>
          <a:xfrm>
            <a:off x="6375400" y="2095500"/>
            <a:ext cx="355600" cy="355600"/>
          </a:xfrm>
          <a:prstGeom prst="rect">
            <a:avLst/>
          </a:prstGeom>
          <a:noFill/>
          <a:ln/>
        </p:spPr>
        <p:txBody>
          <a:bodyPr wrap="square" lIns="0" tIns="0" rIns="0" bIns="0" rtlCol="0" anchor="ctr"/>
          <a:lstStyle/>
          <a:p>
            <a:pPr algn="ctr" indent="0" marL="0">
              <a:buNone/>
            </a:pPr>
            <a:r>
              <a:rPr lang="en-US" sz="1400" b="1" dirty="0">
                <a:solidFill>
                  <a:srgbClr val="0E1220"/>
                </a:solidFill>
                <a:latin typeface="Arial" pitchFamily="34" charset="0"/>
                <a:ea typeface="Arial" pitchFamily="34" charset="-122"/>
                <a:cs typeface="Arial" pitchFamily="34" charset="-120"/>
              </a:rPr>
              <a:t>3</a:t>
            </a:r>
            <a:endParaRPr lang="en-US" sz="1400" dirty="0"/>
          </a:p>
        </p:txBody>
      </p:sp>
      <p:sp>
        <p:nvSpPr>
          <p:cNvPr id="23" name="Text 21"/>
          <p:cNvSpPr txBox="1"/>
          <p:nvPr/>
        </p:nvSpPr>
        <p:spPr>
          <a:xfrm>
            <a:off x="6375400" y="2540000"/>
            <a:ext cx="2159000" cy="317500"/>
          </a:xfrm>
          <a:prstGeom prst="rect">
            <a:avLst/>
          </a:prstGeom>
          <a:noFill/>
          <a:ln/>
        </p:spPr>
        <p:txBody>
          <a:bodyPr wrap="square" lIns="0" tIns="0" rIns="0" bIns="0" rtlCol="0" anchor="t"/>
          <a:lstStyle/>
          <a:p>
            <a:pPr indent="0" marL="0">
              <a:buNone/>
            </a:pPr>
            <a:r>
              <a:rPr lang="en-US" sz="1450" b="1" dirty="0">
                <a:solidFill>
                  <a:srgbClr val="F4F7FB"/>
                </a:solidFill>
                <a:latin typeface="Arial" pitchFamily="34" charset="0"/>
                <a:ea typeface="Arial" pitchFamily="34" charset="-122"/>
                <a:cs typeface="Arial" pitchFamily="34" charset="-120"/>
              </a:rPr>
              <a:t>You change the data</a:t>
            </a:r>
            <a:endParaRPr lang="en-US" sz="1450" dirty="0"/>
          </a:p>
        </p:txBody>
      </p:sp>
      <p:sp>
        <p:nvSpPr>
          <p:cNvPr id="24" name="Shape 22"/>
          <p:cNvSpPr/>
          <p:nvPr/>
        </p:nvSpPr>
        <p:spPr>
          <a:xfrm>
            <a:off x="6375400" y="2959100"/>
            <a:ext cx="2127250" cy="825500"/>
          </a:xfrm>
          <a:prstGeom prst="roundRect">
            <a:avLst>
              <a:gd name="adj" fmla="val 15508"/>
            </a:avLst>
          </a:prstGeom>
          <a:solidFill>
            <a:srgbClr val="0B2348"/>
          </a:solidFill>
          <a:ln w="12700">
            <a:solidFill>
              <a:srgbClr val="2E3A5C"/>
            </a:solidFill>
            <a:prstDash val="solid"/>
          </a:ln>
        </p:spPr>
      </p:sp>
      <p:sp>
        <p:nvSpPr>
          <p:cNvPr id="25" name="Text 23"/>
          <p:cNvSpPr txBox="1"/>
          <p:nvPr/>
        </p:nvSpPr>
        <p:spPr>
          <a:xfrm>
            <a:off x="6540500" y="3073400"/>
            <a:ext cx="1797050" cy="596900"/>
          </a:xfrm>
          <a:prstGeom prst="rect">
            <a:avLst/>
          </a:prstGeom>
          <a:noFill/>
          <a:ln/>
        </p:spPr>
        <p:txBody>
          <a:bodyPr wrap="square" lIns="0" tIns="0" rIns="0" bIns="0" rtlCol="0" anchor="ctr"/>
          <a:lstStyle/>
          <a:p>
            <a:pPr indent="0" marL="0">
              <a:lnSpc>
                <a:spcPct val="130000"/>
              </a:lnSpc>
              <a:buNone/>
            </a:pPr>
            <a:r>
              <a:rPr lang="en-US" sz="1050" dirty="0">
                <a:solidFill>
                  <a:srgbClr val="FFD479"/>
                </a:solidFill>
                <a:latin typeface="Courier New" pitchFamily="34" charset="0"/>
                <a:ea typeface="Courier New" pitchFamily="34" charset="-122"/>
                <a:cs typeface="Courier New" pitchFamily="34" charset="-120"/>
              </a:rPr>
              <a:t>setState</a:t>
            </a:r>
            <a:pPr indent="0" marL="0">
              <a:lnSpc>
                <a:spcPct val="130000"/>
              </a:lnSpc>
              <a:buNone/>
            </a:pPr>
            <a:r>
              <a:rPr lang="en-US" sz="1050" dirty="0">
                <a:solidFill>
                  <a:srgbClr val="E3EEFB"/>
                </a:solidFill>
                <a:latin typeface="Courier New" pitchFamily="34" charset="0"/>
                <a:ea typeface="Courier New" pitchFamily="34" charset="-122"/>
                <a:cs typeface="Courier New" pitchFamily="34" charset="-120"/>
              </a:rPr>
              <a:t>(() {</a:t>
            </a:r>
            <a:pPr indent="0" marL="0">
              <a:lnSpc>
                <a:spcPct val="130000"/>
              </a:lnSpc>
              <a:buNone/>
            </a:pPr>
            <a:endParaRPr lang="en-US" sz="1050" dirty="0"/>
          </a:p>
          <a:p>
            <a:pPr indent="0" marL="0">
              <a:lnSpc>
                <a:spcPct val="130000"/>
              </a:lnSpc>
              <a:buNone/>
            </a:pPr>
            <a:r>
              <a:rPr lang="en-US" sz="1050" dirty="0">
                <a:solidFill>
                  <a:srgbClr val="E3EEFB"/>
                </a:solidFill>
                <a:latin typeface="Courier New" pitchFamily="34" charset="0"/>
                <a:ea typeface="Courier New" pitchFamily="34" charset="-122"/>
                <a:cs typeface="Courier New" pitchFamily="34" charset="-120"/>
              </a:rPr>
              <a:t>  items.</a:t>
            </a:r>
            <a:pPr indent="0" marL="0">
              <a:lnSpc>
                <a:spcPct val="130000"/>
              </a:lnSpc>
              <a:buNone/>
            </a:pPr>
            <a:r>
              <a:rPr lang="en-US" sz="1050" dirty="0">
                <a:solidFill>
                  <a:srgbClr val="FFD479"/>
                </a:solidFill>
                <a:latin typeface="Courier New" pitchFamily="34" charset="0"/>
                <a:ea typeface="Courier New" pitchFamily="34" charset="-122"/>
                <a:cs typeface="Courier New" pitchFamily="34" charset="-120"/>
              </a:rPr>
              <a:t>add</a:t>
            </a:r>
            <a:pPr indent="0" marL="0">
              <a:lnSpc>
                <a:spcPct val="130000"/>
              </a:lnSpc>
              <a:buNone/>
            </a:pPr>
            <a:r>
              <a:rPr lang="en-US" sz="1050" dirty="0">
                <a:solidFill>
                  <a:srgbClr val="E3EEFB"/>
                </a:solidFill>
                <a:latin typeface="Courier New" pitchFamily="34" charset="0"/>
                <a:ea typeface="Courier New" pitchFamily="34" charset="-122"/>
                <a:cs typeface="Courier New" pitchFamily="34" charset="-120"/>
              </a:rPr>
              <a:t>(text);</a:t>
            </a:r>
            <a:pPr indent="0" marL="0">
              <a:lnSpc>
                <a:spcPct val="130000"/>
              </a:lnSpc>
              <a:buNone/>
            </a:pPr>
            <a:endParaRPr lang="en-US" sz="1050" dirty="0"/>
          </a:p>
          <a:p>
            <a:pPr indent="0" marL="0">
              <a:lnSpc>
                <a:spcPct val="130000"/>
              </a:lnSpc>
              <a:buNone/>
            </a:pPr>
            <a:r>
              <a:rPr lang="en-US" sz="1050" dirty="0">
                <a:solidFill>
                  <a:srgbClr val="E3EEFB"/>
                </a:solidFill>
                <a:latin typeface="Courier New" pitchFamily="34" charset="0"/>
                <a:ea typeface="Courier New" pitchFamily="34" charset="-122"/>
                <a:cs typeface="Courier New" pitchFamily="34" charset="-120"/>
              </a:rPr>
              <a:t>});</a:t>
            </a:r>
            <a:endParaRPr lang="en-US" sz="1050" dirty="0"/>
          </a:p>
        </p:txBody>
      </p:sp>
      <p:sp>
        <p:nvSpPr>
          <p:cNvPr id="26" name="Text 24"/>
          <p:cNvSpPr txBox="1"/>
          <p:nvPr/>
        </p:nvSpPr>
        <p:spPr>
          <a:xfrm>
            <a:off x="6375400" y="3886200"/>
            <a:ext cx="2127250" cy="635000"/>
          </a:xfrm>
          <a:prstGeom prst="rect">
            <a:avLst/>
          </a:prstGeom>
          <a:noFill/>
          <a:ln/>
        </p:spPr>
        <p:txBody>
          <a:bodyPr wrap="square" lIns="0" tIns="0" rIns="0" bIns="0" rtlCol="0" anchor="t"/>
          <a:lstStyle/>
          <a:p>
            <a:pPr indent="0" marL="0">
              <a:lnSpc>
                <a:spcPct val="115000"/>
              </a:lnSpc>
              <a:buNone/>
            </a:pPr>
            <a:r>
              <a:rPr lang="en-US" sz="1150" dirty="0">
                <a:solidFill>
                  <a:srgbClr val="B8C4D9"/>
                </a:solidFill>
                <a:latin typeface="Arial" pitchFamily="34" charset="0"/>
                <a:ea typeface="Arial" pitchFamily="34" charset="-122"/>
                <a:cs typeface="Arial" pitchFamily="34" charset="-120"/>
              </a:rPr>
              <a:t>Inside setState, so Flutter knows something changed.</a:t>
            </a:r>
            <a:endParaRPr lang="en-US" sz="1150" dirty="0"/>
          </a:p>
        </p:txBody>
      </p:sp>
      <p:sp>
        <p:nvSpPr>
          <p:cNvPr id="27" name="Shape 25"/>
          <p:cNvSpPr/>
          <p:nvPr/>
        </p:nvSpPr>
        <p:spPr>
          <a:xfrm>
            <a:off x="8705850" y="3270250"/>
            <a:ext cx="152400" cy="0"/>
          </a:xfrm>
          <a:prstGeom prst="line">
            <a:avLst/>
          </a:prstGeom>
          <a:noFill/>
          <a:ln w="31750">
            <a:solidFill>
              <a:srgbClr val="0468D7"/>
            </a:solidFill>
            <a:prstDash val="solid"/>
            <a:tailEnd type="triangle"/>
          </a:ln>
        </p:spPr>
      </p:sp>
      <p:sp>
        <p:nvSpPr>
          <p:cNvPr id="28" name="Shape 26"/>
          <p:cNvSpPr/>
          <p:nvPr/>
        </p:nvSpPr>
        <p:spPr>
          <a:xfrm>
            <a:off x="8870950" y="1905000"/>
            <a:ext cx="2508250" cy="2730500"/>
          </a:xfrm>
          <a:prstGeom prst="roundRect">
            <a:avLst>
              <a:gd name="adj" fmla="val 6562"/>
            </a:avLst>
          </a:prstGeom>
          <a:solidFill>
            <a:srgbClr val="FFFFFF"/>
          </a:solidFill>
          <a:ln w="12700">
            <a:solidFill>
              <a:srgbClr val="E1E7F0"/>
            </a:solidFill>
            <a:prstDash val="solid"/>
          </a:ln>
        </p:spPr>
      </p:sp>
      <p:sp>
        <p:nvSpPr>
          <p:cNvPr id="29" name="Shape 27"/>
          <p:cNvSpPr/>
          <p:nvPr/>
        </p:nvSpPr>
        <p:spPr>
          <a:xfrm>
            <a:off x="9061450" y="2095500"/>
            <a:ext cx="355600" cy="355600"/>
          </a:xfrm>
          <a:prstGeom prst="roundRect">
            <a:avLst>
              <a:gd name="adj" fmla="val 51429"/>
            </a:avLst>
          </a:prstGeom>
          <a:solidFill>
            <a:srgbClr val="0468D7"/>
          </a:solidFill>
          <a:ln w="12700">
            <a:solidFill>
              <a:srgbClr val="0468D7"/>
            </a:solidFill>
            <a:prstDash val="solid"/>
          </a:ln>
        </p:spPr>
      </p:sp>
      <p:sp>
        <p:nvSpPr>
          <p:cNvPr id="30" name="Text 28"/>
          <p:cNvSpPr txBox="1"/>
          <p:nvPr/>
        </p:nvSpPr>
        <p:spPr>
          <a:xfrm>
            <a:off x="9061450" y="2095500"/>
            <a:ext cx="355600" cy="355600"/>
          </a:xfrm>
          <a:prstGeom prst="rect">
            <a:avLst/>
          </a:prstGeom>
          <a:noFill/>
          <a:ln/>
        </p:spPr>
        <p:txBody>
          <a:bodyPr wrap="square" lIns="0" tIns="0" rIns="0" bIns="0" rtlCol="0" anchor="ctr"/>
          <a:lstStyle/>
          <a:p>
            <a:pPr algn="ctr" indent="0" marL="0">
              <a:buNone/>
            </a:pPr>
            <a:r>
              <a:rPr lang="en-US" sz="1400" b="1" dirty="0">
                <a:solidFill>
                  <a:srgbClr val="F4F7FB"/>
                </a:solidFill>
                <a:latin typeface="Arial" pitchFamily="34" charset="0"/>
                <a:ea typeface="Arial" pitchFamily="34" charset="-122"/>
                <a:cs typeface="Arial" pitchFamily="34" charset="-120"/>
              </a:rPr>
              <a:t>4</a:t>
            </a:r>
            <a:endParaRPr lang="en-US" sz="1400" dirty="0"/>
          </a:p>
        </p:txBody>
      </p:sp>
      <p:sp>
        <p:nvSpPr>
          <p:cNvPr id="31" name="Text 29"/>
          <p:cNvSpPr txBox="1"/>
          <p:nvPr/>
        </p:nvSpPr>
        <p:spPr>
          <a:xfrm>
            <a:off x="9061450" y="2540000"/>
            <a:ext cx="2159000" cy="317500"/>
          </a:xfrm>
          <a:prstGeom prst="rect">
            <a:avLst/>
          </a:prstGeom>
          <a:noFill/>
          <a:ln/>
        </p:spPr>
        <p:txBody>
          <a:bodyPr wrap="square" lIns="0" tIns="0" rIns="0" bIns="0" rtlCol="0" anchor="t"/>
          <a:lstStyle/>
          <a:p>
            <a:pPr indent="0" marL="0">
              <a:buNone/>
            </a:pPr>
            <a:r>
              <a:rPr lang="en-US" sz="1450" b="1" dirty="0">
                <a:solidFill>
                  <a:srgbClr val="0E1220"/>
                </a:solidFill>
                <a:latin typeface="Arial" pitchFamily="34" charset="0"/>
                <a:ea typeface="Arial" pitchFamily="34" charset="-122"/>
                <a:cs typeface="Arial" pitchFamily="34" charset="-120"/>
              </a:rPr>
              <a:t>Flutter redraws</a:t>
            </a:r>
            <a:endParaRPr lang="en-US" sz="1450" dirty="0"/>
          </a:p>
        </p:txBody>
      </p:sp>
      <p:sp>
        <p:nvSpPr>
          <p:cNvPr id="32" name="Shape 30"/>
          <p:cNvSpPr/>
          <p:nvPr/>
        </p:nvSpPr>
        <p:spPr>
          <a:xfrm>
            <a:off x="9061450" y="2959100"/>
            <a:ext cx="2127250" cy="825500"/>
          </a:xfrm>
          <a:prstGeom prst="roundRect">
            <a:avLst>
              <a:gd name="adj" fmla="val 15508"/>
            </a:avLst>
          </a:prstGeom>
          <a:solidFill>
            <a:srgbClr val="070A14"/>
          </a:solidFill>
          <a:ln w="12700">
            <a:solidFill>
              <a:srgbClr val="2E3A5C"/>
            </a:solidFill>
            <a:prstDash val="solid"/>
          </a:ln>
        </p:spPr>
      </p:sp>
      <p:sp>
        <p:nvSpPr>
          <p:cNvPr id="33" name="Text 31"/>
          <p:cNvSpPr txBox="1"/>
          <p:nvPr/>
        </p:nvSpPr>
        <p:spPr>
          <a:xfrm>
            <a:off x="9226550" y="3073400"/>
            <a:ext cx="1797050" cy="596900"/>
          </a:xfrm>
          <a:prstGeom prst="rect">
            <a:avLst/>
          </a:prstGeom>
          <a:noFill/>
          <a:ln/>
        </p:spPr>
        <p:txBody>
          <a:bodyPr wrap="square" lIns="0" tIns="0" rIns="0" bIns="0" rtlCol="0" anchor="ctr"/>
          <a:lstStyle/>
          <a:p>
            <a:pPr indent="0" marL="0">
              <a:lnSpc>
                <a:spcPct val="130000"/>
              </a:lnSpc>
              <a:buNone/>
            </a:pPr>
            <a:r>
              <a:rPr lang="en-US" sz="1050" dirty="0">
                <a:solidFill>
                  <a:srgbClr val="54C5F8"/>
                </a:solidFill>
                <a:latin typeface="Courier New" pitchFamily="34" charset="0"/>
                <a:ea typeface="Courier New" pitchFamily="34" charset="-122"/>
                <a:cs typeface="Courier New" pitchFamily="34" charset="-120"/>
              </a:rPr>
              <a:t>Widget </a:t>
            </a:r>
            <a:pPr indent="0" marL="0">
              <a:lnSpc>
                <a:spcPct val="130000"/>
              </a:lnSpc>
              <a:buNone/>
            </a:pPr>
            <a:r>
              <a:rPr lang="en-US" sz="1050" dirty="0">
                <a:solidFill>
                  <a:srgbClr val="FFD479"/>
                </a:solidFill>
                <a:latin typeface="Courier New" pitchFamily="34" charset="0"/>
                <a:ea typeface="Courier New" pitchFamily="34" charset="-122"/>
                <a:cs typeface="Courier New" pitchFamily="34" charset="-120"/>
              </a:rPr>
              <a:t>build</a:t>
            </a:r>
            <a:pPr indent="0" marL="0">
              <a:lnSpc>
                <a:spcPct val="130000"/>
              </a:lnSpc>
              <a:buNone/>
            </a:pPr>
            <a:r>
              <a:rPr lang="en-US" sz="1050" dirty="0">
                <a:solidFill>
                  <a:srgbClr val="E3EEFB"/>
                </a:solidFill>
                <a:latin typeface="Courier New" pitchFamily="34" charset="0"/>
                <a:ea typeface="Courier New" pitchFamily="34" charset="-122"/>
                <a:cs typeface="Courier New" pitchFamily="34" charset="-120"/>
              </a:rPr>
              <a:t>(...)</a:t>
            </a:r>
            <a:endParaRPr lang="en-US" sz="1050" dirty="0"/>
          </a:p>
        </p:txBody>
      </p:sp>
      <p:sp>
        <p:nvSpPr>
          <p:cNvPr id="34" name="Text 32"/>
          <p:cNvSpPr txBox="1"/>
          <p:nvPr/>
        </p:nvSpPr>
        <p:spPr>
          <a:xfrm>
            <a:off x="9061450" y="3886200"/>
            <a:ext cx="2127250" cy="635000"/>
          </a:xfrm>
          <a:prstGeom prst="rect">
            <a:avLst/>
          </a:prstGeom>
          <a:noFill/>
          <a:ln/>
        </p:spPr>
        <p:txBody>
          <a:bodyPr wrap="square" lIns="0" tIns="0" rIns="0" bIns="0" rtlCol="0" anchor="t"/>
          <a:lstStyle/>
          <a:p>
            <a:pPr indent="0" marL="0">
              <a:lnSpc>
                <a:spcPct val="115000"/>
              </a:lnSpc>
              <a:buNone/>
            </a:pPr>
            <a:r>
              <a:rPr lang="en-US" sz="1150" dirty="0">
                <a:solidFill>
                  <a:srgbClr val="4A5568"/>
                </a:solidFill>
                <a:latin typeface="Arial" pitchFamily="34" charset="0"/>
                <a:ea typeface="Arial" pitchFamily="34" charset="-122"/>
                <a:cs typeface="Arial" pitchFamily="34" charset="-120"/>
              </a:rPr>
              <a:t>build runs again with the new data: the new row appears.</a:t>
            </a:r>
            <a:endParaRPr lang="en-US" sz="1150" dirty="0"/>
          </a:p>
        </p:txBody>
      </p:sp>
      <p:sp>
        <p:nvSpPr>
          <p:cNvPr id="35" name="Shape 33"/>
          <p:cNvSpPr/>
          <p:nvPr/>
        </p:nvSpPr>
        <p:spPr>
          <a:xfrm>
            <a:off x="10121900" y="4648200"/>
            <a:ext cx="0" cy="254000"/>
          </a:xfrm>
          <a:prstGeom prst="line">
            <a:avLst/>
          </a:prstGeom>
          <a:noFill/>
          <a:ln w="31750">
            <a:solidFill>
              <a:srgbClr val="0468D7"/>
            </a:solidFill>
            <a:prstDash val="solid"/>
          </a:ln>
        </p:spPr>
      </p:sp>
      <p:sp>
        <p:nvSpPr>
          <p:cNvPr id="36" name="Shape 34"/>
          <p:cNvSpPr/>
          <p:nvPr/>
        </p:nvSpPr>
        <p:spPr>
          <a:xfrm>
            <a:off x="2063750" y="4902200"/>
            <a:ext cx="8058150" cy="0"/>
          </a:xfrm>
          <a:prstGeom prst="line">
            <a:avLst/>
          </a:prstGeom>
          <a:noFill/>
          <a:ln w="31750">
            <a:solidFill>
              <a:srgbClr val="0468D7"/>
            </a:solidFill>
            <a:prstDash val="solid"/>
          </a:ln>
        </p:spPr>
      </p:sp>
      <p:sp>
        <p:nvSpPr>
          <p:cNvPr id="37" name="Shape 35"/>
          <p:cNvSpPr/>
          <p:nvPr/>
        </p:nvSpPr>
        <p:spPr>
          <a:xfrm flipV="1">
            <a:off x="2063750" y="4660900"/>
            <a:ext cx="0" cy="241300"/>
          </a:xfrm>
          <a:prstGeom prst="line">
            <a:avLst/>
          </a:prstGeom>
          <a:noFill/>
          <a:ln w="31750">
            <a:solidFill>
              <a:srgbClr val="0468D7"/>
            </a:solidFill>
            <a:prstDash val="solid"/>
            <a:tailEnd type="triangle"/>
          </a:ln>
        </p:spPr>
      </p:sp>
      <p:sp>
        <p:nvSpPr>
          <p:cNvPr id="38" name="Text 36"/>
          <p:cNvSpPr txBox="1"/>
          <p:nvPr/>
        </p:nvSpPr>
        <p:spPr>
          <a:xfrm>
            <a:off x="3968750" y="4940300"/>
            <a:ext cx="4445000" cy="254000"/>
          </a:xfrm>
          <a:prstGeom prst="rect">
            <a:avLst/>
          </a:prstGeom>
          <a:noFill/>
          <a:ln/>
        </p:spPr>
        <p:txBody>
          <a:bodyPr wrap="square" lIns="0" tIns="0" rIns="0" bIns="0" rtlCol="0" anchor="t"/>
          <a:lstStyle/>
          <a:p>
            <a:pPr algn="ctr" indent="0" marL="0">
              <a:buNone/>
            </a:pPr>
            <a:r>
              <a:rPr lang="en-US" sz="1150" i="1" dirty="0">
                <a:solidFill>
                  <a:srgbClr val="0468D7"/>
                </a:solidFill>
                <a:latin typeface="Arial" pitchFamily="34" charset="0"/>
                <a:ea typeface="Arial" pitchFamily="34" charset="-122"/>
                <a:cs typeface="Arial" pitchFamily="34" charset="-120"/>
              </a:rPr>
              <a:t>…then it waits for the next tap</a:t>
            </a:r>
            <a:endParaRPr lang="en-US" sz="1150" dirty="0"/>
          </a:p>
        </p:txBody>
      </p:sp>
      <p:sp>
        <p:nvSpPr>
          <p:cNvPr id="39" name="Shape 37"/>
          <p:cNvSpPr/>
          <p:nvPr/>
        </p:nvSpPr>
        <p:spPr>
          <a:xfrm>
            <a:off x="812800" y="5397500"/>
            <a:ext cx="10566400" cy="635000"/>
          </a:xfrm>
          <a:prstGeom prst="roundRect">
            <a:avLst>
              <a:gd name="adj" fmla="val 21600"/>
            </a:avLst>
          </a:prstGeom>
          <a:solidFill>
            <a:srgbClr val="0468D7"/>
          </a:solidFill>
          <a:ln w="12700">
            <a:solidFill>
              <a:srgbClr val="0468D7"/>
            </a:solidFill>
            <a:prstDash val="solid"/>
          </a:ln>
          <a:effectLst>
            <a:outerShdw sx="100000" sy="100000" kx="0" ky="0" algn="bl" rotWithShape="0" blurRad="330200" dist="76200" dir="5400000">
              <a:srgbClr val="0468D7">
                <a:alpha val="40000"/>
              </a:srgbClr>
            </a:outerShdw>
          </a:effectLst>
        </p:spPr>
      </p:sp>
      <p:sp>
        <p:nvSpPr>
          <p:cNvPr id="40" name="Text 38"/>
          <p:cNvSpPr txBox="1"/>
          <p:nvPr/>
        </p:nvSpPr>
        <p:spPr>
          <a:xfrm>
            <a:off x="1066800" y="5397500"/>
            <a:ext cx="10058400" cy="635000"/>
          </a:xfrm>
          <a:prstGeom prst="rect">
            <a:avLst/>
          </a:prstGeom>
          <a:noFill/>
          <a:ln/>
        </p:spPr>
        <p:txBody>
          <a:bodyPr wrap="square" lIns="0" tIns="0" rIns="0" bIns="0" rtlCol="0" anchor="ctr"/>
          <a:lstStyle/>
          <a:p>
            <a:pPr indent="0" marL="0">
              <a:buNone/>
            </a:pPr>
            <a:r>
              <a:rPr lang="en-US" sz="1350" b="1" dirty="0">
                <a:solidFill>
                  <a:srgbClr val="F4F7FB"/>
                </a:solidFill>
                <a:latin typeface="Arial" pitchFamily="34" charset="0"/>
                <a:ea typeface="Arial" pitchFamily="34" charset="-122"/>
                <a:cs typeface="Arial" pitchFamily="34" charset="-120"/>
              </a:rPr>
              <a:t>Forget setState  </a:t>
            </a:r>
            <a:pPr indent="0" marL="0">
              <a:buNone/>
            </a:pPr>
            <a:r>
              <a:rPr lang="en-US" sz="1350" dirty="0">
                <a:solidFill>
                  <a:srgbClr val="E3EEFB"/>
                </a:solidFill>
                <a:latin typeface="Arial" pitchFamily="34" charset="0"/>
                <a:ea typeface="Arial" pitchFamily="34" charset="-122"/>
                <a:cs typeface="Arial" pitchFamily="34" charset="-120"/>
              </a:rPr>
              <a:t>and the data changes but the screen does not. In step 5 tonight, you remove it on purpose and watch.</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12800" y="762000"/>
            <a:ext cx="10566400" cy="254000"/>
          </a:xfrm>
          <a:prstGeom prst="rect">
            <a:avLst/>
          </a:prstGeom>
          <a:noFill/>
          <a:ln/>
        </p:spPr>
        <p:txBody>
          <a:bodyPr wrap="square" lIns="0" tIns="0" rIns="0" bIns="0" rtlCol="0" anchor="t"/>
          <a:lstStyle/>
          <a:p>
            <a:pPr indent="0" marL="0">
              <a:buNone/>
            </a:pPr>
            <a:r>
              <a:rPr lang="en-US" sz="1200" b="1" spc="400" kern="0" dirty="0">
                <a:solidFill>
                  <a:srgbClr val="54C5F8"/>
                </a:solidFill>
                <a:latin typeface="Arial" pitchFamily="34" charset="0"/>
                <a:ea typeface="Arial" pitchFamily="34" charset="-122"/>
                <a:cs typeface="Arial" pitchFamily="34" charset="-120"/>
              </a:rPr>
              <a:t>HOW YOU WORK TONIGHT</a:t>
            </a:r>
            <a:endParaRPr lang="en-US" sz="1200" dirty="0"/>
          </a:p>
        </p:txBody>
      </p:sp>
      <p:sp>
        <p:nvSpPr>
          <p:cNvPr id="3" name="Text 1"/>
          <p:cNvSpPr txBox="1"/>
          <p:nvPr/>
        </p:nvSpPr>
        <p:spPr>
          <a:xfrm>
            <a:off x="812800" y="1054100"/>
            <a:ext cx="10566400" cy="698500"/>
          </a:xfrm>
          <a:prstGeom prst="rect">
            <a:avLst/>
          </a:prstGeom>
          <a:noFill/>
          <a:ln/>
        </p:spPr>
        <p:txBody>
          <a:bodyPr wrap="square" lIns="0" tIns="0" rIns="0" bIns="0" rtlCol="0" anchor="t"/>
          <a:lstStyle/>
          <a:p>
            <a:pPr indent="0" marL="0">
              <a:buNone/>
            </a:pPr>
            <a:r>
              <a:rPr lang="en-US" sz="3800" b="1" dirty="0">
                <a:solidFill>
                  <a:srgbClr val="F4F7FB"/>
                </a:solidFill>
                <a:latin typeface="Arial" pitchFamily="34" charset="0"/>
                <a:ea typeface="Arial" pitchFamily="34" charset="-122"/>
                <a:cs typeface="Arial" pitchFamily="34" charset="-120"/>
              </a:rPr>
              <a:t>A real app, on a phone</a:t>
            </a:r>
            <a:endParaRPr lang="en-US" sz="3800" dirty="0"/>
          </a:p>
        </p:txBody>
      </p:sp>
      <p:pic>
        <p:nvPicPr>
          <p:cNvPr id="4" name="Image 0" descr="preencoded.png">    </p:cNvPr>
          <p:cNvPicPr>
            <a:picLocks noChangeAspect="1"/>
          </p:cNvPicPr>
          <p:nvPr/>
        </p:nvPicPr>
        <p:blipFill>
          <a:blip r:embed="rId2"/>
          <a:stretch>
            <a:fillRect/>
          </a:stretch>
        </p:blipFill>
        <p:spPr>
          <a:xfrm>
            <a:off x="812800" y="1879600"/>
            <a:ext cx="609600" cy="609600"/>
          </a:xfrm>
          <a:prstGeom prst="rect">
            <a:avLst/>
          </a:prstGeom>
        </p:spPr>
      </p:pic>
      <p:sp>
        <p:nvSpPr>
          <p:cNvPr id="5" name="Text 2"/>
          <p:cNvSpPr txBox="1"/>
          <p:nvPr/>
        </p:nvSpPr>
        <p:spPr>
          <a:xfrm>
            <a:off x="1600200" y="1892300"/>
            <a:ext cx="4445000" cy="292100"/>
          </a:xfrm>
          <a:prstGeom prst="rect">
            <a:avLst/>
          </a:prstGeom>
          <a:noFill/>
          <a:ln/>
        </p:spPr>
        <p:txBody>
          <a:bodyPr wrap="square" lIns="0" tIns="0" rIns="0" bIns="0" rtlCol="0" anchor="t"/>
          <a:lstStyle/>
          <a:p>
            <a:pPr indent="0" marL="0">
              <a:buNone/>
            </a:pPr>
            <a:r>
              <a:rPr lang="en-US" sz="1600" b="1" dirty="0">
                <a:solidFill>
                  <a:srgbClr val="F4F7FB"/>
                </a:solidFill>
                <a:latin typeface="Arial" pitchFamily="34" charset="0"/>
                <a:ea typeface="Arial" pitchFamily="34" charset="-122"/>
                <a:cs typeface="Arial" pitchFamily="34" charset="-120"/>
              </a:rPr>
              <a:t>Start your emulator</a:t>
            </a:r>
            <a:endParaRPr lang="en-US" sz="1600" dirty="0"/>
          </a:p>
        </p:txBody>
      </p:sp>
      <p:sp>
        <p:nvSpPr>
          <p:cNvPr id="6" name="Text 3"/>
          <p:cNvSpPr txBox="1"/>
          <p:nvPr/>
        </p:nvSpPr>
        <p:spPr>
          <a:xfrm>
            <a:off x="1600200" y="2197100"/>
            <a:ext cx="4445000" cy="508000"/>
          </a:xfrm>
          <a:prstGeom prst="rect">
            <a:avLst/>
          </a:prstGeom>
          <a:noFill/>
          <a:ln/>
        </p:spPr>
        <p:txBody>
          <a:bodyPr wrap="square" lIns="0" tIns="0" rIns="0" bIns="0" rtlCol="0" anchor="t"/>
          <a:lstStyle/>
          <a:p>
            <a:pPr indent="0" marL="0">
              <a:buNone/>
            </a:pPr>
            <a:r>
              <a:rPr lang="en-US" sz="1300" dirty="0">
                <a:solidFill>
                  <a:srgbClr val="B8C4D9"/>
                </a:solidFill>
                <a:latin typeface="Arial" pitchFamily="34" charset="0"/>
                <a:ea typeface="Arial" pitchFamily="34" charset="-122"/>
                <a:cs typeface="Arial" pitchFamily="34" charset="-120"/>
              </a:rPr>
              <a:t>Device Manager → ▶, or plug in your own phone</a:t>
            </a:r>
            <a:endParaRPr lang="en-US" sz="1300" dirty="0"/>
          </a:p>
        </p:txBody>
      </p:sp>
      <p:pic>
        <p:nvPicPr>
          <p:cNvPr id="7" name="Image 1" descr="preencoded.png">    </p:cNvPr>
          <p:cNvPicPr>
            <a:picLocks noChangeAspect="1"/>
          </p:cNvPicPr>
          <p:nvPr/>
        </p:nvPicPr>
        <p:blipFill>
          <a:blip r:embed="rId3"/>
          <a:stretch>
            <a:fillRect/>
          </a:stretch>
        </p:blipFill>
        <p:spPr>
          <a:xfrm>
            <a:off x="812800" y="2832100"/>
            <a:ext cx="609600" cy="609600"/>
          </a:xfrm>
          <a:prstGeom prst="rect">
            <a:avLst/>
          </a:prstGeom>
        </p:spPr>
      </p:pic>
      <p:sp>
        <p:nvSpPr>
          <p:cNvPr id="8" name="Text 4"/>
          <p:cNvSpPr txBox="1"/>
          <p:nvPr/>
        </p:nvSpPr>
        <p:spPr>
          <a:xfrm>
            <a:off x="1600200" y="2844800"/>
            <a:ext cx="4445000" cy="292100"/>
          </a:xfrm>
          <a:prstGeom prst="rect">
            <a:avLst/>
          </a:prstGeom>
          <a:noFill/>
          <a:ln/>
        </p:spPr>
        <p:txBody>
          <a:bodyPr wrap="square" lIns="0" tIns="0" rIns="0" bIns="0" rtlCol="0" anchor="t"/>
          <a:lstStyle/>
          <a:p>
            <a:pPr indent="0" marL="0">
              <a:buNone/>
            </a:pPr>
            <a:r>
              <a:rPr lang="en-US" sz="1600" b="1" dirty="0">
                <a:solidFill>
                  <a:srgbClr val="F4F7FB"/>
                </a:solidFill>
                <a:latin typeface="Arial" pitchFamily="34" charset="0"/>
                <a:ea typeface="Arial" pitchFamily="34" charset="-122"/>
                <a:cs typeface="Arial" pitchFamily="34" charset="-120"/>
              </a:rPr>
              <a:t>Press Run ▶</a:t>
            </a:r>
            <a:endParaRPr lang="en-US" sz="1600" dirty="0"/>
          </a:p>
        </p:txBody>
      </p:sp>
      <p:sp>
        <p:nvSpPr>
          <p:cNvPr id="9" name="Text 5"/>
          <p:cNvSpPr txBox="1"/>
          <p:nvPr/>
        </p:nvSpPr>
        <p:spPr>
          <a:xfrm>
            <a:off x="1600200" y="3149600"/>
            <a:ext cx="4445000" cy="508000"/>
          </a:xfrm>
          <a:prstGeom prst="rect">
            <a:avLst/>
          </a:prstGeom>
          <a:noFill/>
          <a:ln/>
        </p:spPr>
        <p:txBody>
          <a:bodyPr wrap="square" lIns="0" tIns="0" rIns="0" bIns="0" rtlCol="0" anchor="t"/>
          <a:lstStyle/>
          <a:p>
            <a:pPr indent="0" marL="0">
              <a:buNone/>
            </a:pPr>
            <a:r>
              <a:rPr lang="en-US" sz="1300" dirty="0">
                <a:solidFill>
                  <a:srgbClr val="B8C4D9"/>
                </a:solidFill>
                <a:latin typeface="Arial" pitchFamily="34" charset="0"/>
                <a:ea typeface="Arial" pitchFamily="34" charset="-122"/>
                <a:cs typeface="Arial" pitchFamily="34" charset="-120"/>
              </a:rPr>
              <a:t>The first build can take 5–10 minutes, only the first time</a:t>
            </a:r>
            <a:endParaRPr lang="en-US" sz="1300" dirty="0"/>
          </a:p>
        </p:txBody>
      </p:sp>
      <p:pic>
        <p:nvPicPr>
          <p:cNvPr id="10" name="Image 2" descr="preencoded.png">    </p:cNvPr>
          <p:cNvPicPr>
            <a:picLocks noChangeAspect="1"/>
          </p:cNvPicPr>
          <p:nvPr/>
        </p:nvPicPr>
        <p:blipFill>
          <a:blip r:embed="rId4"/>
          <a:stretch>
            <a:fillRect/>
          </a:stretch>
        </p:blipFill>
        <p:spPr>
          <a:xfrm>
            <a:off x="812800" y="3784600"/>
            <a:ext cx="609600" cy="609600"/>
          </a:xfrm>
          <a:prstGeom prst="rect">
            <a:avLst/>
          </a:prstGeom>
        </p:spPr>
      </p:pic>
      <p:sp>
        <p:nvSpPr>
          <p:cNvPr id="11" name="Text 6"/>
          <p:cNvSpPr txBox="1"/>
          <p:nvPr/>
        </p:nvSpPr>
        <p:spPr>
          <a:xfrm>
            <a:off x="1600200" y="3797300"/>
            <a:ext cx="4445000" cy="292100"/>
          </a:xfrm>
          <a:prstGeom prst="rect">
            <a:avLst/>
          </a:prstGeom>
          <a:noFill/>
          <a:ln/>
        </p:spPr>
        <p:txBody>
          <a:bodyPr wrap="square" lIns="0" tIns="0" rIns="0" bIns="0" rtlCol="0" anchor="t"/>
          <a:lstStyle/>
          <a:p>
            <a:pPr indent="0" marL="0">
              <a:buNone/>
            </a:pPr>
            <a:r>
              <a:rPr lang="en-US" sz="1600" b="1" dirty="0">
                <a:solidFill>
                  <a:srgbClr val="F4F7FB"/>
                </a:solidFill>
                <a:latin typeface="Arial" pitchFamily="34" charset="0"/>
                <a:ea typeface="Arial" pitchFamily="34" charset="-122"/>
                <a:cs typeface="Arial" pitchFamily="34" charset="-120"/>
              </a:rPr>
              <a:t>Save = hot reload</a:t>
            </a:r>
            <a:endParaRPr lang="en-US" sz="1600" dirty="0"/>
          </a:p>
        </p:txBody>
      </p:sp>
      <p:sp>
        <p:nvSpPr>
          <p:cNvPr id="12" name="Text 7"/>
          <p:cNvSpPr txBox="1"/>
          <p:nvPr/>
        </p:nvSpPr>
        <p:spPr>
          <a:xfrm>
            <a:off x="1600200" y="4102100"/>
            <a:ext cx="4445000" cy="508000"/>
          </a:xfrm>
          <a:prstGeom prst="rect">
            <a:avLst/>
          </a:prstGeom>
          <a:noFill/>
          <a:ln/>
        </p:spPr>
        <p:txBody>
          <a:bodyPr wrap="square" lIns="0" tIns="0" rIns="0" bIns="0" rtlCol="0" anchor="t"/>
          <a:lstStyle/>
          <a:p>
            <a:pPr indent="0" marL="0">
              <a:buNone/>
            </a:pPr>
            <a:r>
              <a:rPr lang="en-US" sz="1300" dirty="0">
                <a:solidFill>
                  <a:srgbClr val="B8C4D9"/>
                </a:solidFill>
                <a:latin typeface="Arial" pitchFamily="34" charset="0"/>
                <a:ea typeface="Arial" pitchFamily="34" charset="-122"/>
                <a:cs typeface="Arial" pitchFamily="34" charset="-120"/>
              </a:rPr>
              <a:t>Ctrl+S: your change appears in about a second</a:t>
            </a:r>
            <a:endParaRPr lang="en-US" sz="1300" dirty="0"/>
          </a:p>
        </p:txBody>
      </p:sp>
      <p:pic>
        <p:nvPicPr>
          <p:cNvPr id="13" name="Image 3" descr="preencoded.png">    </p:cNvPr>
          <p:cNvPicPr>
            <a:picLocks noChangeAspect="1"/>
          </p:cNvPicPr>
          <p:nvPr/>
        </p:nvPicPr>
        <p:blipFill>
          <a:blip r:embed="rId5"/>
          <a:stretch>
            <a:fillRect/>
          </a:stretch>
        </p:blipFill>
        <p:spPr>
          <a:xfrm>
            <a:off x="812800" y="4737100"/>
            <a:ext cx="609600" cy="609600"/>
          </a:xfrm>
          <a:prstGeom prst="rect">
            <a:avLst/>
          </a:prstGeom>
        </p:spPr>
      </p:pic>
      <p:sp>
        <p:nvSpPr>
          <p:cNvPr id="14" name="Text 8"/>
          <p:cNvSpPr txBox="1"/>
          <p:nvPr/>
        </p:nvSpPr>
        <p:spPr>
          <a:xfrm>
            <a:off x="1600200" y="4749800"/>
            <a:ext cx="4445000" cy="292100"/>
          </a:xfrm>
          <a:prstGeom prst="rect">
            <a:avLst/>
          </a:prstGeom>
          <a:noFill/>
          <a:ln/>
        </p:spPr>
        <p:txBody>
          <a:bodyPr wrap="square" lIns="0" tIns="0" rIns="0" bIns="0" rtlCol="0" anchor="t"/>
          <a:lstStyle/>
          <a:p>
            <a:pPr indent="0" marL="0">
              <a:buNone/>
            </a:pPr>
            <a:r>
              <a:rPr lang="en-US" sz="1600" b="1" dirty="0">
                <a:solidFill>
                  <a:srgbClr val="F4F7FB"/>
                </a:solidFill>
                <a:latin typeface="Arial" pitchFamily="34" charset="0"/>
                <a:ea typeface="Arial" pitchFamily="34" charset="-122"/>
                <a:cs typeface="Arial" pitchFamily="34" charset="-120"/>
              </a:rPr>
              <a:t>Hot restart</a:t>
            </a:r>
            <a:endParaRPr lang="en-US" sz="1600" dirty="0"/>
          </a:p>
        </p:txBody>
      </p:sp>
      <p:sp>
        <p:nvSpPr>
          <p:cNvPr id="15" name="Text 9"/>
          <p:cNvSpPr txBox="1"/>
          <p:nvPr/>
        </p:nvSpPr>
        <p:spPr>
          <a:xfrm>
            <a:off x="1600200" y="5054600"/>
            <a:ext cx="4445000" cy="508000"/>
          </a:xfrm>
          <a:prstGeom prst="rect">
            <a:avLst/>
          </a:prstGeom>
          <a:noFill/>
          <a:ln/>
        </p:spPr>
        <p:txBody>
          <a:bodyPr wrap="square" lIns="0" tIns="0" rIns="0" bIns="0" rtlCol="0" anchor="t"/>
          <a:lstStyle/>
          <a:p>
            <a:pPr indent="0" marL="0">
              <a:buNone/>
            </a:pPr>
            <a:r>
              <a:rPr lang="en-US" sz="1300" dirty="0">
                <a:solidFill>
                  <a:srgbClr val="B8C4D9"/>
                </a:solidFill>
                <a:latin typeface="Arial" pitchFamily="34" charset="0"/>
                <a:ea typeface="Arial" pitchFamily="34" charset="-122"/>
                <a:cs typeface="Arial" pitchFamily="34" charset="-120"/>
              </a:rPr>
              <a:t>The green circular arrow: the app starts from zero</a:t>
            </a:r>
            <a:endParaRPr lang="en-US" sz="1300" dirty="0"/>
          </a:p>
        </p:txBody>
      </p:sp>
      <p:sp>
        <p:nvSpPr>
          <p:cNvPr id="16" name="Shape 10"/>
          <p:cNvSpPr/>
          <p:nvPr/>
        </p:nvSpPr>
        <p:spPr>
          <a:xfrm>
            <a:off x="6858000" y="1879600"/>
            <a:ext cx="4521200" cy="1727200"/>
          </a:xfrm>
          <a:prstGeom prst="roundRect">
            <a:avLst>
              <a:gd name="adj" fmla="val 9529"/>
            </a:avLst>
          </a:prstGeom>
          <a:solidFill>
            <a:srgbClr val="0468D7"/>
          </a:solidFill>
          <a:ln w="19050">
            <a:solidFill>
              <a:srgbClr val="0468D7"/>
            </a:solidFill>
            <a:prstDash val="solid"/>
          </a:ln>
          <a:effectLst>
            <a:outerShdw sx="100000" sy="100000" kx="0" ky="0" algn="bl" rotWithShape="0" blurRad="330200" dist="76200" dir="5400000">
              <a:srgbClr val="0468D7">
                <a:alpha val="40000"/>
              </a:srgbClr>
            </a:outerShdw>
          </a:effectLst>
        </p:spPr>
      </p:sp>
      <p:sp>
        <p:nvSpPr>
          <p:cNvPr id="17" name="Text 11"/>
          <p:cNvSpPr txBox="1"/>
          <p:nvPr/>
        </p:nvSpPr>
        <p:spPr>
          <a:xfrm>
            <a:off x="7112000" y="2070100"/>
            <a:ext cx="2540000" cy="215900"/>
          </a:xfrm>
          <a:prstGeom prst="rect">
            <a:avLst/>
          </a:prstGeom>
          <a:noFill/>
          <a:ln/>
        </p:spPr>
        <p:txBody>
          <a:bodyPr wrap="square" lIns="0" tIns="0" rIns="0" bIns="0" rtlCol="0" anchor="t"/>
          <a:lstStyle/>
          <a:p>
            <a:pPr indent="0" marL="0">
              <a:buNone/>
            </a:pPr>
            <a:r>
              <a:rPr lang="en-US" sz="1100" b="1" spc="400" kern="0" dirty="0">
                <a:solidFill>
                  <a:srgbClr val="BFE6FB"/>
                </a:solidFill>
                <a:latin typeface="Arial" pitchFamily="34" charset="0"/>
                <a:ea typeface="Arial" pitchFamily="34" charset="-122"/>
                <a:cs typeface="Arial" pitchFamily="34" charset="-120"/>
              </a:rPr>
              <a:t>HOT RELOAD</a:t>
            </a:r>
            <a:endParaRPr lang="en-US" sz="1100" dirty="0"/>
          </a:p>
        </p:txBody>
      </p:sp>
      <p:sp>
        <p:nvSpPr>
          <p:cNvPr id="18" name="Text 12"/>
          <p:cNvSpPr txBox="1"/>
          <p:nvPr/>
        </p:nvSpPr>
        <p:spPr>
          <a:xfrm>
            <a:off x="7112000" y="2324100"/>
            <a:ext cx="2540000" cy="292100"/>
          </a:xfrm>
          <a:prstGeom prst="rect">
            <a:avLst/>
          </a:prstGeom>
          <a:noFill/>
          <a:ln/>
        </p:spPr>
        <p:txBody>
          <a:bodyPr wrap="square" lIns="0" tIns="0" rIns="0" bIns="0" rtlCol="0" anchor="t"/>
          <a:lstStyle/>
          <a:p>
            <a:pPr indent="0" marL="0">
              <a:buNone/>
            </a:pPr>
            <a:r>
              <a:rPr lang="en-US" sz="1500" b="1" dirty="0">
                <a:solidFill>
                  <a:srgbClr val="F4F7FB"/>
                </a:solidFill>
                <a:latin typeface="Arial" pitchFamily="34" charset="0"/>
                <a:ea typeface="Arial" pitchFamily="34" charset="-122"/>
                <a:cs typeface="Arial" pitchFamily="34" charset="-120"/>
              </a:rPr>
              <a:t>Keeps your data</a:t>
            </a:r>
            <a:endParaRPr lang="en-US" sz="1500" dirty="0"/>
          </a:p>
        </p:txBody>
      </p:sp>
      <p:sp>
        <p:nvSpPr>
          <p:cNvPr id="19" name="Text 13"/>
          <p:cNvSpPr txBox="1"/>
          <p:nvPr/>
        </p:nvSpPr>
        <p:spPr>
          <a:xfrm>
            <a:off x="7112000" y="2705100"/>
            <a:ext cx="2540000" cy="254000"/>
          </a:xfrm>
          <a:prstGeom prst="rect">
            <a:avLst/>
          </a:prstGeom>
          <a:noFill/>
          <a:ln/>
        </p:spPr>
        <p:txBody>
          <a:bodyPr wrap="square" lIns="0" tIns="0" rIns="0" bIns="0" rtlCol="0" anchor="t"/>
          <a:lstStyle/>
          <a:p>
            <a:pPr indent="0" marL="0">
              <a:buNone/>
            </a:pPr>
            <a:r>
              <a:rPr lang="en-US" sz="1100" dirty="0">
                <a:solidFill>
                  <a:srgbClr val="E3EEFB"/>
                </a:solidFill>
                <a:latin typeface="Arial" pitchFamily="34" charset="0"/>
                <a:ea typeface="Arial" pitchFamily="34" charset="-122"/>
                <a:cs typeface="Arial" pitchFamily="34" charset="-120"/>
              </a:rPr>
              <a:t>Counter before and after:</a:t>
            </a:r>
            <a:endParaRPr lang="en-US" sz="1100" dirty="0"/>
          </a:p>
        </p:txBody>
      </p:sp>
      <p:sp>
        <p:nvSpPr>
          <p:cNvPr id="20" name="Text 14"/>
          <p:cNvSpPr txBox="1"/>
          <p:nvPr/>
        </p:nvSpPr>
        <p:spPr>
          <a:xfrm>
            <a:off x="8953500" y="2260600"/>
            <a:ext cx="2286000" cy="1016000"/>
          </a:xfrm>
          <a:prstGeom prst="rect">
            <a:avLst/>
          </a:prstGeom>
          <a:noFill/>
          <a:ln/>
        </p:spPr>
        <p:txBody>
          <a:bodyPr wrap="square" lIns="0" tIns="0" rIns="0" bIns="0" rtlCol="0" anchor="ctr"/>
          <a:lstStyle/>
          <a:p>
            <a:pPr algn="ctr" indent="0" marL="0">
              <a:buNone/>
            </a:pPr>
            <a:r>
              <a:rPr lang="en-US" sz="3600" b="1" dirty="0">
                <a:solidFill>
                  <a:srgbClr val="F4F7FB"/>
                </a:solidFill>
                <a:latin typeface="Arial" pitchFamily="34" charset="0"/>
                <a:ea typeface="Arial" pitchFamily="34" charset="-122"/>
                <a:cs typeface="Arial" pitchFamily="34" charset="-120"/>
              </a:rPr>
              <a:t>5  </a:t>
            </a:r>
            <a:pPr algn="ctr" indent="0" marL="0">
              <a:buNone/>
            </a:pPr>
            <a:r>
              <a:rPr lang="en-US" sz="3600" b="1" dirty="0">
                <a:solidFill>
                  <a:srgbClr val="54C5F8"/>
                </a:solidFill>
                <a:latin typeface="Arial" pitchFamily="34" charset="0"/>
                <a:ea typeface="Arial" pitchFamily="34" charset="-122"/>
                <a:cs typeface="Arial" pitchFamily="34" charset="-120"/>
              </a:rPr>
              <a:t>→</a:t>
            </a:r>
            <a:pPr algn="ctr" indent="0" marL="0">
              <a:buNone/>
            </a:pPr>
            <a:r>
              <a:rPr lang="en-US" sz="3600" b="1" dirty="0">
                <a:solidFill>
                  <a:srgbClr val="F4F7FB"/>
                </a:solidFill>
                <a:latin typeface="Arial" pitchFamily="34" charset="0"/>
                <a:ea typeface="Arial" pitchFamily="34" charset="-122"/>
                <a:cs typeface="Arial" pitchFamily="34" charset="-120"/>
              </a:rPr>
              <a:t>  5</a:t>
            </a:r>
            <a:endParaRPr lang="en-US" sz="3600" dirty="0"/>
          </a:p>
        </p:txBody>
      </p:sp>
      <p:sp>
        <p:nvSpPr>
          <p:cNvPr id="21" name="Shape 15"/>
          <p:cNvSpPr/>
          <p:nvPr/>
        </p:nvSpPr>
        <p:spPr>
          <a:xfrm>
            <a:off x="6858000" y="3784600"/>
            <a:ext cx="4521200" cy="1727200"/>
          </a:xfrm>
          <a:prstGeom prst="roundRect">
            <a:avLst>
              <a:gd name="adj" fmla="val 9529"/>
            </a:avLst>
          </a:prstGeom>
          <a:solidFill>
            <a:srgbClr val="1B2340"/>
          </a:solidFill>
          <a:ln w="19050">
            <a:solidFill>
              <a:srgbClr val="3A4770"/>
            </a:solidFill>
            <a:prstDash val="solid"/>
          </a:ln>
        </p:spPr>
      </p:sp>
      <p:sp>
        <p:nvSpPr>
          <p:cNvPr id="22" name="Text 16"/>
          <p:cNvSpPr txBox="1"/>
          <p:nvPr/>
        </p:nvSpPr>
        <p:spPr>
          <a:xfrm>
            <a:off x="7112000" y="3975100"/>
            <a:ext cx="2540000" cy="215900"/>
          </a:xfrm>
          <a:prstGeom prst="rect">
            <a:avLst/>
          </a:prstGeom>
          <a:noFill/>
          <a:ln/>
        </p:spPr>
        <p:txBody>
          <a:bodyPr wrap="square" lIns="0" tIns="0" rIns="0" bIns="0" rtlCol="0" anchor="t"/>
          <a:lstStyle/>
          <a:p>
            <a:pPr indent="0" marL="0">
              <a:buNone/>
            </a:pPr>
            <a:r>
              <a:rPr lang="en-US" sz="1100" b="1" spc="400" kern="0" dirty="0">
                <a:solidFill>
                  <a:srgbClr val="54C5F8"/>
                </a:solidFill>
                <a:latin typeface="Arial" pitchFamily="34" charset="0"/>
                <a:ea typeface="Arial" pitchFamily="34" charset="-122"/>
                <a:cs typeface="Arial" pitchFamily="34" charset="-120"/>
              </a:rPr>
              <a:t>HOT RESTART</a:t>
            </a:r>
            <a:endParaRPr lang="en-US" sz="1100" dirty="0"/>
          </a:p>
        </p:txBody>
      </p:sp>
      <p:sp>
        <p:nvSpPr>
          <p:cNvPr id="23" name="Text 17"/>
          <p:cNvSpPr txBox="1"/>
          <p:nvPr/>
        </p:nvSpPr>
        <p:spPr>
          <a:xfrm>
            <a:off x="7112000" y="4229100"/>
            <a:ext cx="2540000" cy="292100"/>
          </a:xfrm>
          <a:prstGeom prst="rect">
            <a:avLst/>
          </a:prstGeom>
          <a:noFill/>
          <a:ln/>
        </p:spPr>
        <p:txBody>
          <a:bodyPr wrap="square" lIns="0" tIns="0" rIns="0" bIns="0" rtlCol="0" anchor="t"/>
          <a:lstStyle/>
          <a:p>
            <a:pPr indent="0" marL="0">
              <a:buNone/>
            </a:pPr>
            <a:r>
              <a:rPr lang="en-US" sz="1500" b="1" dirty="0">
                <a:solidFill>
                  <a:srgbClr val="F4F7FB"/>
                </a:solidFill>
                <a:latin typeface="Arial" pitchFamily="34" charset="0"/>
                <a:ea typeface="Arial" pitchFamily="34" charset="-122"/>
                <a:cs typeface="Arial" pitchFamily="34" charset="-120"/>
              </a:rPr>
              <a:t>Starts from zero</a:t>
            </a:r>
            <a:endParaRPr lang="en-US" sz="1500" dirty="0"/>
          </a:p>
        </p:txBody>
      </p:sp>
      <p:sp>
        <p:nvSpPr>
          <p:cNvPr id="24" name="Text 18"/>
          <p:cNvSpPr txBox="1"/>
          <p:nvPr/>
        </p:nvSpPr>
        <p:spPr>
          <a:xfrm>
            <a:off x="7112000" y="4610100"/>
            <a:ext cx="2540000" cy="254000"/>
          </a:xfrm>
          <a:prstGeom prst="rect">
            <a:avLst/>
          </a:prstGeom>
          <a:noFill/>
          <a:ln/>
        </p:spPr>
        <p:txBody>
          <a:bodyPr wrap="square" lIns="0" tIns="0" rIns="0" bIns="0" rtlCol="0" anchor="t"/>
          <a:lstStyle/>
          <a:p>
            <a:pPr indent="0" marL="0">
              <a:buNone/>
            </a:pPr>
            <a:r>
              <a:rPr lang="en-US" sz="1100" dirty="0">
                <a:solidFill>
                  <a:srgbClr val="B8C4D9"/>
                </a:solidFill>
                <a:latin typeface="Arial" pitchFamily="34" charset="0"/>
                <a:ea typeface="Arial" pitchFamily="34" charset="-122"/>
                <a:cs typeface="Arial" pitchFamily="34" charset="-120"/>
              </a:rPr>
              <a:t>Counter before and after:</a:t>
            </a:r>
            <a:endParaRPr lang="en-US" sz="1100" dirty="0"/>
          </a:p>
        </p:txBody>
      </p:sp>
      <p:sp>
        <p:nvSpPr>
          <p:cNvPr id="25" name="Text 19"/>
          <p:cNvSpPr txBox="1"/>
          <p:nvPr/>
        </p:nvSpPr>
        <p:spPr>
          <a:xfrm>
            <a:off x="8953500" y="4165600"/>
            <a:ext cx="2286000" cy="1016000"/>
          </a:xfrm>
          <a:prstGeom prst="rect">
            <a:avLst/>
          </a:prstGeom>
          <a:noFill/>
          <a:ln/>
        </p:spPr>
        <p:txBody>
          <a:bodyPr wrap="square" lIns="0" tIns="0" rIns="0" bIns="0" rtlCol="0" anchor="ctr"/>
          <a:lstStyle/>
          <a:p>
            <a:pPr algn="ctr" indent="0" marL="0">
              <a:buNone/>
            </a:pPr>
            <a:r>
              <a:rPr lang="en-US" sz="3600" b="1" dirty="0">
                <a:solidFill>
                  <a:srgbClr val="F4F7FB"/>
                </a:solidFill>
                <a:latin typeface="Arial" pitchFamily="34" charset="0"/>
                <a:ea typeface="Arial" pitchFamily="34" charset="-122"/>
                <a:cs typeface="Arial" pitchFamily="34" charset="-120"/>
              </a:rPr>
              <a:t>5  </a:t>
            </a:r>
            <a:pPr algn="ctr" indent="0" marL="0">
              <a:buNone/>
            </a:pPr>
            <a:r>
              <a:rPr lang="en-US" sz="3600" b="1" dirty="0">
                <a:solidFill>
                  <a:srgbClr val="54C5F8"/>
                </a:solidFill>
                <a:latin typeface="Arial" pitchFamily="34" charset="0"/>
                <a:ea typeface="Arial" pitchFamily="34" charset="-122"/>
                <a:cs typeface="Arial" pitchFamily="34" charset="-120"/>
              </a:rPr>
              <a:t>→</a:t>
            </a:r>
            <a:pPr algn="ctr" indent="0" marL="0">
              <a:buNone/>
            </a:pPr>
            <a:r>
              <a:rPr lang="en-US" sz="3600" b="1" dirty="0">
                <a:solidFill>
                  <a:srgbClr val="F4F7FB"/>
                </a:solidFill>
                <a:latin typeface="Arial" pitchFamily="34" charset="0"/>
                <a:ea typeface="Arial" pitchFamily="34" charset="-122"/>
                <a:cs typeface="Arial" pitchFamily="34" charset="-120"/>
              </a:rPr>
              <a:t>  0</a:t>
            </a:r>
            <a:endParaRPr lang="en-US" sz="3600" dirty="0"/>
          </a:p>
        </p:txBody>
      </p:sp>
      <p:sp>
        <p:nvSpPr>
          <p:cNvPr id="26" name="Shape 20"/>
          <p:cNvSpPr/>
          <p:nvPr/>
        </p:nvSpPr>
        <p:spPr>
          <a:xfrm>
            <a:off x="812800" y="5715000"/>
            <a:ext cx="10566400" cy="584200"/>
          </a:xfrm>
          <a:prstGeom prst="roundRect">
            <a:avLst>
              <a:gd name="adj" fmla="val 23478"/>
            </a:avLst>
          </a:prstGeom>
          <a:solidFill>
            <a:srgbClr val="0468D7"/>
          </a:solidFill>
          <a:ln w="12700">
            <a:solidFill>
              <a:srgbClr val="0468D7"/>
            </a:solidFill>
            <a:prstDash val="solid"/>
          </a:ln>
          <a:effectLst>
            <a:outerShdw sx="100000" sy="100000" kx="0" ky="0" algn="bl" rotWithShape="0" blurRad="330200" dist="76200" dir="5400000">
              <a:srgbClr val="0468D7">
                <a:alpha val="40000"/>
              </a:srgbClr>
            </a:outerShdw>
          </a:effectLst>
        </p:spPr>
      </p:sp>
      <p:sp>
        <p:nvSpPr>
          <p:cNvPr id="27" name="Text 21"/>
          <p:cNvSpPr txBox="1"/>
          <p:nvPr/>
        </p:nvSpPr>
        <p:spPr>
          <a:xfrm>
            <a:off x="1066800" y="5715000"/>
            <a:ext cx="10058400" cy="584200"/>
          </a:xfrm>
          <a:prstGeom prst="rect">
            <a:avLst/>
          </a:prstGeom>
          <a:noFill/>
          <a:ln/>
        </p:spPr>
        <p:txBody>
          <a:bodyPr wrap="square" lIns="0" tIns="0" rIns="0" bIns="0" rtlCol="0" anchor="ctr"/>
          <a:lstStyle/>
          <a:p>
            <a:pPr indent="0" marL="0">
              <a:buNone/>
            </a:pPr>
            <a:r>
              <a:rPr lang="en-US" sz="1350" b="1" dirty="0">
                <a:solidFill>
                  <a:srgbClr val="F4F7FB"/>
                </a:solidFill>
                <a:latin typeface="Arial" pitchFamily="34" charset="0"/>
                <a:ea typeface="Arial" pitchFamily="34" charset="-122"/>
                <a:cs typeface="Arial" pitchFamily="34" charset="-120"/>
              </a:rPr>
              <a:t>In Android Studio, like your first app:  </a:t>
            </a:r>
            <a:pPr indent="0" marL="0">
              <a:buNone/>
            </a:pPr>
            <a:r>
              <a:rPr lang="en-US" sz="1350" dirty="0">
                <a:solidFill>
                  <a:srgbClr val="E3EEFB"/>
                </a:solidFill>
                <a:latin typeface="Arial" pitchFamily="34" charset="0"/>
                <a:ea typeface="Arial" pitchFamily="34" charset="-122"/>
                <a:cs typeface="Arial" pitchFamily="34" charset="-120"/>
              </a:rPr>
              <a:t>your code is saved on your laptop. No emulator? Use your own phone over USB, or Chrome as a last resort.</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812800" y="762000"/>
            <a:ext cx="10566400" cy="254000"/>
          </a:xfrm>
          <a:prstGeom prst="rect">
            <a:avLst/>
          </a:prstGeom>
          <a:noFill/>
          <a:ln/>
        </p:spPr>
        <p:txBody>
          <a:bodyPr wrap="square" lIns="0" tIns="0" rIns="0" bIns="0" rtlCol="0" anchor="t"/>
          <a:lstStyle/>
          <a:p>
            <a:pPr indent="0" marL="0">
              <a:buNone/>
            </a:pPr>
            <a:r>
              <a:rPr lang="en-US" sz="1200" b="1" spc="400" kern="0" dirty="0">
                <a:solidFill>
                  <a:srgbClr val="0468D7"/>
                </a:solidFill>
                <a:latin typeface="Arial" pitchFamily="34" charset="0"/>
                <a:ea typeface="Arial" pitchFamily="34" charset="-122"/>
                <a:cs typeface="Arial" pitchFamily="34" charset="-120"/>
              </a:rPr>
              <a:t>TONIGHT'S BUILD · FIRST-FLUTTER-APP.HTML</a:t>
            </a:r>
            <a:endParaRPr lang="en-US" sz="1200" dirty="0"/>
          </a:p>
        </p:txBody>
      </p:sp>
      <p:sp>
        <p:nvSpPr>
          <p:cNvPr id="3" name="Text 1"/>
          <p:cNvSpPr txBox="1"/>
          <p:nvPr/>
        </p:nvSpPr>
        <p:spPr>
          <a:xfrm>
            <a:off x="812800" y="1054100"/>
            <a:ext cx="10566400" cy="698500"/>
          </a:xfrm>
          <a:prstGeom prst="rect">
            <a:avLst/>
          </a:prstGeom>
          <a:noFill/>
          <a:ln/>
        </p:spPr>
        <p:txBody>
          <a:bodyPr wrap="square" lIns="0" tIns="0" rIns="0" bIns="0" rtlCol="0" anchor="t"/>
          <a:lstStyle/>
          <a:p>
            <a:pPr indent="0" marL="0">
              <a:buNone/>
            </a:pPr>
            <a:r>
              <a:rPr lang="en-US" sz="3300" b="1" dirty="0">
                <a:solidFill>
                  <a:srgbClr val="0E1220"/>
                </a:solidFill>
                <a:latin typeface="Arial" pitchFamily="34" charset="0"/>
                <a:ea typeface="Arial" pitchFamily="34" charset="-122"/>
                <a:cs typeface="Arial" pitchFamily="34" charset="-120"/>
              </a:rPr>
              <a:t>The Shopping List, step by step</a:t>
            </a:r>
            <a:endParaRPr lang="en-US" sz="3300" dirty="0"/>
          </a:p>
        </p:txBody>
      </p:sp>
      <p:sp>
        <p:nvSpPr>
          <p:cNvPr id="4" name="Shape 2"/>
          <p:cNvSpPr/>
          <p:nvPr/>
        </p:nvSpPr>
        <p:spPr>
          <a:xfrm>
            <a:off x="812800" y="1841500"/>
            <a:ext cx="1524000" cy="304800"/>
          </a:xfrm>
          <a:prstGeom prst="roundRect">
            <a:avLst>
              <a:gd name="adj" fmla="val 66000"/>
            </a:avLst>
          </a:prstGeom>
          <a:solidFill>
            <a:srgbClr val="0468D7"/>
          </a:solidFill>
          <a:ln w="12700">
            <a:solidFill>
              <a:srgbClr val="0468D7"/>
            </a:solidFill>
            <a:prstDash val="solid"/>
          </a:ln>
        </p:spPr>
      </p:sp>
      <p:sp>
        <p:nvSpPr>
          <p:cNvPr id="5" name="Text 3"/>
          <p:cNvSpPr txBox="1"/>
          <p:nvPr/>
        </p:nvSpPr>
        <p:spPr>
          <a:xfrm>
            <a:off x="812800" y="1841500"/>
            <a:ext cx="1524000" cy="304800"/>
          </a:xfrm>
          <a:prstGeom prst="rect">
            <a:avLst/>
          </a:prstGeom>
          <a:noFill/>
          <a:ln/>
        </p:spPr>
        <p:txBody>
          <a:bodyPr wrap="square" lIns="0" tIns="0" rIns="0" bIns="0" rtlCol="0" anchor="ctr"/>
          <a:lstStyle/>
          <a:p>
            <a:pPr algn="ctr" indent="0" marL="0">
              <a:buNone/>
            </a:pPr>
            <a:r>
              <a:rPr lang="en-US" sz="1100" b="1" dirty="0">
                <a:solidFill>
                  <a:srgbClr val="F4F7FB"/>
                </a:solidFill>
                <a:latin typeface="Arial" pitchFamily="34" charset="0"/>
                <a:ea typeface="Arial" pitchFamily="34" charset="-122"/>
                <a:cs typeface="Arial" pitchFamily="34" charset="-120"/>
              </a:rPr>
              <a:t>Code given</a:t>
            </a:r>
            <a:endParaRPr lang="en-US" sz="1100" dirty="0"/>
          </a:p>
        </p:txBody>
      </p:sp>
      <p:sp>
        <p:nvSpPr>
          <p:cNvPr id="6" name="Shape 4"/>
          <p:cNvSpPr/>
          <p:nvPr/>
        </p:nvSpPr>
        <p:spPr>
          <a:xfrm>
            <a:off x="2463800" y="1841500"/>
            <a:ext cx="1524000" cy="304800"/>
          </a:xfrm>
          <a:prstGeom prst="roundRect">
            <a:avLst>
              <a:gd name="adj" fmla="val 66000"/>
            </a:avLst>
          </a:prstGeom>
          <a:solidFill>
            <a:srgbClr val="5B3FD6"/>
          </a:solidFill>
          <a:ln w="12700">
            <a:solidFill>
              <a:srgbClr val="5B3FD6"/>
            </a:solidFill>
            <a:prstDash val="solid"/>
          </a:ln>
        </p:spPr>
      </p:sp>
      <p:sp>
        <p:nvSpPr>
          <p:cNvPr id="7" name="Text 5"/>
          <p:cNvSpPr txBox="1"/>
          <p:nvPr/>
        </p:nvSpPr>
        <p:spPr>
          <a:xfrm>
            <a:off x="2463800" y="1841500"/>
            <a:ext cx="1524000" cy="304800"/>
          </a:xfrm>
          <a:prstGeom prst="rect">
            <a:avLst/>
          </a:prstGeom>
          <a:noFill/>
          <a:ln/>
        </p:spPr>
        <p:txBody>
          <a:bodyPr wrap="square" lIns="0" tIns="0" rIns="0" bIns="0" rtlCol="0" anchor="ctr"/>
          <a:lstStyle/>
          <a:p>
            <a:pPr algn="ctr" indent="0" marL="0">
              <a:buNone/>
            </a:pPr>
            <a:r>
              <a:rPr lang="en-US" sz="1100" b="1" dirty="0">
                <a:solidFill>
                  <a:srgbClr val="F4F7FB"/>
                </a:solidFill>
                <a:latin typeface="Arial" pitchFamily="34" charset="0"/>
                <a:ea typeface="Arial" pitchFamily="34" charset="-122"/>
                <a:cs typeface="Arial" pitchFamily="34" charset="-120"/>
              </a:rPr>
              <a:t>You write it</a:t>
            </a:r>
            <a:endParaRPr lang="en-US" sz="1100" dirty="0"/>
          </a:p>
        </p:txBody>
      </p:sp>
      <p:sp>
        <p:nvSpPr>
          <p:cNvPr id="8" name="Shape 6"/>
          <p:cNvSpPr/>
          <p:nvPr/>
        </p:nvSpPr>
        <p:spPr>
          <a:xfrm>
            <a:off x="812800" y="2298700"/>
            <a:ext cx="3327400" cy="635000"/>
          </a:xfrm>
          <a:prstGeom prst="roundRect">
            <a:avLst>
              <a:gd name="adj" fmla="val 25920"/>
            </a:avLst>
          </a:prstGeom>
          <a:solidFill>
            <a:srgbClr val="FFFFFF"/>
          </a:solidFill>
          <a:ln w="12700">
            <a:solidFill>
              <a:srgbClr val="E1E7F0"/>
            </a:solidFill>
            <a:prstDash val="solid"/>
          </a:ln>
        </p:spPr>
      </p:sp>
      <p:sp>
        <p:nvSpPr>
          <p:cNvPr id="9" name="Shape 7"/>
          <p:cNvSpPr/>
          <p:nvPr/>
        </p:nvSpPr>
        <p:spPr>
          <a:xfrm>
            <a:off x="939800" y="2425700"/>
            <a:ext cx="381000" cy="381000"/>
          </a:xfrm>
          <a:prstGeom prst="roundRect">
            <a:avLst>
              <a:gd name="adj" fmla="val 48000"/>
            </a:avLst>
          </a:prstGeom>
          <a:solidFill>
            <a:srgbClr val="0468D7"/>
          </a:solidFill>
          <a:ln w="12700">
            <a:solidFill>
              <a:srgbClr val="0468D7"/>
            </a:solidFill>
            <a:prstDash val="solid"/>
          </a:ln>
        </p:spPr>
      </p:sp>
      <p:sp>
        <p:nvSpPr>
          <p:cNvPr id="10" name="Text 8"/>
          <p:cNvSpPr txBox="1"/>
          <p:nvPr/>
        </p:nvSpPr>
        <p:spPr>
          <a:xfrm>
            <a:off x="939800" y="2425700"/>
            <a:ext cx="381000" cy="381000"/>
          </a:xfrm>
          <a:prstGeom prst="rect">
            <a:avLst/>
          </a:prstGeom>
          <a:noFill/>
          <a:ln/>
        </p:spPr>
        <p:txBody>
          <a:bodyPr wrap="square" lIns="0" tIns="0" rIns="0" bIns="0" rtlCol="0" anchor="ctr"/>
          <a:lstStyle/>
          <a:p>
            <a:pPr algn="ctr" indent="0" marL="0">
              <a:buNone/>
            </a:pPr>
            <a:r>
              <a:rPr lang="en-US" sz="1350" b="1" dirty="0">
                <a:solidFill>
                  <a:srgbClr val="F4F7FB"/>
                </a:solidFill>
                <a:latin typeface="Arial" pitchFamily="34" charset="0"/>
                <a:ea typeface="Arial" pitchFamily="34" charset="-122"/>
                <a:cs typeface="Arial" pitchFamily="34" charset="-120"/>
              </a:rPr>
              <a:t>A</a:t>
            </a:r>
            <a:endParaRPr lang="en-US" sz="1350" dirty="0"/>
          </a:p>
        </p:txBody>
      </p:sp>
      <p:sp>
        <p:nvSpPr>
          <p:cNvPr id="11" name="Text 9"/>
          <p:cNvSpPr txBox="1"/>
          <p:nvPr/>
        </p:nvSpPr>
        <p:spPr>
          <a:xfrm>
            <a:off x="1447800" y="2387600"/>
            <a:ext cx="2603500" cy="254000"/>
          </a:xfrm>
          <a:prstGeom prst="rect">
            <a:avLst/>
          </a:prstGeom>
          <a:noFill/>
          <a:ln/>
        </p:spPr>
        <p:txBody>
          <a:bodyPr wrap="square" lIns="0" tIns="0" rIns="0" bIns="0" rtlCol="0" anchor="t"/>
          <a:lstStyle/>
          <a:p>
            <a:pPr indent="0" marL="0">
              <a:buNone/>
            </a:pPr>
            <a:r>
              <a:rPr lang="en-US" sz="1350" b="1" dirty="0">
                <a:solidFill>
                  <a:srgbClr val="0E1220"/>
                </a:solidFill>
                <a:latin typeface="Arial" pitchFamily="34" charset="0"/>
                <a:ea typeface="Arial" pitchFamily="34" charset="-122"/>
                <a:cs typeface="Arial" pitchFamily="34" charset="-120"/>
              </a:rPr>
              <a:t>Create and run</a:t>
            </a:r>
            <a:endParaRPr lang="en-US" sz="1350" dirty="0"/>
          </a:p>
        </p:txBody>
      </p:sp>
      <p:sp>
        <p:nvSpPr>
          <p:cNvPr id="12" name="Text 10"/>
          <p:cNvSpPr txBox="1"/>
          <p:nvPr/>
        </p:nvSpPr>
        <p:spPr>
          <a:xfrm>
            <a:off x="1447800" y="2641600"/>
            <a:ext cx="2603500" cy="215900"/>
          </a:xfrm>
          <a:prstGeom prst="rect">
            <a:avLst/>
          </a:prstGeom>
          <a:noFill/>
          <a:ln/>
        </p:spPr>
        <p:txBody>
          <a:bodyPr wrap="square" lIns="0" tIns="0" rIns="0" bIns="0" rtlCol="0" anchor="t"/>
          <a:lstStyle/>
          <a:p>
            <a:pPr indent="0" marL="0">
              <a:buNone/>
            </a:pPr>
            <a:r>
              <a:rPr lang="en-US" sz="1050" dirty="0">
                <a:solidFill>
                  <a:srgbClr val="4A5568"/>
                </a:solidFill>
                <a:latin typeface="Arial" pitchFamily="34" charset="0"/>
                <a:ea typeface="Arial" pitchFamily="34" charset="-122"/>
                <a:cs typeface="Arial" pitchFamily="34" charset="-120"/>
              </a:rPr>
              <a:t>New Flutter Project · Run ▶</a:t>
            </a:r>
            <a:endParaRPr lang="en-US" sz="1050" dirty="0"/>
          </a:p>
        </p:txBody>
      </p:sp>
      <p:sp>
        <p:nvSpPr>
          <p:cNvPr id="13" name="Shape 11"/>
          <p:cNvSpPr/>
          <p:nvPr/>
        </p:nvSpPr>
        <p:spPr>
          <a:xfrm>
            <a:off x="812800" y="3035300"/>
            <a:ext cx="3327400" cy="635000"/>
          </a:xfrm>
          <a:prstGeom prst="roundRect">
            <a:avLst>
              <a:gd name="adj" fmla="val 25920"/>
            </a:avLst>
          </a:prstGeom>
          <a:solidFill>
            <a:srgbClr val="FFFFFF"/>
          </a:solidFill>
          <a:ln w="12700">
            <a:solidFill>
              <a:srgbClr val="E1E7F0"/>
            </a:solidFill>
            <a:prstDash val="solid"/>
          </a:ln>
        </p:spPr>
      </p:sp>
      <p:sp>
        <p:nvSpPr>
          <p:cNvPr id="14" name="Shape 12"/>
          <p:cNvSpPr/>
          <p:nvPr/>
        </p:nvSpPr>
        <p:spPr>
          <a:xfrm>
            <a:off x="939800" y="3162300"/>
            <a:ext cx="381000" cy="381000"/>
          </a:xfrm>
          <a:prstGeom prst="roundRect">
            <a:avLst>
              <a:gd name="adj" fmla="val 48000"/>
            </a:avLst>
          </a:prstGeom>
          <a:solidFill>
            <a:srgbClr val="0468D7"/>
          </a:solidFill>
          <a:ln w="12700">
            <a:solidFill>
              <a:srgbClr val="0468D7"/>
            </a:solidFill>
            <a:prstDash val="solid"/>
          </a:ln>
        </p:spPr>
      </p:sp>
      <p:sp>
        <p:nvSpPr>
          <p:cNvPr id="15" name="Text 13"/>
          <p:cNvSpPr txBox="1"/>
          <p:nvPr/>
        </p:nvSpPr>
        <p:spPr>
          <a:xfrm>
            <a:off x="939800" y="3162300"/>
            <a:ext cx="381000" cy="381000"/>
          </a:xfrm>
          <a:prstGeom prst="rect">
            <a:avLst/>
          </a:prstGeom>
          <a:noFill/>
          <a:ln/>
        </p:spPr>
        <p:txBody>
          <a:bodyPr wrap="square" lIns="0" tIns="0" rIns="0" bIns="0" rtlCol="0" anchor="ctr"/>
          <a:lstStyle/>
          <a:p>
            <a:pPr algn="ctr" indent="0" marL="0">
              <a:buNone/>
            </a:pPr>
            <a:r>
              <a:rPr lang="en-US" sz="1350" b="1" dirty="0">
                <a:solidFill>
                  <a:srgbClr val="F4F7FB"/>
                </a:solidFill>
                <a:latin typeface="Arial" pitchFamily="34" charset="0"/>
                <a:ea typeface="Arial" pitchFamily="34" charset="-122"/>
                <a:cs typeface="Arial" pitchFamily="34" charset="-120"/>
              </a:rPr>
              <a:t>B</a:t>
            </a:r>
            <a:endParaRPr lang="en-US" sz="1350" dirty="0"/>
          </a:p>
        </p:txBody>
      </p:sp>
      <p:sp>
        <p:nvSpPr>
          <p:cNvPr id="16" name="Text 14"/>
          <p:cNvSpPr txBox="1"/>
          <p:nvPr/>
        </p:nvSpPr>
        <p:spPr>
          <a:xfrm>
            <a:off x="1447800" y="3124200"/>
            <a:ext cx="2603500" cy="254000"/>
          </a:xfrm>
          <a:prstGeom prst="rect">
            <a:avLst/>
          </a:prstGeom>
          <a:noFill/>
          <a:ln/>
        </p:spPr>
        <p:txBody>
          <a:bodyPr wrap="square" lIns="0" tIns="0" rIns="0" bIns="0" rtlCol="0" anchor="t"/>
          <a:lstStyle/>
          <a:p>
            <a:pPr indent="0" marL="0">
              <a:buNone/>
            </a:pPr>
            <a:r>
              <a:rPr lang="en-US" sz="1350" b="1" dirty="0">
                <a:solidFill>
                  <a:srgbClr val="0E1220"/>
                </a:solidFill>
                <a:latin typeface="Arial" pitchFamily="34" charset="0"/>
                <a:ea typeface="Arial" pitchFamily="34" charset="-122"/>
                <a:cs typeface="Arial" pitchFamily="34" charset="-120"/>
              </a:rPr>
              <a:t>Warm-up</a:t>
            </a:r>
            <a:endParaRPr lang="en-US" sz="1350" dirty="0"/>
          </a:p>
        </p:txBody>
      </p:sp>
      <p:sp>
        <p:nvSpPr>
          <p:cNvPr id="17" name="Text 15"/>
          <p:cNvSpPr txBox="1"/>
          <p:nvPr/>
        </p:nvSpPr>
        <p:spPr>
          <a:xfrm>
            <a:off x="1447800" y="3378200"/>
            <a:ext cx="2603500" cy="215900"/>
          </a:xfrm>
          <a:prstGeom prst="rect">
            <a:avLst/>
          </a:prstGeom>
          <a:noFill/>
          <a:ln/>
        </p:spPr>
        <p:txBody>
          <a:bodyPr wrap="square" lIns="0" tIns="0" rIns="0" bIns="0" rtlCol="0" anchor="t"/>
          <a:lstStyle/>
          <a:p>
            <a:pPr indent="0" marL="0">
              <a:buNone/>
            </a:pPr>
            <a:r>
              <a:rPr lang="en-US" sz="1050" dirty="0">
                <a:solidFill>
                  <a:srgbClr val="4A5568"/>
                </a:solidFill>
                <a:latin typeface="Arial" pitchFamily="34" charset="0"/>
                <a:ea typeface="Arial" pitchFamily="34" charset="-122"/>
                <a:cs typeface="Arial" pitchFamily="34" charset="-120"/>
              </a:rPr>
              <a:t>the Dart that Flutter uses</a:t>
            </a:r>
            <a:endParaRPr lang="en-US" sz="1050" dirty="0"/>
          </a:p>
        </p:txBody>
      </p:sp>
      <p:sp>
        <p:nvSpPr>
          <p:cNvPr id="18" name="Shape 16"/>
          <p:cNvSpPr/>
          <p:nvPr/>
        </p:nvSpPr>
        <p:spPr>
          <a:xfrm>
            <a:off x="812800" y="3771900"/>
            <a:ext cx="3327400" cy="635000"/>
          </a:xfrm>
          <a:prstGeom prst="roundRect">
            <a:avLst>
              <a:gd name="adj" fmla="val 25920"/>
            </a:avLst>
          </a:prstGeom>
          <a:solidFill>
            <a:srgbClr val="FFFFFF"/>
          </a:solidFill>
          <a:ln w="12700">
            <a:solidFill>
              <a:srgbClr val="E1E7F0"/>
            </a:solidFill>
            <a:prstDash val="solid"/>
          </a:ln>
        </p:spPr>
      </p:sp>
      <p:sp>
        <p:nvSpPr>
          <p:cNvPr id="19" name="Shape 17"/>
          <p:cNvSpPr/>
          <p:nvPr/>
        </p:nvSpPr>
        <p:spPr>
          <a:xfrm>
            <a:off x="939800" y="3898900"/>
            <a:ext cx="381000" cy="381000"/>
          </a:xfrm>
          <a:prstGeom prst="roundRect">
            <a:avLst>
              <a:gd name="adj" fmla="val 48000"/>
            </a:avLst>
          </a:prstGeom>
          <a:solidFill>
            <a:srgbClr val="0468D7"/>
          </a:solidFill>
          <a:ln w="12700">
            <a:solidFill>
              <a:srgbClr val="0468D7"/>
            </a:solidFill>
            <a:prstDash val="solid"/>
          </a:ln>
        </p:spPr>
      </p:sp>
      <p:sp>
        <p:nvSpPr>
          <p:cNvPr id="20" name="Text 18"/>
          <p:cNvSpPr txBox="1"/>
          <p:nvPr/>
        </p:nvSpPr>
        <p:spPr>
          <a:xfrm>
            <a:off x="939800" y="3898900"/>
            <a:ext cx="381000" cy="381000"/>
          </a:xfrm>
          <a:prstGeom prst="rect">
            <a:avLst/>
          </a:prstGeom>
          <a:noFill/>
          <a:ln/>
        </p:spPr>
        <p:txBody>
          <a:bodyPr wrap="square" lIns="0" tIns="0" rIns="0" bIns="0" rtlCol="0" anchor="ctr"/>
          <a:lstStyle/>
          <a:p>
            <a:pPr algn="ctr" indent="0" marL="0">
              <a:buNone/>
            </a:pPr>
            <a:r>
              <a:rPr lang="en-US" sz="1350" b="1" dirty="0">
                <a:solidFill>
                  <a:srgbClr val="F4F7FB"/>
                </a:solidFill>
                <a:latin typeface="Arial" pitchFamily="34" charset="0"/>
                <a:ea typeface="Arial" pitchFamily="34" charset="-122"/>
                <a:cs typeface="Arial" pitchFamily="34" charset="-120"/>
              </a:rPr>
              <a:t>1</a:t>
            </a:r>
            <a:endParaRPr lang="en-US" sz="1350" dirty="0"/>
          </a:p>
        </p:txBody>
      </p:sp>
      <p:sp>
        <p:nvSpPr>
          <p:cNvPr id="21" name="Text 19"/>
          <p:cNvSpPr txBox="1"/>
          <p:nvPr/>
        </p:nvSpPr>
        <p:spPr>
          <a:xfrm>
            <a:off x="1447800" y="3860800"/>
            <a:ext cx="2603500" cy="254000"/>
          </a:xfrm>
          <a:prstGeom prst="rect">
            <a:avLst/>
          </a:prstGeom>
          <a:noFill/>
          <a:ln/>
        </p:spPr>
        <p:txBody>
          <a:bodyPr wrap="square" lIns="0" tIns="0" rIns="0" bIns="0" rtlCol="0" anchor="t"/>
          <a:lstStyle/>
          <a:p>
            <a:pPr indent="0" marL="0">
              <a:buNone/>
            </a:pPr>
            <a:r>
              <a:rPr lang="en-US" sz="1350" b="1" dirty="0">
                <a:solidFill>
                  <a:srgbClr val="0E1220"/>
                </a:solidFill>
                <a:latin typeface="Arial" pitchFamily="34" charset="0"/>
                <a:ea typeface="Arial" pitchFamily="34" charset="-122"/>
                <a:cs typeface="Arial" pitchFamily="34" charset="-120"/>
              </a:rPr>
              <a:t>Hello, Flutter</a:t>
            </a:r>
            <a:endParaRPr lang="en-US" sz="1350" dirty="0"/>
          </a:p>
        </p:txBody>
      </p:sp>
      <p:sp>
        <p:nvSpPr>
          <p:cNvPr id="22" name="Text 20"/>
          <p:cNvSpPr txBox="1"/>
          <p:nvPr/>
        </p:nvSpPr>
        <p:spPr>
          <a:xfrm>
            <a:off x="1447800" y="4114800"/>
            <a:ext cx="2603500" cy="215900"/>
          </a:xfrm>
          <a:prstGeom prst="rect">
            <a:avLst/>
          </a:prstGeom>
          <a:noFill/>
          <a:ln/>
        </p:spPr>
        <p:txBody>
          <a:bodyPr wrap="square" lIns="0" tIns="0" rIns="0" bIns="0" rtlCol="0" anchor="t"/>
          <a:lstStyle/>
          <a:p>
            <a:pPr indent="0" marL="0">
              <a:buNone/>
            </a:pPr>
            <a:r>
              <a:rPr lang="en-US" sz="1050" dirty="0">
                <a:solidFill>
                  <a:srgbClr val="4A5568"/>
                </a:solidFill>
                <a:latin typeface="Arial" pitchFamily="34" charset="0"/>
                <a:ea typeface="Arial" pitchFamily="34" charset="-122"/>
                <a:cs typeface="Arial" pitchFamily="34" charset="-120"/>
              </a:rPr>
              <a:t>runApp · widgets</a:t>
            </a:r>
            <a:endParaRPr lang="en-US" sz="1050" dirty="0"/>
          </a:p>
        </p:txBody>
      </p:sp>
      <p:sp>
        <p:nvSpPr>
          <p:cNvPr id="23" name="Shape 21"/>
          <p:cNvSpPr/>
          <p:nvPr/>
        </p:nvSpPr>
        <p:spPr>
          <a:xfrm>
            <a:off x="812800" y="4508500"/>
            <a:ext cx="3327400" cy="635000"/>
          </a:xfrm>
          <a:prstGeom prst="roundRect">
            <a:avLst>
              <a:gd name="adj" fmla="val 25920"/>
            </a:avLst>
          </a:prstGeom>
          <a:solidFill>
            <a:srgbClr val="FFFFFF"/>
          </a:solidFill>
          <a:ln w="12700">
            <a:solidFill>
              <a:srgbClr val="E1E7F0"/>
            </a:solidFill>
            <a:prstDash val="solid"/>
          </a:ln>
        </p:spPr>
      </p:sp>
      <p:sp>
        <p:nvSpPr>
          <p:cNvPr id="24" name="Shape 22"/>
          <p:cNvSpPr/>
          <p:nvPr/>
        </p:nvSpPr>
        <p:spPr>
          <a:xfrm>
            <a:off x="939800" y="4635500"/>
            <a:ext cx="381000" cy="381000"/>
          </a:xfrm>
          <a:prstGeom prst="roundRect">
            <a:avLst>
              <a:gd name="adj" fmla="val 48000"/>
            </a:avLst>
          </a:prstGeom>
          <a:solidFill>
            <a:srgbClr val="0468D7"/>
          </a:solidFill>
          <a:ln w="12700">
            <a:solidFill>
              <a:srgbClr val="0468D7"/>
            </a:solidFill>
            <a:prstDash val="solid"/>
          </a:ln>
        </p:spPr>
      </p:sp>
      <p:sp>
        <p:nvSpPr>
          <p:cNvPr id="25" name="Text 23"/>
          <p:cNvSpPr txBox="1"/>
          <p:nvPr/>
        </p:nvSpPr>
        <p:spPr>
          <a:xfrm>
            <a:off x="939800" y="4635500"/>
            <a:ext cx="381000" cy="381000"/>
          </a:xfrm>
          <a:prstGeom prst="rect">
            <a:avLst/>
          </a:prstGeom>
          <a:noFill/>
          <a:ln/>
        </p:spPr>
        <p:txBody>
          <a:bodyPr wrap="square" lIns="0" tIns="0" rIns="0" bIns="0" rtlCol="0" anchor="ctr"/>
          <a:lstStyle/>
          <a:p>
            <a:pPr algn="ctr" indent="0" marL="0">
              <a:buNone/>
            </a:pPr>
            <a:r>
              <a:rPr lang="en-US" sz="1350" b="1" dirty="0">
                <a:solidFill>
                  <a:srgbClr val="F4F7FB"/>
                </a:solidFill>
                <a:latin typeface="Arial" pitchFamily="34" charset="0"/>
                <a:ea typeface="Arial" pitchFamily="34" charset="-122"/>
                <a:cs typeface="Arial" pitchFamily="34" charset="-120"/>
              </a:rPr>
              <a:t>2</a:t>
            </a:r>
            <a:endParaRPr lang="en-US" sz="1350" dirty="0"/>
          </a:p>
        </p:txBody>
      </p:sp>
      <p:sp>
        <p:nvSpPr>
          <p:cNvPr id="26" name="Text 24"/>
          <p:cNvSpPr txBox="1"/>
          <p:nvPr/>
        </p:nvSpPr>
        <p:spPr>
          <a:xfrm>
            <a:off x="1447800" y="4597400"/>
            <a:ext cx="2603500" cy="254000"/>
          </a:xfrm>
          <a:prstGeom prst="rect">
            <a:avLst/>
          </a:prstGeom>
          <a:noFill/>
          <a:ln/>
        </p:spPr>
        <p:txBody>
          <a:bodyPr wrap="square" lIns="0" tIns="0" rIns="0" bIns="0" rtlCol="0" anchor="t"/>
          <a:lstStyle/>
          <a:p>
            <a:pPr indent="0" marL="0">
              <a:buNone/>
            </a:pPr>
            <a:r>
              <a:rPr lang="en-US" sz="1350" b="1" dirty="0">
                <a:solidFill>
                  <a:srgbClr val="0E1220"/>
                </a:solidFill>
                <a:latin typeface="Arial" pitchFamily="34" charset="0"/>
                <a:ea typeface="Arial" pitchFamily="34" charset="-122"/>
                <a:cs typeface="Arial" pitchFamily="34" charset="-120"/>
              </a:rPr>
              <a:t>A real page</a:t>
            </a:r>
            <a:endParaRPr lang="en-US" sz="1350" dirty="0"/>
          </a:p>
        </p:txBody>
      </p:sp>
      <p:sp>
        <p:nvSpPr>
          <p:cNvPr id="27" name="Text 25"/>
          <p:cNvSpPr txBox="1"/>
          <p:nvPr/>
        </p:nvSpPr>
        <p:spPr>
          <a:xfrm>
            <a:off x="1447800" y="4851400"/>
            <a:ext cx="2603500" cy="215900"/>
          </a:xfrm>
          <a:prstGeom prst="rect">
            <a:avLst/>
          </a:prstGeom>
          <a:noFill/>
          <a:ln/>
        </p:spPr>
        <p:txBody>
          <a:bodyPr wrap="square" lIns="0" tIns="0" rIns="0" bIns="0" rtlCol="0" anchor="t"/>
          <a:lstStyle/>
          <a:p>
            <a:pPr indent="0" marL="0">
              <a:buNone/>
            </a:pPr>
            <a:r>
              <a:rPr lang="en-US" sz="1050" dirty="0">
                <a:solidFill>
                  <a:srgbClr val="4A5568"/>
                </a:solidFill>
                <a:latin typeface="Arial" pitchFamily="34" charset="0"/>
                <a:ea typeface="Arial" pitchFamily="34" charset="-122"/>
                <a:cs typeface="Arial" pitchFamily="34" charset="-120"/>
              </a:rPr>
              <a:t>Scaffold · AppBar</a:t>
            </a:r>
            <a:endParaRPr lang="en-US" sz="1050" dirty="0"/>
          </a:p>
        </p:txBody>
      </p:sp>
      <p:sp>
        <p:nvSpPr>
          <p:cNvPr id="28" name="Shape 26"/>
          <p:cNvSpPr/>
          <p:nvPr/>
        </p:nvSpPr>
        <p:spPr>
          <a:xfrm>
            <a:off x="812800" y="5245100"/>
            <a:ext cx="3327400" cy="635000"/>
          </a:xfrm>
          <a:prstGeom prst="roundRect">
            <a:avLst>
              <a:gd name="adj" fmla="val 25920"/>
            </a:avLst>
          </a:prstGeom>
          <a:solidFill>
            <a:srgbClr val="FFFFFF"/>
          </a:solidFill>
          <a:ln w="12700">
            <a:solidFill>
              <a:srgbClr val="E1E7F0"/>
            </a:solidFill>
            <a:prstDash val="solid"/>
          </a:ln>
        </p:spPr>
      </p:sp>
      <p:sp>
        <p:nvSpPr>
          <p:cNvPr id="29" name="Shape 27"/>
          <p:cNvSpPr/>
          <p:nvPr/>
        </p:nvSpPr>
        <p:spPr>
          <a:xfrm>
            <a:off x="939800" y="5372100"/>
            <a:ext cx="381000" cy="381000"/>
          </a:xfrm>
          <a:prstGeom prst="roundRect">
            <a:avLst>
              <a:gd name="adj" fmla="val 48000"/>
            </a:avLst>
          </a:prstGeom>
          <a:solidFill>
            <a:srgbClr val="0468D7"/>
          </a:solidFill>
          <a:ln w="12700">
            <a:solidFill>
              <a:srgbClr val="0468D7"/>
            </a:solidFill>
            <a:prstDash val="solid"/>
          </a:ln>
        </p:spPr>
      </p:sp>
      <p:sp>
        <p:nvSpPr>
          <p:cNvPr id="30" name="Text 28"/>
          <p:cNvSpPr txBox="1"/>
          <p:nvPr/>
        </p:nvSpPr>
        <p:spPr>
          <a:xfrm>
            <a:off x="939800" y="5372100"/>
            <a:ext cx="381000" cy="381000"/>
          </a:xfrm>
          <a:prstGeom prst="rect">
            <a:avLst/>
          </a:prstGeom>
          <a:noFill/>
          <a:ln/>
        </p:spPr>
        <p:txBody>
          <a:bodyPr wrap="square" lIns="0" tIns="0" rIns="0" bIns="0" rtlCol="0" anchor="ctr"/>
          <a:lstStyle/>
          <a:p>
            <a:pPr algn="ctr" indent="0" marL="0">
              <a:buNone/>
            </a:pPr>
            <a:r>
              <a:rPr lang="en-US" sz="1350" b="1" dirty="0">
                <a:solidFill>
                  <a:srgbClr val="F4F7FB"/>
                </a:solidFill>
                <a:latin typeface="Arial" pitchFamily="34" charset="0"/>
                <a:ea typeface="Arial" pitchFamily="34" charset="-122"/>
                <a:cs typeface="Arial" pitchFamily="34" charset="-120"/>
              </a:rPr>
              <a:t>3</a:t>
            </a:r>
            <a:endParaRPr lang="en-US" sz="1350" dirty="0"/>
          </a:p>
        </p:txBody>
      </p:sp>
      <p:sp>
        <p:nvSpPr>
          <p:cNvPr id="31" name="Text 29"/>
          <p:cNvSpPr txBox="1"/>
          <p:nvPr/>
        </p:nvSpPr>
        <p:spPr>
          <a:xfrm>
            <a:off x="1447800" y="5334000"/>
            <a:ext cx="2603500" cy="254000"/>
          </a:xfrm>
          <a:prstGeom prst="rect">
            <a:avLst/>
          </a:prstGeom>
          <a:noFill/>
          <a:ln/>
        </p:spPr>
        <p:txBody>
          <a:bodyPr wrap="square" lIns="0" tIns="0" rIns="0" bIns="0" rtlCol="0" anchor="t"/>
          <a:lstStyle/>
          <a:p>
            <a:pPr indent="0" marL="0">
              <a:buNone/>
            </a:pPr>
            <a:r>
              <a:rPr lang="en-US" sz="1350" b="1" dirty="0">
                <a:solidFill>
                  <a:srgbClr val="0E1220"/>
                </a:solidFill>
                <a:latin typeface="Arial" pitchFamily="34" charset="0"/>
                <a:ea typeface="Arial" pitchFamily="34" charset="-122"/>
                <a:cs typeface="Arial" pitchFamily="34" charset="-120"/>
              </a:rPr>
              <a:t>Your own widgets</a:t>
            </a:r>
            <a:endParaRPr lang="en-US" sz="1350" dirty="0"/>
          </a:p>
        </p:txBody>
      </p:sp>
      <p:sp>
        <p:nvSpPr>
          <p:cNvPr id="32" name="Text 30"/>
          <p:cNvSpPr txBox="1"/>
          <p:nvPr/>
        </p:nvSpPr>
        <p:spPr>
          <a:xfrm>
            <a:off x="1447800" y="5588000"/>
            <a:ext cx="2603500" cy="215900"/>
          </a:xfrm>
          <a:prstGeom prst="rect">
            <a:avLst/>
          </a:prstGeom>
          <a:noFill/>
          <a:ln/>
        </p:spPr>
        <p:txBody>
          <a:bodyPr wrap="square" lIns="0" tIns="0" rIns="0" bIns="0" rtlCol="0" anchor="t"/>
          <a:lstStyle/>
          <a:p>
            <a:pPr indent="0" marL="0">
              <a:buNone/>
            </a:pPr>
            <a:r>
              <a:rPr lang="en-US" sz="1050" dirty="0">
                <a:solidFill>
                  <a:srgbClr val="4A5568"/>
                </a:solidFill>
                <a:latin typeface="Arial" pitchFamily="34" charset="0"/>
                <a:ea typeface="Arial" pitchFamily="34" charset="-122"/>
                <a:cs typeface="Arial" pitchFamily="34" charset="-120"/>
              </a:rPr>
              <a:t>classes · build</a:t>
            </a:r>
            <a:endParaRPr lang="en-US" sz="1050" dirty="0"/>
          </a:p>
        </p:txBody>
      </p:sp>
      <p:sp>
        <p:nvSpPr>
          <p:cNvPr id="33" name="Shape 31"/>
          <p:cNvSpPr/>
          <p:nvPr/>
        </p:nvSpPr>
        <p:spPr>
          <a:xfrm>
            <a:off x="4292600" y="2298700"/>
            <a:ext cx="3327400" cy="635000"/>
          </a:xfrm>
          <a:prstGeom prst="roundRect">
            <a:avLst>
              <a:gd name="adj" fmla="val 25920"/>
            </a:avLst>
          </a:prstGeom>
          <a:solidFill>
            <a:srgbClr val="FFFFFF"/>
          </a:solidFill>
          <a:ln w="12700">
            <a:solidFill>
              <a:srgbClr val="E1E7F0"/>
            </a:solidFill>
            <a:prstDash val="solid"/>
          </a:ln>
        </p:spPr>
      </p:sp>
      <p:sp>
        <p:nvSpPr>
          <p:cNvPr id="34" name="Shape 32"/>
          <p:cNvSpPr/>
          <p:nvPr/>
        </p:nvSpPr>
        <p:spPr>
          <a:xfrm>
            <a:off x="4419600" y="2425700"/>
            <a:ext cx="381000" cy="381000"/>
          </a:xfrm>
          <a:prstGeom prst="roundRect">
            <a:avLst>
              <a:gd name="adj" fmla="val 48000"/>
            </a:avLst>
          </a:prstGeom>
          <a:solidFill>
            <a:srgbClr val="0468D7"/>
          </a:solidFill>
          <a:ln w="12700">
            <a:solidFill>
              <a:srgbClr val="0468D7"/>
            </a:solidFill>
            <a:prstDash val="solid"/>
          </a:ln>
        </p:spPr>
      </p:sp>
      <p:sp>
        <p:nvSpPr>
          <p:cNvPr id="35" name="Text 33"/>
          <p:cNvSpPr txBox="1"/>
          <p:nvPr/>
        </p:nvSpPr>
        <p:spPr>
          <a:xfrm>
            <a:off x="4419600" y="2425700"/>
            <a:ext cx="381000" cy="381000"/>
          </a:xfrm>
          <a:prstGeom prst="rect">
            <a:avLst/>
          </a:prstGeom>
          <a:noFill/>
          <a:ln/>
        </p:spPr>
        <p:txBody>
          <a:bodyPr wrap="square" lIns="0" tIns="0" rIns="0" bIns="0" rtlCol="0" anchor="ctr"/>
          <a:lstStyle/>
          <a:p>
            <a:pPr algn="ctr" indent="0" marL="0">
              <a:buNone/>
            </a:pPr>
            <a:r>
              <a:rPr lang="en-US" sz="1350" b="1" dirty="0">
                <a:solidFill>
                  <a:srgbClr val="F4F7FB"/>
                </a:solidFill>
                <a:latin typeface="Arial" pitchFamily="34" charset="0"/>
                <a:ea typeface="Arial" pitchFamily="34" charset="-122"/>
                <a:cs typeface="Arial" pitchFamily="34" charset="-120"/>
              </a:rPr>
              <a:t>4</a:t>
            </a:r>
            <a:endParaRPr lang="en-US" sz="1350" dirty="0"/>
          </a:p>
        </p:txBody>
      </p:sp>
      <p:sp>
        <p:nvSpPr>
          <p:cNvPr id="36" name="Text 34"/>
          <p:cNvSpPr txBox="1"/>
          <p:nvPr/>
        </p:nvSpPr>
        <p:spPr>
          <a:xfrm>
            <a:off x="4927600" y="2387600"/>
            <a:ext cx="2603500" cy="254000"/>
          </a:xfrm>
          <a:prstGeom prst="rect">
            <a:avLst/>
          </a:prstGeom>
          <a:noFill/>
          <a:ln/>
        </p:spPr>
        <p:txBody>
          <a:bodyPr wrap="square" lIns="0" tIns="0" rIns="0" bIns="0" rtlCol="0" anchor="t"/>
          <a:lstStyle/>
          <a:p>
            <a:pPr indent="0" marL="0">
              <a:buNone/>
            </a:pPr>
            <a:r>
              <a:rPr lang="en-US" sz="1350" b="1" dirty="0">
                <a:solidFill>
                  <a:srgbClr val="0E1220"/>
                </a:solidFill>
                <a:latin typeface="Arial" pitchFamily="34" charset="0"/>
                <a:ea typeface="Arial" pitchFamily="34" charset="-122"/>
                <a:cs typeface="Arial" pitchFamily="34" charset="-120"/>
              </a:rPr>
              <a:t>Show a list</a:t>
            </a:r>
            <a:endParaRPr lang="en-US" sz="1350" dirty="0"/>
          </a:p>
        </p:txBody>
      </p:sp>
      <p:sp>
        <p:nvSpPr>
          <p:cNvPr id="37" name="Text 35"/>
          <p:cNvSpPr txBox="1"/>
          <p:nvPr/>
        </p:nvSpPr>
        <p:spPr>
          <a:xfrm>
            <a:off x="4927600" y="2641600"/>
            <a:ext cx="2603500" cy="215900"/>
          </a:xfrm>
          <a:prstGeom prst="rect">
            <a:avLst/>
          </a:prstGeom>
          <a:noFill/>
          <a:ln/>
        </p:spPr>
        <p:txBody>
          <a:bodyPr wrap="square" lIns="0" tIns="0" rIns="0" bIns="0" rtlCol="0" anchor="t"/>
          <a:lstStyle/>
          <a:p>
            <a:pPr indent="0" marL="0">
              <a:buNone/>
            </a:pPr>
            <a:r>
              <a:rPr lang="en-US" sz="1050" dirty="0">
                <a:solidFill>
                  <a:srgbClr val="4A5568"/>
                </a:solidFill>
                <a:latin typeface="Arial" pitchFamily="34" charset="0"/>
                <a:ea typeface="Arial" pitchFamily="34" charset="-122"/>
                <a:cs typeface="Arial" pitchFamily="34" charset="-120"/>
              </a:rPr>
              <a:t>ListView.builder</a:t>
            </a:r>
            <a:endParaRPr lang="en-US" sz="1050" dirty="0"/>
          </a:p>
        </p:txBody>
      </p:sp>
      <p:sp>
        <p:nvSpPr>
          <p:cNvPr id="38" name="Shape 36"/>
          <p:cNvSpPr/>
          <p:nvPr/>
        </p:nvSpPr>
        <p:spPr>
          <a:xfrm>
            <a:off x="4292600" y="3035300"/>
            <a:ext cx="3327400" cy="635000"/>
          </a:xfrm>
          <a:prstGeom prst="roundRect">
            <a:avLst>
              <a:gd name="adj" fmla="val 25920"/>
            </a:avLst>
          </a:prstGeom>
          <a:solidFill>
            <a:srgbClr val="FFFFFF"/>
          </a:solidFill>
          <a:ln w="12700">
            <a:solidFill>
              <a:srgbClr val="E1E7F0"/>
            </a:solidFill>
            <a:prstDash val="solid"/>
          </a:ln>
        </p:spPr>
      </p:sp>
      <p:sp>
        <p:nvSpPr>
          <p:cNvPr id="39" name="Shape 37"/>
          <p:cNvSpPr/>
          <p:nvPr/>
        </p:nvSpPr>
        <p:spPr>
          <a:xfrm>
            <a:off x="4419600" y="3162300"/>
            <a:ext cx="381000" cy="381000"/>
          </a:xfrm>
          <a:prstGeom prst="roundRect">
            <a:avLst>
              <a:gd name="adj" fmla="val 48000"/>
            </a:avLst>
          </a:prstGeom>
          <a:solidFill>
            <a:srgbClr val="0468D7"/>
          </a:solidFill>
          <a:ln w="12700">
            <a:solidFill>
              <a:srgbClr val="0468D7"/>
            </a:solidFill>
            <a:prstDash val="solid"/>
          </a:ln>
        </p:spPr>
      </p:sp>
      <p:sp>
        <p:nvSpPr>
          <p:cNvPr id="40" name="Text 38"/>
          <p:cNvSpPr txBox="1"/>
          <p:nvPr/>
        </p:nvSpPr>
        <p:spPr>
          <a:xfrm>
            <a:off x="4419600" y="3162300"/>
            <a:ext cx="381000" cy="381000"/>
          </a:xfrm>
          <a:prstGeom prst="rect">
            <a:avLst/>
          </a:prstGeom>
          <a:noFill/>
          <a:ln/>
        </p:spPr>
        <p:txBody>
          <a:bodyPr wrap="square" lIns="0" tIns="0" rIns="0" bIns="0" rtlCol="0" anchor="ctr"/>
          <a:lstStyle/>
          <a:p>
            <a:pPr algn="ctr" indent="0" marL="0">
              <a:buNone/>
            </a:pPr>
            <a:r>
              <a:rPr lang="en-US" sz="1350" b="1" dirty="0">
                <a:solidFill>
                  <a:srgbClr val="F4F7FB"/>
                </a:solidFill>
                <a:latin typeface="Arial" pitchFamily="34" charset="0"/>
                <a:ea typeface="Arial" pitchFamily="34" charset="-122"/>
                <a:cs typeface="Arial" pitchFamily="34" charset="-120"/>
              </a:rPr>
              <a:t>5</a:t>
            </a:r>
            <a:endParaRPr lang="en-US" sz="1350" dirty="0"/>
          </a:p>
        </p:txBody>
      </p:sp>
      <p:sp>
        <p:nvSpPr>
          <p:cNvPr id="41" name="Text 39"/>
          <p:cNvSpPr txBox="1"/>
          <p:nvPr/>
        </p:nvSpPr>
        <p:spPr>
          <a:xfrm>
            <a:off x="4927600" y="3124200"/>
            <a:ext cx="2603500" cy="254000"/>
          </a:xfrm>
          <a:prstGeom prst="rect">
            <a:avLst/>
          </a:prstGeom>
          <a:noFill/>
          <a:ln/>
        </p:spPr>
        <p:txBody>
          <a:bodyPr wrap="square" lIns="0" tIns="0" rIns="0" bIns="0" rtlCol="0" anchor="t"/>
          <a:lstStyle/>
          <a:p>
            <a:pPr indent="0" marL="0">
              <a:buNone/>
            </a:pPr>
            <a:r>
              <a:rPr lang="en-US" sz="1350" b="1" dirty="0">
                <a:solidFill>
                  <a:srgbClr val="0E1220"/>
                </a:solidFill>
                <a:latin typeface="Arial" pitchFamily="34" charset="0"/>
                <a:ea typeface="Arial" pitchFamily="34" charset="-122"/>
                <a:cs typeface="Arial" pitchFamily="34" charset="-120"/>
              </a:rPr>
              <a:t>Make it react</a:t>
            </a:r>
            <a:endParaRPr lang="en-US" sz="1350" dirty="0"/>
          </a:p>
        </p:txBody>
      </p:sp>
      <p:sp>
        <p:nvSpPr>
          <p:cNvPr id="42" name="Text 40"/>
          <p:cNvSpPr txBox="1"/>
          <p:nvPr/>
        </p:nvSpPr>
        <p:spPr>
          <a:xfrm>
            <a:off x="4927600" y="3378200"/>
            <a:ext cx="2603500" cy="215900"/>
          </a:xfrm>
          <a:prstGeom prst="rect">
            <a:avLst/>
          </a:prstGeom>
          <a:noFill/>
          <a:ln/>
        </p:spPr>
        <p:txBody>
          <a:bodyPr wrap="square" lIns="0" tIns="0" rIns="0" bIns="0" rtlCol="0" anchor="t"/>
          <a:lstStyle/>
          <a:p>
            <a:pPr indent="0" marL="0">
              <a:buNone/>
            </a:pPr>
            <a:r>
              <a:rPr lang="en-US" sz="1050" dirty="0">
                <a:solidFill>
                  <a:srgbClr val="4A5568"/>
                </a:solidFill>
                <a:latin typeface="Arial" pitchFamily="34" charset="0"/>
                <a:ea typeface="Arial" pitchFamily="34" charset="-122"/>
                <a:cs typeface="Arial" pitchFamily="34" charset="-120"/>
              </a:rPr>
              <a:t>StatefulWidget · setState</a:t>
            </a:r>
            <a:endParaRPr lang="en-US" sz="1050" dirty="0"/>
          </a:p>
        </p:txBody>
      </p:sp>
      <p:sp>
        <p:nvSpPr>
          <p:cNvPr id="43" name="Shape 41"/>
          <p:cNvSpPr/>
          <p:nvPr/>
        </p:nvSpPr>
        <p:spPr>
          <a:xfrm>
            <a:off x="4292600" y="3771900"/>
            <a:ext cx="3327400" cy="635000"/>
          </a:xfrm>
          <a:prstGeom prst="roundRect">
            <a:avLst>
              <a:gd name="adj" fmla="val 25920"/>
            </a:avLst>
          </a:prstGeom>
          <a:solidFill>
            <a:srgbClr val="FFFFFF"/>
          </a:solidFill>
          <a:ln w="12700">
            <a:solidFill>
              <a:srgbClr val="E1E7F0"/>
            </a:solidFill>
            <a:prstDash val="solid"/>
          </a:ln>
        </p:spPr>
      </p:sp>
      <p:sp>
        <p:nvSpPr>
          <p:cNvPr id="44" name="Shape 42"/>
          <p:cNvSpPr/>
          <p:nvPr/>
        </p:nvSpPr>
        <p:spPr>
          <a:xfrm>
            <a:off x="4419600" y="3898900"/>
            <a:ext cx="381000" cy="381000"/>
          </a:xfrm>
          <a:prstGeom prst="roundRect">
            <a:avLst>
              <a:gd name="adj" fmla="val 48000"/>
            </a:avLst>
          </a:prstGeom>
          <a:solidFill>
            <a:srgbClr val="5B3FD6"/>
          </a:solidFill>
          <a:ln w="12700">
            <a:solidFill>
              <a:srgbClr val="5B3FD6"/>
            </a:solidFill>
            <a:prstDash val="solid"/>
          </a:ln>
        </p:spPr>
      </p:sp>
      <p:sp>
        <p:nvSpPr>
          <p:cNvPr id="45" name="Text 43"/>
          <p:cNvSpPr txBox="1"/>
          <p:nvPr/>
        </p:nvSpPr>
        <p:spPr>
          <a:xfrm>
            <a:off x="4419600" y="3898900"/>
            <a:ext cx="381000" cy="381000"/>
          </a:xfrm>
          <a:prstGeom prst="rect">
            <a:avLst/>
          </a:prstGeom>
          <a:noFill/>
          <a:ln/>
        </p:spPr>
        <p:txBody>
          <a:bodyPr wrap="square" lIns="0" tIns="0" rIns="0" bIns="0" rtlCol="0" anchor="ctr"/>
          <a:lstStyle/>
          <a:p>
            <a:pPr algn="ctr" indent="0" marL="0">
              <a:buNone/>
            </a:pPr>
            <a:r>
              <a:rPr lang="en-US" sz="1350" b="1" dirty="0">
                <a:solidFill>
                  <a:srgbClr val="F4F7FB"/>
                </a:solidFill>
                <a:latin typeface="Arial" pitchFamily="34" charset="0"/>
                <a:ea typeface="Arial" pitchFamily="34" charset="-122"/>
                <a:cs typeface="Arial" pitchFamily="34" charset="-120"/>
              </a:rPr>
              <a:t>6</a:t>
            </a:r>
            <a:endParaRPr lang="en-US" sz="1350" dirty="0"/>
          </a:p>
        </p:txBody>
      </p:sp>
      <p:sp>
        <p:nvSpPr>
          <p:cNvPr id="46" name="Text 44"/>
          <p:cNvSpPr txBox="1"/>
          <p:nvPr/>
        </p:nvSpPr>
        <p:spPr>
          <a:xfrm>
            <a:off x="4927600" y="3860800"/>
            <a:ext cx="2603500" cy="254000"/>
          </a:xfrm>
          <a:prstGeom prst="rect">
            <a:avLst/>
          </a:prstGeom>
          <a:noFill/>
          <a:ln/>
        </p:spPr>
        <p:txBody>
          <a:bodyPr wrap="square" lIns="0" tIns="0" rIns="0" bIns="0" rtlCol="0" anchor="t"/>
          <a:lstStyle/>
          <a:p>
            <a:pPr indent="0" marL="0">
              <a:buNone/>
            </a:pPr>
            <a:r>
              <a:rPr lang="en-US" sz="1350" b="1" dirty="0">
                <a:solidFill>
                  <a:srgbClr val="0E1220"/>
                </a:solidFill>
                <a:latin typeface="Arial" pitchFamily="34" charset="0"/>
                <a:ea typeface="Arial" pitchFamily="34" charset="-122"/>
                <a:cs typeface="Arial" pitchFamily="34" charset="-120"/>
              </a:rPr>
              <a:t>Type your own items</a:t>
            </a:r>
            <a:endParaRPr lang="en-US" sz="1350" dirty="0"/>
          </a:p>
        </p:txBody>
      </p:sp>
      <p:sp>
        <p:nvSpPr>
          <p:cNvPr id="47" name="Text 45"/>
          <p:cNvSpPr txBox="1"/>
          <p:nvPr/>
        </p:nvSpPr>
        <p:spPr>
          <a:xfrm>
            <a:off x="4927600" y="4114800"/>
            <a:ext cx="2603500" cy="215900"/>
          </a:xfrm>
          <a:prstGeom prst="rect">
            <a:avLst/>
          </a:prstGeom>
          <a:noFill/>
          <a:ln/>
        </p:spPr>
        <p:txBody>
          <a:bodyPr wrap="square" lIns="0" tIns="0" rIns="0" bIns="0" rtlCol="0" anchor="t"/>
          <a:lstStyle/>
          <a:p>
            <a:pPr indent="0" marL="0">
              <a:buNone/>
            </a:pPr>
            <a:r>
              <a:rPr lang="en-US" sz="1050" dirty="0">
                <a:solidFill>
                  <a:srgbClr val="4A5568"/>
                </a:solidFill>
                <a:latin typeface="Arial" pitchFamily="34" charset="0"/>
                <a:ea typeface="Arial" pitchFamily="34" charset="-122"/>
                <a:cs typeface="Arial" pitchFamily="34" charset="-120"/>
              </a:rPr>
              <a:t>TextField · SnackBar</a:t>
            </a:r>
            <a:endParaRPr lang="en-US" sz="1050" dirty="0"/>
          </a:p>
        </p:txBody>
      </p:sp>
      <p:sp>
        <p:nvSpPr>
          <p:cNvPr id="48" name="Shape 46"/>
          <p:cNvSpPr/>
          <p:nvPr/>
        </p:nvSpPr>
        <p:spPr>
          <a:xfrm>
            <a:off x="4292600" y="4508500"/>
            <a:ext cx="3327400" cy="635000"/>
          </a:xfrm>
          <a:prstGeom prst="roundRect">
            <a:avLst>
              <a:gd name="adj" fmla="val 25920"/>
            </a:avLst>
          </a:prstGeom>
          <a:solidFill>
            <a:srgbClr val="FFFFFF"/>
          </a:solidFill>
          <a:ln w="12700">
            <a:solidFill>
              <a:srgbClr val="E1E7F0"/>
            </a:solidFill>
            <a:prstDash val="solid"/>
          </a:ln>
        </p:spPr>
      </p:sp>
      <p:sp>
        <p:nvSpPr>
          <p:cNvPr id="49" name="Shape 47"/>
          <p:cNvSpPr/>
          <p:nvPr/>
        </p:nvSpPr>
        <p:spPr>
          <a:xfrm>
            <a:off x="4419600" y="4635500"/>
            <a:ext cx="381000" cy="381000"/>
          </a:xfrm>
          <a:prstGeom prst="roundRect">
            <a:avLst>
              <a:gd name="adj" fmla="val 48000"/>
            </a:avLst>
          </a:prstGeom>
          <a:solidFill>
            <a:srgbClr val="5B3FD6"/>
          </a:solidFill>
          <a:ln w="12700">
            <a:solidFill>
              <a:srgbClr val="5B3FD6"/>
            </a:solidFill>
            <a:prstDash val="solid"/>
          </a:ln>
        </p:spPr>
      </p:sp>
      <p:sp>
        <p:nvSpPr>
          <p:cNvPr id="50" name="Text 48"/>
          <p:cNvSpPr txBox="1"/>
          <p:nvPr/>
        </p:nvSpPr>
        <p:spPr>
          <a:xfrm>
            <a:off x="4419600" y="4635500"/>
            <a:ext cx="381000" cy="381000"/>
          </a:xfrm>
          <a:prstGeom prst="rect">
            <a:avLst/>
          </a:prstGeom>
          <a:noFill/>
          <a:ln/>
        </p:spPr>
        <p:txBody>
          <a:bodyPr wrap="square" lIns="0" tIns="0" rIns="0" bIns="0" rtlCol="0" anchor="ctr"/>
          <a:lstStyle/>
          <a:p>
            <a:pPr algn="ctr" indent="0" marL="0">
              <a:buNone/>
            </a:pPr>
            <a:r>
              <a:rPr lang="en-US" sz="1350" b="1" dirty="0">
                <a:solidFill>
                  <a:srgbClr val="F4F7FB"/>
                </a:solidFill>
                <a:latin typeface="Arial" pitchFamily="34" charset="0"/>
                <a:ea typeface="Arial" pitchFamily="34" charset="-122"/>
                <a:cs typeface="Arial" pitchFamily="34" charset="-120"/>
              </a:rPr>
              <a:t>7</a:t>
            </a:r>
            <a:endParaRPr lang="en-US" sz="1350" dirty="0"/>
          </a:p>
        </p:txBody>
      </p:sp>
      <p:sp>
        <p:nvSpPr>
          <p:cNvPr id="51" name="Text 49"/>
          <p:cNvSpPr txBox="1"/>
          <p:nvPr/>
        </p:nvSpPr>
        <p:spPr>
          <a:xfrm>
            <a:off x="4927600" y="4597400"/>
            <a:ext cx="2603500" cy="254000"/>
          </a:xfrm>
          <a:prstGeom prst="rect">
            <a:avLst/>
          </a:prstGeom>
          <a:noFill/>
          <a:ln/>
        </p:spPr>
        <p:txBody>
          <a:bodyPr wrap="square" lIns="0" tIns="0" rIns="0" bIns="0" rtlCol="0" anchor="t"/>
          <a:lstStyle/>
          <a:p>
            <a:pPr indent="0" marL="0">
              <a:buNone/>
            </a:pPr>
            <a:r>
              <a:rPr lang="en-US" sz="1350" b="1" dirty="0">
                <a:solidFill>
                  <a:srgbClr val="0E1220"/>
                </a:solidFill>
                <a:latin typeface="Arial" pitchFamily="34" charset="0"/>
                <a:ea typeface="Arial" pitchFamily="34" charset="-122"/>
                <a:cs typeface="Arial" pitchFamily="34" charset="-120"/>
              </a:rPr>
              <a:t>Delete an item</a:t>
            </a:r>
            <a:endParaRPr lang="en-US" sz="1350" dirty="0"/>
          </a:p>
        </p:txBody>
      </p:sp>
      <p:sp>
        <p:nvSpPr>
          <p:cNvPr id="52" name="Text 50"/>
          <p:cNvSpPr txBox="1"/>
          <p:nvPr/>
        </p:nvSpPr>
        <p:spPr>
          <a:xfrm>
            <a:off x="4927600" y="4851400"/>
            <a:ext cx="2603500" cy="215900"/>
          </a:xfrm>
          <a:prstGeom prst="rect">
            <a:avLst/>
          </a:prstGeom>
          <a:noFill/>
          <a:ln/>
        </p:spPr>
        <p:txBody>
          <a:bodyPr wrap="square" lIns="0" tIns="0" rIns="0" bIns="0" rtlCol="0" anchor="t"/>
          <a:lstStyle/>
          <a:p>
            <a:pPr indent="0" marL="0">
              <a:buNone/>
            </a:pPr>
            <a:r>
              <a:rPr lang="en-US" sz="1050" dirty="0">
                <a:solidFill>
                  <a:srgbClr val="4A5568"/>
                </a:solidFill>
                <a:latin typeface="Arial" pitchFamily="34" charset="0"/>
                <a:ea typeface="Arial" pitchFamily="34" charset="-122"/>
                <a:cs typeface="Arial" pitchFamily="34" charset="-120"/>
              </a:rPr>
              <a:t>IconButton · removeAt</a:t>
            </a:r>
            <a:endParaRPr lang="en-US" sz="1050" dirty="0"/>
          </a:p>
        </p:txBody>
      </p:sp>
      <p:sp>
        <p:nvSpPr>
          <p:cNvPr id="53" name="Shape 51"/>
          <p:cNvSpPr/>
          <p:nvPr/>
        </p:nvSpPr>
        <p:spPr>
          <a:xfrm>
            <a:off x="4292600" y="5245100"/>
            <a:ext cx="3327400" cy="635000"/>
          </a:xfrm>
          <a:prstGeom prst="roundRect">
            <a:avLst>
              <a:gd name="adj" fmla="val 25920"/>
            </a:avLst>
          </a:prstGeom>
          <a:solidFill>
            <a:srgbClr val="FFFFFF"/>
          </a:solidFill>
          <a:ln w="12700">
            <a:solidFill>
              <a:srgbClr val="E1E7F0"/>
            </a:solidFill>
            <a:prstDash val="solid"/>
          </a:ln>
        </p:spPr>
      </p:sp>
      <p:sp>
        <p:nvSpPr>
          <p:cNvPr id="54" name="Shape 52"/>
          <p:cNvSpPr/>
          <p:nvPr/>
        </p:nvSpPr>
        <p:spPr>
          <a:xfrm>
            <a:off x="4419600" y="5372100"/>
            <a:ext cx="381000" cy="381000"/>
          </a:xfrm>
          <a:prstGeom prst="roundRect">
            <a:avLst>
              <a:gd name="adj" fmla="val 48000"/>
            </a:avLst>
          </a:prstGeom>
          <a:solidFill>
            <a:srgbClr val="5B3FD6"/>
          </a:solidFill>
          <a:ln w="12700">
            <a:solidFill>
              <a:srgbClr val="5B3FD6"/>
            </a:solidFill>
            <a:prstDash val="solid"/>
          </a:ln>
        </p:spPr>
      </p:sp>
      <p:sp>
        <p:nvSpPr>
          <p:cNvPr id="55" name="Text 53"/>
          <p:cNvSpPr txBox="1"/>
          <p:nvPr/>
        </p:nvSpPr>
        <p:spPr>
          <a:xfrm>
            <a:off x="4419600" y="5372100"/>
            <a:ext cx="381000" cy="381000"/>
          </a:xfrm>
          <a:prstGeom prst="rect">
            <a:avLst/>
          </a:prstGeom>
          <a:noFill/>
          <a:ln/>
        </p:spPr>
        <p:txBody>
          <a:bodyPr wrap="square" lIns="0" tIns="0" rIns="0" bIns="0" rtlCol="0" anchor="ctr"/>
          <a:lstStyle/>
          <a:p>
            <a:pPr algn="ctr" indent="0" marL="0">
              <a:buNone/>
            </a:pPr>
            <a:r>
              <a:rPr lang="en-US" sz="1350" b="1" dirty="0">
                <a:solidFill>
                  <a:srgbClr val="F4F7FB"/>
                </a:solidFill>
                <a:latin typeface="Arial" pitchFamily="34" charset="0"/>
                <a:ea typeface="Arial" pitchFamily="34" charset="-122"/>
                <a:cs typeface="Arial" pitchFamily="34" charset="-120"/>
              </a:rPr>
              <a:t>8</a:t>
            </a:r>
            <a:endParaRPr lang="en-US" sz="1350" dirty="0"/>
          </a:p>
        </p:txBody>
      </p:sp>
      <p:sp>
        <p:nvSpPr>
          <p:cNvPr id="56" name="Text 54"/>
          <p:cNvSpPr txBox="1"/>
          <p:nvPr/>
        </p:nvSpPr>
        <p:spPr>
          <a:xfrm>
            <a:off x="4927600" y="5334000"/>
            <a:ext cx="2603500" cy="254000"/>
          </a:xfrm>
          <a:prstGeom prst="rect">
            <a:avLst/>
          </a:prstGeom>
          <a:noFill/>
          <a:ln/>
        </p:spPr>
        <p:txBody>
          <a:bodyPr wrap="square" lIns="0" tIns="0" rIns="0" bIns="0" rtlCol="0" anchor="t"/>
          <a:lstStyle/>
          <a:p>
            <a:pPr indent="0" marL="0">
              <a:buNone/>
            </a:pPr>
            <a:r>
              <a:rPr lang="en-US" sz="1350" b="1" dirty="0">
                <a:solidFill>
                  <a:srgbClr val="0E1220"/>
                </a:solidFill>
                <a:latin typeface="Arial" pitchFamily="34" charset="0"/>
                <a:ea typeface="Arial" pitchFamily="34" charset="-122"/>
                <a:cs typeface="Arial" pitchFamily="34" charset="-120"/>
              </a:rPr>
              <a:t>Mark as bought</a:t>
            </a:r>
            <a:endParaRPr lang="en-US" sz="1350" dirty="0"/>
          </a:p>
        </p:txBody>
      </p:sp>
      <p:sp>
        <p:nvSpPr>
          <p:cNvPr id="57" name="Text 55"/>
          <p:cNvSpPr txBox="1"/>
          <p:nvPr/>
        </p:nvSpPr>
        <p:spPr>
          <a:xfrm>
            <a:off x="4927600" y="5588000"/>
            <a:ext cx="2603500" cy="215900"/>
          </a:xfrm>
          <a:prstGeom prst="rect">
            <a:avLst/>
          </a:prstGeom>
          <a:noFill/>
          <a:ln/>
        </p:spPr>
        <p:txBody>
          <a:bodyPr wrap="square" lIns="0" tIns="0" rIns="0" bIns="0" rtlCol="0" anchor="t"/>
          <a:lstStyle/>
          <a:p>
            <a:pPr indent="0" marL="0">
              <a:buNone/>
            </a:pPr>
            <a:r>
              <a:rPr lang="en-US" sz="1050" dirty="0">
                <a:solidFill>
                  <a:srgbClr val="4A5568"/>
                </a:solidFill>
                <a:latin typeface="Arial" pitchFamily="34" charset="0"/>
                <a:ea typeface="Arial" pitchFamily="34" charset="-122"/>
                <a:cs typeface="Arial" pitchFamily="34" charset="-120"/>
              </a:rPr>
              <a:t>a model class</a:t>
            </a:r>
            <a:endParaRPr lang="en-US" sz="1050" dirty="0"/>
          </a:p>
        </p:txBody>
      </p:sp>
      <p:sp>
        <p:nvSpPr>
          <p:cNvPr id="58" name="Shape 56"/>
          <p:cNvSpPr/>
          <p:nvPr/>
        </p:nvSpPr>
        <p:spPr>
          <a:xfrm>
            <a:off x="8255000" y="1701800"/>
            <a:ext cx="2794000" cy="4381500"/>
          </a:xfrm>
          <a:prstGeom prst="roundRect">
            <a:avLst>
              <a:gd name="adj" fmla="val 13745"/>
            </a:avLst>
          </a:prstGeom>
          <a:solidFill>
            <a:srgbClr val="141A2E"/>
          </a:solidFill>
          <a:ln w="38100">
            <a:solidFill>
              <a:srgbClr val="3A4770"/>
            </a:solidFill>
            <a:prstDash val="solid"/>
          </a:ln>
          <a:effectLst>
            <a:outerShdw sx="100000" sy="100000" kx="0" ky="0" algn="bl" rotWithShape="0" blurRad="279400" dist="101600" dir="5400000">
              <a:srgbClr val="0E1220">
                <a:alpha val="25000"/>
              </a:srgbClr>
            </a:outerShdw>
          </a:effectLst>
        </p:spPr>
      </p:sp>
      <p:sp>
        <p:nvSpPr>
          <p:cNvPr id="59" name="Shape 57"/>
          <p:cNvSpPr/>
          <p:nvPr/>
        </p:nvSpPr>
        <p:spPr>
          <a:xfrm>
            <a:off x="8356600" y="1803400"/>
            <a:ext cx="2590800" cy="4178300"/>
          </a:xfrm>
          <a:prstGeom prst="roundRect">
            <a:avLst>
              <a:gd name="adj" fmla="val 12000"/>
            </a:avLst>
          </a:prstGeom>
          <a:solidFill>
            <a:srgbClr val="F5FAF3"/>
          </a:solidFill>
          <a:ln w="12700">
            <a:solidFill>
              <a:srgbClr val="F5FAF3"/>
            </a:solidFill>
            <a:prstDash val="solid"/>
          </a:ln>
        </p:spPr>
      </p:sp>
      <p:sp>
        <p:nvSpPr>
          <p:cNvPr id="60" name="Shape 58"/>
          <p:cNvSpPr/>
          <p:nvPr/>
        </p:nvSpPr>
        <p:spPr>
          <a:xfrm>
            <a:off x="9302750" y="1866900"/>
            <a:ext cx="698500" cy="114300"/>
          </a:xfrm>
          <a:prstGeom prst="roundRect">
            <a:avLst>
              <a:gd name="adj" fmla="val 64000"/>
            </a:avLst>
          </a:prstGeom>
          <a:solidFill>
            <a:srgbClr val="05070D"/>
          </a:solidFill>
          <a:ln w="12700">
            <a:solidFill>
              <a:srgbClr val="05070D"/>
            </a:solidFill>
            <a:prstDash val="solid"/>
          </a:ln>
        </p:spPr>
      </p:sp>
      <p:sp>
        <p:nvSpPr>
          <p:cNvPr id="61" name="Text 59"/>
          <p:cNvSpPr txBox="1"/>
          <p:nvPr/>
        </p:nvSpPr>
        <p:spPr>
          <a:xfrm>
            <a:off x="8534400" y="2197100"/>
            <a:ext cx="1892300" cy="279400"/>
          </a:xfrm>
          <a:prstGeom prst="rect">
            <a:avLst/>
          </a:prstGeom>
          <a:noFill/>
          <a:ln/>
        </p:spPr>
        <p:txBody>
          <a:bodyPr wrap="square" lIns="0" tIns="0" rIns="0" bIns="0" rtlCol="0" anchor="ctr"/>
          <a:lstStyle/>
          <a:p>
            <a:pPr indent="0" marL="0">
              <a:buNone/>
            </a:pPr>
            <a:r>
              <a:rPr lang="en-US" sz="1250" b="1" dirty="0">
                <a:solidFill>
                  <a:srgbClr val="1D2B20"/>
                </a:solidFill>
                <a:latin typeface="Arial" pitchFamily="34" charset="0"/>
                <a:ea typeface="Arial" pitchFamily="34" charset="-122"/>
                <a:cs typeface="Arial" pitchFamily="34" charset="-120"/>
              </a:rPr>
              <a:t>Shopping List (2 left)</a:t>
            </a:r>
            <a:endParaRPr lang="en-US" sz="1250" dirty="0"/>
          </a:p>
        </p:txBody>
      </p:sp>
      <p:pic>
        <p:nvPicPr>
          <p:cNvPr id="62" name="Image 0" descr="preencoded.png">    </p:cNvPr>
          <p:cNvPicPr>
            <a:picLocks noChangeAspect="1"/>
          </p:cNvPicPr>
          <p:nvPr/>
        </p:nvPicPr>
        <p:blipFill>
          <a:blip r:embed="rId1"/>
          <a:stretch>
            <a:fillRect/>
          </a:stretch>
        </p:blipFill>
        <p:spPr>
          <a:xfrm>
            <a:off x="10502900" y="2222500"/>
            <a:ext cx="228600" cy="228600"/>
          </a:xfrm>
          <a:prstGeom prst="rect">
            <a:avLst/>
          </a:prstGeom>
        </p:spPr>
      </p:pic>
      <p:sp>
        <p:nvSpPr>
          <p:cNvPr id="63" name="Shape 60"/>
          <p:cNvSpPr/>
          <p:nvPr/>
        </p:nvSpPr>
        <p:spPr>
          <a:xfrm>
            <a:off x="8509000" y="2667000"/>
            <a:ext cx="1511300" cy="406400"/>
          </a:xfrm>
          <a:prstGeom prst="roundRect">
            <a:avLst>
              <a:gd name="adj" fmla="val 22500"/>
            </a:avLst>
          </a:prstGeom>
          <a:solidFill>
            <a:srgbClr val="FFFFFF"/>
          </a:solidFill>
          <a:ln w="12700">
            <a:solidFill>
              <a:srgbClr val="C9D8C6"/>
            </a:solidFill>
            <a:prstDash val="solid"/>
          </a:ln>
        </p:spPr>
      </p:sp>
      <p:sp>
        <p:nvSpPr>
          <p:cNvPr id="64" name="Text 61"/>
          <p:cNvSpPr txBox="1"/>
          <p:nvPr/>
        </p:nvSpPr>
        <p:spPr>
          <a:xfrm>
            <a:off x="8636000" y="2667000"/>
            <a:ext cx="1257300" cy="406400"/>
          </a:xfrm>
          <a:prstGeom prst="rect">
            <a:avLst/>
          </a:prstGeom>
          <a:noFill/>
          <a:ln/>
        </p:spPr>
        <p:txBody>
          <a:bodyPr wrap="square" lIns="0" tIns="0" rIns="0" bIns="0" rtlCol="0" anchor="ctr"/>
          <a:lstStyle/>
          <a:p>
            <a:pPr indent="0" marL="0">
              <a:buNone/>
            </a:pPr>
            <a:r>
              <a:rPr lang="en-US" sz="1050" dirty="0">
                <a:solidFill>
                  <a:srgbClr val="8A9A8C"/>
                </a:solidFill>
                <a:latin typeface="Arial" pitchFamily="34" charset="0"/>
                <a:ea typeface="Arial" pitchFamily="34" charset="-122"/>
                <a:cs typeface="Arial" pitchFamily="34" charset="-120"/>
              </a:rPr>
              <a:t>Add an item</a:t>
            </a:r>
            <a:endParaRPr lang="en-US" sz="1050" dirty="0"/>
          </a:p>
        </p:txBody>
      </p:sp>
      <p:sp>
        <p:nvSpPr>
          <p:cNvPr id="65" name="Shape 62"/>
          <p:cNvSpPr/>
          <p:nvPr/>
        </p:nvSpPr>
        <p:spPr>
          <a:xfrm>
            <a:off x="10109200" y="2667000"/>
            <a:ext cx="685800" cy="406400"/>
          </a:xfrm>
          <a:prstGeom prst="roundRect">
            <a:avLst>
              <a:gd name="adj" fmla="val 49500"/>
            </a:avLst>
          </a:prstGeom>
          <a:solidFill>
            <a:srgbClr val="3A7D44"/>
          </a:solidFill>
          <a:ln w="12700">
            <a:solidFill>
              <a:srgbClr val="3A7D44"/>
            </a:solidFill>
            <a:prstDash val="solid"/>
          </a:ln>
        </p:spPr>
      </p:sp>
      <p:sp>
        <p:nvSpPr>
          <p:cNvPr id="66" name="Text 63"/>
          <p:cNvSpPr txBox="1"/>
          <p:nvPr/>
        </p:nvSpPr>
        <p:spPr>
          <a:xfrm>
            <a:off x="10109200" y="2667000"/>
            <a:ext cx="685800" cy="4064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Add</a:t>
            </a:r>
            <a:endParaRPr lang="en-US" sz="1100" dirty="0"/>
          </a:p>
        </p:txBody>
      </p:sp>
      <p:pic>
        <p:nvPicPr>
          <p:cNvPr id="67" name="Image 1" descr="preencoded.png">    </p:cNvPr>
          <p:cNvPicPr>
            <a:picLocks noChangeAspect="1"/>
          </p:cNvPicPr>
          <p:nvPr/>
        </p:nvPicPr>
        <p:blipFill>
          <a:blip r:embed="rId2"/>
          <a:stretch>
            <a:fillRect/>
          </a:stretch>
        </p:blipFill>
        <p:spPr>
          <a:xfrm>
            <a:off x="8547100" y="3441700"/>
            <a:ext cx="279400" cy="279400"/>
          </a:xfrm>
          <a:prstGeom prst="rect">
            <a:avLst/>
          </a:prstGeom>
        </p:spPr>
      </p:pic>
      <p:sp>
        <p:nvSpPr>
          <p:cNvPr id="68" name="Text 64"/>
          <p:cNvSpPr txBox="1"/>
          <p:nvPr/>
        </p:nvSpPr>
        <p:spPr>
          <a:xfrm>
            <a:off x="8991600" y="3302000"/>
            <a:ext cx="1320800" cy="558800"/>
          </a:xfrm>
          <a:prstGeom prst="rect">
            <a:avLst/>
          </a:prstGeom>
          <a:noFill/>
          <a:ln/>
        </p:spPr>
        <p:txBody>
          <a:bodyPr wrap="square" lIns="0" tIns="0" rIns="0" bIns="0" rtlCol="0" anchor="ctr"/>
          <a:lstStyle/>
          <a:p>
            <a:pPr indent="0" marL="0">
              <a:buNone/>
            </a:pPr>
            <a:r>
              <a:rPr lang="en-US" sz="1250" strike="sngStrike" dirty="0">
                <a:solidFill>
                  <a:srgbClr val="7C8B7E"/>
                </a:solidFill>
                <a:latin typeface="Arial" pitchFamily="34" charset="0"/>
                <a:ea typeface="Arial" pitchFamily="34" charset="-122"/>
                <a:cs typeface="Arial" pitchFamily="34" charset="-120"/>
              </a:rPr>
              <a:t>Milk</a:t>
            </a:r>
            <a:endParaRPr lang="en-US" sz="1250" dirty="0"/>
          </a:p>
        </p:txBody>
      </p:sp>
      <p:pic>
        <p:nvPicPr>
          <p:cNvPr id="69" name="Image 2" descr="preencoded.png">    </p:cNvPr>
          <p:cNvPicPr>
            <a:picLocks noChangeAspect="1"/>
          </p:cNvPicPr>
          <p:nvPr/>
        </p:nvPicPr>
        <p:blipFill>
          <a:blip r:embed="rId3"/>
          <a:stretch>
            <a:fillRect/>
          </a:stretch>
        </p:blipFill>
        <p:spPr>
          <a:xfrm>
            <a:off x="10502900" y="3467100"/>
            <a:ext cx="241300" cy="241300"/>
          </a:xfrm>
          <a:prstGeom prst="rect">
            <a:avLst/>
          </a:prstGeom>
        </p:spPr>
      </p:pic>
      <p:pic>
        <p:nvPicPr>
          <p:cNvPr id="70" name="Image 3" descr="preencoded.png">    </p:cNvPr>
          <p:cNvPicPr>
            <a:picLocks noChangeAspect="1"/>
          </p:cNvPicPr>
          <p:nvPr/>
        </p:nvPicPr>
        <p:blipFill>
          <a:blip r:embed="rId4"/>
          <a:stretch>
            <a:fillRect/>
          </a:stretch>
        </p:blipFill>
        <p:spPr>
          <a:xfrm>
            <a:off x="8547100" y="4025900"/>
            <a:ext cx="279400" cy="279400"/>
          </a:xfrm>
          <a:prstGeom prst="rect">
            <a:avLst/>
          </a:prstGeom>
        </p:spPr>
      </p:pic>
      <p:sp>
        <p:nvSpPr>
          <p:cNvPr id="71" name="Text 65"/>
          <p:cNvSpPr txBox="1"/>
          <p:nvPr/>
        </p:nvSpPr>
        <p:spPr>
          <a:xfrm>
            <a:off x="8991600" y="3886200"/>
            <a:ext cx="1320800" cy="558800"/>
          </a:xfrm>
          <a:prstGeom prst="rect">
            <a:avLst/>
          </a:prstGeom>
          <a:noFill/>
          <a:ln/>
        </p:spPr>
        <p:txBody>
          <a:bodyPr wrap="square" lIns="0" tIns="0" rIns="0" bIns="0" rtlCol="0" anchor="ctr"/>
          <a:lstStyle/>
          <a:p>
            <a:pPr indent="0" marL="0">
              <a:buNone/>
            </a:pPr>
            <a:r>
              <a:rPr lang="en-US" sz="1250" dirty="0">
                <a:solidFill>
                  <a:srgbClr val="1D2B20"/>
                </a:solidFill>
                <a:latin typeface="Arial" pitchFamily="34" charset="0"/>
                <a:ea typeface="Arial" pitchFamily="34" charset="-122"/>
                <a:cs typeface="Arial" pitchFamily="34" charset="-120"/>
              </a:rPr>
              <a:t>Bread</a:t>
            </a:r>
            <a:endParaRPr lang="en-US" sz="1250" dirty="0"/>
          </a:p>
        </p:txBody>
      </p:sp>
      <p:pic>
        <p:nvPicPr>
          <p:cNvPr id="72" name="Image 4" descr="preencoded.png">    </p:cNvPr>
          <p:cNvPicPr>
            <a:picLocks noChangeAspect="1"/>
          </p:cNvPicPr>
          <p:nvPr/>
        </p:nvPicPr>
        <p:blipFill>
          <a:blip r:embed="rId5"/>
          <a:stretch>
            <a:fillRect/>
          </a:stretch>
        </p:blipFill>
        <p:spPr>
          <a:xfrm>
            <a:off x="10502900" y="4051300"/>
            <a:ext cx="241300" cy="241300"/>
          </a:xfrm>
          <a:prstGeom prst="rect">
            <a:avLst/>
          </a:prstGeom>
        </p:spPr>
      </p:pic>
      <p:pic>
        <p:nvPicPr>
          <p:cNvPr id="73" name="Image 5" descr="preencoded.png">    </p:cNvPr>
          <p:cNvPicPr>
            <a:picLocks noChangeAspect="1"/>
          </p:cNvPicPr>
          <p:nvPr/>
        </p:nvPicPr>
        <p:blipFill>
          <a:blip r:embed="rId6"/>
          <a:stretch>
            <a:fillRect/>
          </a:stretch>
        </p:blipFill>
        <p:spPr>
          <a:xfrm>
            <a:off x="8547100" y="4610100"/>
            <a:ext cx="279400" cy="279400"/>
          </a:xfrm>
          <a:prstGeom prst="rect">
            <a:avLst/>
          </a:prstGeom>
        </p:spPr>
      </p:pic>
      <p:sp>
        <p:nvSpPr>
          <p:cNvPr id="74" name="Text 66"/>
          <p:cNvSpPr txBox="1"/>
          <p:nvPr/>
        </p:nvSpPr>
        <p:spPr>
          <a:xfrm>
            <a:off x="8991600" y="4470400"/>
            <a:ext cx="1320800" cy="558800"/>
          </a:xfrm>
          <a:prstGeom prst="rect">
            <a:avLst/>
          </a:prstGeom>
          <a:noFill/>
          <a:ln/>
        </p:spPr>
        <p:txBody>
          <a:bodyPr wrap="square" lIns="0" tIns="0" rIns="0" bIns="0" rtlCol="0" anchor="ctr"/>
          <a:lstStyle/>
          <a:p>
            <a:pPr indent="0" marL="0">
              <a:buNone/>
            </a:pPr>
            <a:r>
              <a:rPr lang="en-US" sz="1250" dirty="0">
                <a:solidFill>
                  <a:srgbClr val="1D2B20"/>
                </a:solidFill>
                <a:latin typeface="Arial" pitchFamily="34" charset="0"/>
                <a:ea typeface="Arial" pitchFamily="34" charset="-122"/>
                <a:cs typeface="Arial" pitchFamily="34" charset="-120"/>
              </a:rPr>
              <a:t>Rice</a:t>
            </a:r>
            <a:endParaRPr lang="en-US" sz="1250" dirty="0"/>
          </a:p>
        </p:txBody>
      </p:sp>
      <p:pic>
        <p:nvPicPr>
          <p:cNvPr id="75" name="Image 6" descr="preencoded.png">    </p:cNvPr>
          <p:cNvPicPr>
            <a:picLocks noChangeAspect="1"/>
          </p:cNvPicPr>
          <p:nvPr/>
        </p:nvPicPr>
        <p:blipFill>
          <a:blip r:embed="rId7"/>
          <a:stretch>
            <a:fillRect/>
          </a:stretch>
        </p:blipFill>
        <p:spPr>
          <a:xfrm>
            <a:off x="10502900" y="4635500"/>
            <a:ext cx="241300" cy="2413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12800" y="762000"/>
            <a:ext cx="10566400" cy="254000"/>
          </a:xfrm>
          <a:prstGeom prst="rect">
            <a:avLst/>
          </a:prstGeom>
          <a:noFill/>
          <a:ln/>
        </p:spPr>
        <p:txBody>
          <a:bodyPr wrap="square" lIns="0" tIns="0" rIns="0" bIns="0" rtlCol="0" anchor="t"/>
          <a:lstStyle/>
          <a:p>
            <a:pPr indent="0" marL="0">
              <a:buNone/>
            </a:pPr>
            <a:r>
              <a:rPr lang="en-US" sz="1200" b="1" spc="400" kern="0" dirty="0">
                <a:solidFill>
                  <a:srgbClr val="54C5F8"/>
                </a:solidFill>
                <a:latin typeface="Arial" pitchFamily="34" charset="0"/>
                <a:ea typeface="Arial" pitchFamily="34" charset="-122"/>
                <a:cs typeface="Arial" pitchFamily="34" charset="-120"/>
              </a:rPr>
              <a:t>READ THE RED LINE FIRST</a:t>
            </a:r>
            <a:endParaRPr lang="en-US" sz="1200" dirty="0"/>
          </a:p>
        </p:txBody>
      </p:sp>
      <p:sp>
        <p:nvSpPr>
          <p:cNvPr id="3" name="Text 1"/>
          <p:cNvSpPr txBox="1"/>
          <p:nvPr/>
        </p:nvSpPr>
        <p:spPr>
          <a:xfrm>
            <a:off x="812800" y="1054100"/>
            <a:ext cx="10566400" cy="698500"/>
          </a:xfrm>
          <a:prstGeom prst="rect">
            <a:avLst/>
          </a:prstGeom>
          <a:noFill/>
          <a:ln/>
        </p:spPr>
        <p:txBody>
          <a:bodyPr wrap="square" lIns="0" tIns="0" rIns="0" bIns="0" rtlCol="0" anchor="t"/>
          <a:lstStyle/>
          <a:p>
            <a:pPr indent="0" marL="0">
              <a:buNone/>
            </a:pPr>
            <a:r>
              <a:rPr lang="en-US" sz="3800" b="1" dirty="0">
                <a:solidFill>
                  <a:srgbClr val="F4F7FB"/>
                </a:solidFill>
                <a:latin typeface="Arial" pitchFamily="34" charset="0"/>
                <a:ea typeface="Arial" pitchFamily="34" charset="-122"/>
                <a:cs typeface="Arial" pitchFamily="34" charset="-120"/>
              </a:rPr>
              <a:t>Four errors you will meet tonight</a:t>
            </a:r>
            <a:endParaRPr lang="en-US" sz="3800" dirty="0"/>
          </a:p>
        </p:txBody>
      </p:sp>
      <p:sp>
        <p:nvSpPr>
          <p:cNvPr id="4" name="Shape 2"/>
          <p:cNvSpPr/>
          <p:nvPr/>
        </p:nvSpPr>
        <p:spPr>
          <a:xfrm>
            <a:off x="812800" y="1841500"/>
            <a:ext cx="5207000" cy="1562100"/>
          </a:xfrm>
          <a:prstGeom prst="roundRect">
            <a:avLst>
              <a:gd name="adj" fmla="val 10537"/>
            </a:avLst>
          </a:prstGeom>
          <a:solidFill>
            <a:srgbClr val="FFFFFF">
              <a:alpha val="6000"/>
            </a:srgbClr>
          </a:solidFill>
          <a:ln w="12700">
            <a:solidFill>
              <a:srgbClr val="FFFFFF">
                <a:alpha val="15000"/>
              </a:srgbClr>
            </a:solidFill>
            <a:prstDash val="solid"/>
          </a:ln>
        </p:spPr>
      </p:sp>
      <p:pic>
        <p:nvPicPr>
          <p:cNvPr id="5" name="Image 0" descr="preencoded.png">    </p:cNvPr>
          <p:cNvPicPr>
            <a:picLocks noChangeAspect="1"/>
          </p:cNvPicPr>
          <p:nvPr/>
        </p:nvPicPr>
        <p:blipFill>
          <a:blip r:embed="rId2"/>
          <a:stretch>
            <a:fillRect/>
          </a:stretch>
        </p:blipFill>
        <p:spPr>
          <a:xfrm>
            <a:off x="1016000" y="2044700"/>
            <a:ext cx="406400" cy="406400"/>
          </a:xfrm>
          <a:prstGeom prst="rect">
            <a:avLst/>
          </a:prstGeom>
        </p:spPr>
      </p:pic>
      <p:sp>
        <p:nvSpPr>
          <p:cNvPr id="6" name="Text 3"/>
          <p:cNvSpPr txBox="1"/>
          <p:nvPr/>
        </p:nvSpPr>
        <p:spPr>
          <a:xfrm>
            <a:off x="1574800" y="2032000"/>
            <a:ext cx="3302000" cy="457200"/>
          </a:xfrm>
          <a:prstGeom prst="rect">
            <a:avLst/>
          </a:prstGeom>
          <a:noFill/>
          <a:ln/>
        </p:spPr>
        <p:txBody>
          <a:bodyPr wrap="square" lIns="0" tIns="0" rIns="0" bIns="0" rtlCol="0" anchor="ctr"/>
          <a:lstStyle/>
          <a:p>
            <a:pPr indent="0" marL="0">
              <a:buNone/>
            </a:pPr>
            <a:r>
              <a:rPr lang="en-US" sz="1200" b="1" dirty="0">
                <a:solidFill>
                  <a:srgbClr val="F4F7FB"/>
                </a:solidFill>
                <a:latin typeface="Courier New" pitchFamily="34" charset="0"/>
                <a:ea typeface="Courier New" pitchFamily="34" charset="-122"/>
                <a:cs typeface="Courier New" pitchFamily="34" charset="-120"/>
              </a:rPr>
              <a:t>The name 'MyApp' isn't a class.</a:t>
            </a:r>
            <a:endParaRPr lang="en-US" sz="1200" dirty="0"/>
          </a:p>
        </p:txBody>
      </p:sp>
      <p:sp>
        <p:nvSpPr>
          <p:cNvPr id="7" name="Shape 4"/>
          <p:cNvSpPr/>
          <p:nvPr/>
        </p:nvSpPr>
        <p:spPr>
          <a:xfrm>
            <a:off x="4876800" y="2120900"/>
            <a:ext cx="939800" cy="279400"/>
          </a:xfrm>
          <a:prstGeom prst="roundRect">
            <a:avLst>
              <a:gd name="adj" fmla="val 65455"/>
            </a:avLst>
          </a:prstGeom>
          <a:solidFill>
            <a:srgbClr val="54C5F8">
              <a:alpha val="15000"/>
            </a:srgbClr>
          </a:solidFill>
          <a:ln w="12700">
            <a:solidFill>
              <a:srgbClr val="54C5F8"/>
            </a:solidFill>
            <a:prstDash val="solid"/>
          </a:ln>
        </p:spPr>
      </p:sp>
      <p:sp>
        <p:nvSpPr>
          <p:cNvPr id="8" name="Text 5"/>
          <p:cNvSpPr txBox="1"/>
          <p:nvPr/>
        </p:nvSpPr>
        <p:spPr>
          <a:xfrm>
            <a:off x="4876800" y="2120900"/>
            <a:ext cx="939800" cy="279400"/>
          </a:xfrm>
          <a:prstGeom prst="rect">
            <a:avLst/>
          </a:prstGeom>
          <a:noFill/>
          <a:ln/>
        </p:spPr>
        <p:txBody>
          <a:bodyPr wrap="square" lIns="0" tIns="0" rIns="0" bIns="0" rtlCol="0" anchor="ctr"/>
          <a:lstStyle/>
          <a:p>
            <a:pPr algn="ctr" indent="0" marL="0">
              <a:buNone/>
            </a:pPr>
            <a:r>
              <a:rPr lang="en-US" sz="1000" b="1" dirty="0">
                <a:solidFill>
                  <a:srgbClr val="54C5F8"/>
                </a:solidFill>
                <a:latin typeface="Arial" pitchFamily="34" charset="0"/>
                <a:ea typeface="Arial" pitchFamily="34" charset="-122"/>
                <a:cs typeface="Arial" pitchFamily="34" charset="-120"/>
              </a:rPr>
              <a:t>Step 1</a:t>
            </a:r>
            <a:endParaRPr lang="en-US" sz="1000" dirty="0"/>
          </a:p>
        </p:txBody>
      </p:sp>
      <p:sp>
        <p:nvSpPr>
          <p:cNvPr id="9" name="Text 6"/>
          <p:cNvSpPr txBox="1"/>
          <p:nvPr/>
        </p:nvSpPr>
        <p:spPr>
          <a:xfrm>
            <a:off x="1016000" y="2603500"/>
            <a:ext cx="4800600" cy="698500"/>
          </a:xfrm>
          <a:prstGeom prst="rect">
            <a:avLst/>
          </a:prstGeom>
          <a:noFill/>
          <a:ln/>
        </p:spPr>
        <p:txBody>
          <a:bodyPr wrap="square" lIns="0" tIns="0" rIns="0" bIns="0" rtlCol="0" anchor="t"/>
          <a:lstStyle/>
          <a:p>
            <a:pPr indent="0" marL="0">
              <a:lnSpc>
                <a:spcPct val="130000"/>
              </a:lnSpc>
              <a:buNone/>
            </a:pPr>
            <a:r>
              <a:rPr lang="en-US" sz="1200" b="1" dirty="0">
                <a:solidFill>
                  <a:srgbClr val="F4F7FB"/>
                </a:solidFill>
                <a:latin typeface="Arial" pitchFamily="34" charset="0"/>
                <a:ea typeface="Arial" pitchFamily="34" charset="-122"/>
                <a:cs typeface="Arial" pitchFamily="34" charset="-120"/>
              </a:rPr>
              <a:t>Means: </a:t>
            </a:r>
            <a:pPr indent="0" marL="0">
              <a:lnSpc>
                <a:spcPct val="130000"/>
              </a:lnSpc>
              <a:buNone/>
            </a:pPr>
            <a:r>
              <a:rPr lang="en-US" sz="1200" dirty="0">
                <a:solidFill>
                  <a:srgbClr val="B8C4D9"/>
                </a:solidFill>
                <a:latin typeface="Arial" pitchFamily="34" charset="0"/>
                <a:ea typeface="Arial" pitchFamily="34" charset="-122"/>
                <a:cs typeface="Arial" pitchFamily="34" charset="-120"/>
              </a:rPr>
              <a:t>The old test file still tests the demo app you deleted.</a:t>
            </a:r>
            <a:endParaRPr lang="en-US" sz="1200" dirty="0"/>
          </a:p>
          <a:p>
            <a:pPr indent="0" marL="0">
              <a:lnSpc>
                <a:spcPct val="130000"/>
              </a:lnSpc>
              <a:buNone/>
            </a:pPr>
            <a:r>
              <a:rPr lang="en-US" sz="1200" b="1" dirty="0">
                <a:solidFill>
                  <a:srgbClr val="54C5F8"/>
                </a:solidFill>
                <a:latin typeface="Arial" pitchFamily="34" charset="0"/>
                <a:ea typeface="Arial" pitchFamily="34" charset="-122"/>
                <a:cs typeface="Arial" pitchFamily="34" charset="-120"/>
              </a:rPr>
              <a:t>Fix: </a:t>
            </a:r>
            <a:pPr indent="0" marL="0">
              <a:lnSpc>
                <a:spcPct val="130000"/>
              </a:lnSpc>
              <a:buNone/>
            </a:pPr>
            <a:r>
              <a:rPr lang="en-US" sz="1200" dirty="0">
                <a:solidFill>
                  <a:srgbClr val="B8C4D9"/>
                </a:solidFill>
                <a:latin typeface="Arial" pitchFamily="34" charset="0"/>
                <a:ea typeface="Arial" pitchFamily="34" charset="-122"/>
                <a:cs typeface="Arial" pitchFamily="34" charset="-120"/>
              </a:rPr>
              <a:t>Delete test/widget_test.dart</a:t>
            </a:r>
            <a:endParaRPr lang="en-US" sz="1200" dirty="0"/>
          </a:p>
        </p:txBody>
      </p:sp>
      <p:sp>
        <p:nvSpPr>
          <p:cNvPr id="10" name="Shape 7"/>
          <p:cNvSpPr/>
          <p:nvPr/>
        </p:nvSpPr>
        <p:spPr>
          <a:xfrm>
            <a:off x="6172200" y="1841500"/>
            <a:ext cx="5207000" cy="1562100"/>
          </a:xfrm>
          <a:prstGeom prst="roundRect">
            <a:avLst>
              <a:gd name="adj" fmla="val 10537"/>
            </a:avLst>
          </a:prstGeom>
          <a:solidFill>
            <a:srgbClr val="FFFFFF">
              <a:alpha val="6000"/>
            </a:srgbClr>
          </a:solidFill>
          <a:ln w="12700">
            <a:solidFill>
              <a:srgbClr val="FFFFFF">
                <a:alpha val="15000"/>
              </a:srgbClr>
            </a:solidFill>
            <a:prstDash val="solid"/>
          </a:ln>
        </p:spPr>
      </p:sp>
      <p:pic>
        <p:nvPicPr>
          <p:cNvPr id="11" name="Image 1" descr="preencoded.png">    </p:cNvPr>
          <p:cNvPicPr>
            <a:picLocks noChangeAspect="1"/>
          </p:cNvPicPr>
          <p:nvPr/>
        </p:nvPicPr>
        <p:blipFill>
          <a:blip r:embed="rId3"/>
          <a:stretch>
            <a:fillRect/>
          </a:stretch>
        </p:blipFill>
        <p:spPr>
          <a:xfrm>
            <a:off x="6375400" y="2044700"/>
            <a:ext cx="406400" cy="406400"/>
          </a:xfrm>
          <a:prstGeom prst="rect">
            <a:avLst/>
          </a:prstGeom>
        </p:spPr>
      </p:pic>
      <p:sp>
        <p:nvSpPr>
          <p:cNvPr id="12" name="Text 8"/>
          <p:cNvSpPr txBox="1"/>
          <p:nvPr/>
        </p:nvSpPr>
        <p:spPr>
          <a:xfrm>
            <a:off x="6934200" y="2032000"/>
            <a:ext cx="3302000" cy="457200"/>
          </a:xfrm>
          <a:prstGeom prst="rect">
            <a:avLst/>
          </a:prstGeom>
          <a:noFill/>
          <a:ln/>
        </p:spPr>
        <p:txBody>
          <a:bodyPr wrap="square" lIns="0" tIns="0" rIns="0" bIns="0" rtlCol="0" anchor="ctr"/>
          <a:lstStyle/>
          <a:p>
            <a:pPr indent="0" marL="0">
              <a:buNone/>
            </a:pPr>
            <a:r>
              <a:rPr lang="en-US" sz="1200" b="1" dirty="0">
                <a:solidFill>
                  <a:srgbClr val="F4F7FB"/>
                </a:solidFill>
                <a:latin typeface="Courier New" pitchFamily="34" charset="0"/>
                <a:ea typeface="Courier New" pitchFamily="34" charset="-122"/>
                <a:cs typeface="Courier New" pitchFamily="34" charset="-120"/>
              </a:rPr>
              <a:t>The named parameter 'body' isn't defined.</a:t>
            </a:r>
            <a:endParaRPr lang="en-US" sz="1200" dirty="0"/>
          </a:p>
        </p:txBody>
      </p:sp>
      <p:sp>
        <p:nvSpPr>
          <p:cNvPr id="13" name="Shape 9"/>
          <p:cNvSpPr/>
          <p:nvPr/>
        </p:nvSpPr>
        <p:spPr>
          <a:xfrm>
            <a:off x="10236200" y="2120900"/>
            <a:ext cx="939800" cy="279400"/>
          </a:xfrm>
          <a:prstGeom prst="roundRect">
            <a:avLst>
              <a:gd name="adj" fmla="val 65455"/>
            </a:avLst>
          </a:prstGeom>
          <a:solidFill>
            <a:srgbClr val="54C5F8">
              <a:alpha val="15000"/>
            </a:srgbClr>
          </a:solidFill>
          <a:ln w="12700">
            <a:solidFill>
              <a:srgbClr val="54C5F8"/>
            </a:solidFill>
            <a:prstDash val="solid"/>
          </a:ln>
        </p:spPr>
      </p:sp>
      <p:sp>
        <p:nvSpPr>
          <p:cNvPr id="14" name="Text 10"/>
          <p:cNvSpPr txBox="1"/>
          <p:nvPr/>
        </p:nvSpPr>
        <p:spPr>
          <a:xfrm>
            <a:off x="10236200" y="2120900"/>
            <a:ext cx="939800" cy="279400"/>
          </a:xfrm>
          <a:prstGeom prst="rect">
            <a:avLst/>
          </a:prstGeom>
          <a:noFill/>
          <a:ln/>
        </p:spPr>
        <p:txBody>
          <a:bodyPr wrap="square" lIns="0" tIns="0" rIns="0" bIns="0" rtlCol="0" anchor="ctr"/>
          <a:lstStyle/>
          <a:p>
            <a:pPr algn="ctr" indent="0" marL="0">
              <a:buNone/>
            </a:pPr>
            <a:r>
              <a:rPr lang="en-US" sz="1000" b="1" dirty="0">
                <a:solidFill>
                  <a:srgbClr val="54C5F8"/>
                </a:solidFill>
                <a:latin typeface="Arial" pitchFamily="34" charset="0"/>
                <a:ea typeface="Arial" pitchFamily="34" charset="-122"/>
                <a:cs typeface="Arial" pitchFamily="34" charset="-120"/>
              </a:rPr>
              <a:t>Any step</a:t>
            </a:r>
            <a:endParaRPr lang="en-US" sz="1000" dirty="0"/>
          </a:p>
        </p:txBody>
      </p:sp>
      <p:sp>
        <p:nvSpPr>
          <p:cNvPr id="15" name="Text 11"/>
          <p:cNvSpPr txBox="1"/>
          <p:nvPr/>
        </p:nvSpPr>
        <p:spPr>
          <a:xfrm>
            <a:off x="6375400" y="2603500"/>
            <a:ext cx="4800600" cy="698500"/>
          </a:xfrm>
          <a:prstGeom prst="rect">
            <a:avLst/>
          </a:prstGeom>
          <a:noFill/>
          <a:ln/>
        </p:spPr>
        <p:txBody>
          <a:bodyPr wrap="square" lIns="0" tIns="0" rIns="0" bIns="0" rtlCol="0" anchor="t"/>
          <a:lstStyle/>
          <a:p>
            <a:pPr indent="0" marL="0">
              <a:lnSpc>
                <a:spcPct val="130000"/>
              </a:lnSpc>
              <a:buNone/>
            </a:pPr>
            <a:r>
              <a:rPr lang="en-US" sz="1200" b="1" dirty="0">
                <a:solidFill>
                  <a:srgbClr val="F4F7FB"/>
                </a:solidFill>
                <a:latin typeface="Arial" pitchFamily="34" charset="0"/>
                <a:ea typeface="Arial" pitchFamily="34" charset="-122"/>
                <a:cs typeface="Arial" pitchFamily="34" charset="-120"/>
              </a:rPr>
              <a:t>Means: </a:t>
            </a:r>
            <a:pPr indent="0" marL="0">
              <a:lnSpc>
                <a:spcPct val="130000"/>
              </a:lnSpc>
              <a:buNone/>
            </a:pPr>
            <a:r>
              <a:rPr lang="en-US" sz="1200" dirty="0">
                <a:solidFill>
                  <a:srgbClr val="B8C4D9"/>
                </a:solidFill>
                <a:latin typeface="Arial" pitchFamily="34" charset="0"/>
                <a:ea typeface="Arial" pitchFamily="34" charset="-122"/>
                <a:cs typeface="Arial" pitchFamily="34" charset="-120"/>
              </a:rPr>
              <a:t>A bracket closed too early: body landed in the wrong widget.</a:t>
            </a:r>
            <a:endParaRPr lang="en-US" sz="1200" dirty="0"/>
          </a:p>
          <a:p>
            <a:pPr indent="0" marL="0">
              <a:lnSpc>
                <a:spcPct val="130000"/>
              </a:lnSpc>
              <a:buNone/>
            </a:pPr>
            <a:r>
              <a:rPr lang="en-US" sz="1200" b="1" dirty="0">
                <a:solidFill>
                  <a:srgbClr val="54C5F8"/>
                </a:solidFill>
                <a:latin typeface="Arial" pitchFamily="34" charset="0"/>
                <a:ea typeface="Arial" pitchFamily="34" charset="-122"/>
                <a:cs typeface="Arial" pitchFamily="34" charset="-120"/>
              </a:rPr>
              <a:t>Fix: </a:t>
            </a:r>
            <a:pPr indent="0" marL="0">
              <a:lnSpc>
                <a:spcPct val="130000"/>
              </a:lnSpc>
              <a:buNone/>
            </a:pPr>
            <a:r>
              <a:rPr lang="en-US" sz="1200" dirty="0">
                <a:solidFill>
                  <a:srgbClr val="B8C4D9"/>
                </a:solidFill>
                <a:latin typeface="Arial" pitchFamily="34" charset="0"/>
                <a:ea typeface="Arial" pitchFamily="34" charset="-122"/>
                <a:cs typeface="Arial" pitchFamily="34" charset="-120"/>
              </a:rPr>
              <a:t>Ctrl+Alt+L, then check where each ( ) closes</a:t>
            </a:r>
            <a:endParaRPr lang="en-US" sz="1200" dirty="0"/>
          </a:p>
        </p:txBody>
      </p:sp>
      <p:sp>
        <p:nvSpPr>
          <p:cNvPr id="16" name="Shape 12"/>
          <p:cNvSpPr/>
          <p:nvPr/>
        </p:nvSpPr>
        <p:spPr>
          <a:xfrm>
            <a:off x="812800" y="3556000"/>
            <a:ext cx="5207000" cy="1562100"/>
          </a:xfrm>
          <a:prstGeom prst="roundRect">
            <a:avLst>
              <a:gd name="adj" fmla="val 10537"/>
            </a:avLst>
          </a:prstGeom>
          <a:solidFill>
            <a:srgbClr val="FFFFFF">
              <a:alpha val="6000"/>
            </a:srgbClr>
          </a:solidFill>
          <a:ln w="12700">
            <a:solidFill>
              <a:srgbClr val="FFFFFF">
                <a:alpha val="15000"/>
              </a:srgbClr>
            </a:solidFill>
            <a:prstDash val="solid"/>
          </a:ln>
        </p:spPr>
      </p:sp>
      <p:pic>
        <p:nvPicPr>
          <p:cNvPr id="17" name="Image 2" descr="preencoded.png">    </p:cNvPr>
          <p:cNvPicPr>
            <a:picLocks noChangeAspect="1"/>
          </p:cNvPicPr>
          <p:nvPr/>
        </p:nvPicPr>
        <p:blipFill>
          <a:blip r:embed="rId4"/>
          <a:stretch>
            <a:fillRect/>
          </a:stretch>
        </p:blipFill>
        <p:spPr>
          <a:xfrm>
            <a:off x="1016000" y="3759200"/>
            <a:ext cx="406400" cy="406400"/>
          </a:xfrm>
          <a:prstGeom prst="rect">
            <a:avLst/>
          </a:prstGeom>
        </p:spPr>
      </p:pic>
      <p:sp>
        <p:nvSpPr>
          <p:cNvPr id="18" name="Text 13"/>
          <p:cNvSpPr txBox="1"/>
          <p:nvPr/>
        </p:nvSpPr>
        <p:spPr>
          <a:xfrm>
            <a:off x="1574800" y="3746500"/>
            <a:ext cx="3302000" cy="457200"/>
          </a:xfrm>
          <a:prstGeom prst="rect">
            <a:avLst/>
          </a:prstGeom>
          <a:noFill/>
          <a:ln/>
        </p:spPr>
        <p:txBody>
          <a:bodyPr wrap="square" lIns="0" tIns="0" rIns="0" bIns="0" rtlCol="0" anchor="ctr"/>
          <a:lstStyle/>
          <a:p>
            <a:pPr indent="0" marL="0">
              <a:buNone/>
            </a:pPr>
            <a:r>
              <a:rPr lang="en-US" sz="1200" b="1" dirty="0">
                <a:solidFill>
                  <a:srgbClr val="F4F7FB"/>
                </a:solidFill>
                <a:latin typeface="Courier New" pitchFamily="34" charset="0"/>
                <a:ea typeface="Courier New" pitchFamily="34" charset="-122"/>
                <a:cs typeface="Courier New" pitchFamily="34" charset="-120"/>
              </a:rPr>
              <a:t>Vertical viewport was given unbounded height.</a:t>
            </a:r>
            <a:endParaRPr lang="en-US" sz="1200" dirty="0"/>
          </a:p>
        </p:txBody>
      </p:sp>
      <p:sp>
        <p:nvSpPr>
          <p:cNvPr id="19" name="Shape 14"/>
          <p:cNvSpPr/>
          <p:nvPr/>
        </p:nvSpPr>
        <p:spPr>
          <a:xfrm>
            <a:off x="4876800" y="3835400"/>
            <a:ext cx="939800" cy="279400"/>
          </a:xfrm>
          <a:prstGeom prst="roundRect">
            <a:avLst>
              <a:gd name="adj" fmla="val 65455"/>
            </a:avLst>
          </a:prstGeom>
          <a:solidFill>
            <a:srgbClr val="54C5F8">
              <a:alpha val="15000"/>
            </a:srgbClr>
          </a:solidFill>
          <a:ln w="12700">
            <a:solidFill>
              <a:srgbClr val="54C5F8"/>
            </a:solidFill>
            <a:prstDash val="solid"/>
          </a:ln>
        </p:spPr>
      </p:sp>
      <p:sp>
        <p:nvSpPr>
          <p:cNvPr id="20" name="Text 15"/>
          <p:cNvSpPr txBox="1"/>
          <p:nvPr/>
        </p:nvSpPr>
        <p:spPr>
          <a:xfrm>
            <a:off x="4876800" y="3835400"/>
            <a:ext cx="939800" cy="279400"/>
          </a:xfrm>
          <a:prstGeom prst="rect">
            <a:avLst/>
          </a:prstGeom>
          <a:noFill/>
          <a:ln/>
        </p:spPr>
        <p:txBody>
          <a:bodyPr wrap="square" lIns="0" tIns="0" rIns="0" bIns="0" rtlCol="0" anchor="ctr"/>
          <a:lstStyle/>
          <a:p>
            <a:pPr algn="ctr" indent="0" marL="0">
              <a:buNone/>
            </a:pPr>
            <a:r>
              <a:rPr lang="en-US" sz="1000" b="1" dirty="0">
                <a:solidFill>
                  <a:srgbClr val="54C5F8"/>
                </a:solidFill>
                <a:latin typeface="Arial" pitchFamily="34" charset="0"/>
                <a:ea typeface="Arial" pitchFamily="34" charset="-122"/>
                <a:cs typeface="Arial" pitchFamily="34" charset="-120"/>
              </a:rPr>
              <a:t>Step 6</a:t>
            </a:r>
            <a:endParaRPr lang="en-US" sz="1000" dirty="0"/>
          </a:p>
        </p:txBody>
      </p:sp>
      <p:sp>
        <p:nvSpPr>
          <p:cNvPr id="21" name="Text 16"/>
          <p:cNvSpPr txBox="1"/>
          <p:nvPr/>
        </p:nvSpPr>
        <p:spPr>
          <a:xfrm>
            <a:off x="1016000" y="4318000"/>
            <a:ext cx="4800600" cy="698500"/>
          </a:xfrm>
          <a:prstGeom prst="rect">
            <a:avLst/>
          </a:prstGeom>
          <a:noFill/>
          <a:ln/>
        </p:spPr>
        <p:txBody>
          <a:bodyPr wrap="square" lIns="0" tIns="0" rIns="0" bIns="0" rtlCol="0" anchor="t"/>
          <a:lstStyle/>
          <a:p>
            <a:pPr indent="0" marL="0">
              <a:lnSpc>
                <a:spcPct val="130000"/>
              </a:lnSpc>
              <a:buNone/>
            </a:pPr>
            <a:r>
              <a:rPr lang="en-US" sz="1200" b="1" dirty="0">
                <a:solidFill>
                  <a:srgbClr val="F4F7FB"/>
                </a:solidFill>
                <a:latin typeface="Arial" pitchFamily="34" charset="0"/>
                <a:ea typeface="Arial" pitchFamily="34" charset="-122"/>
                <a:cs typeface="Arial" pitchFamily="34" charset="-120"/>
              </a:rPr>
              <a:t>Means: </a:t>
            </a:r>
            <a:pPr indent="0" marL="0">
              <a:lnSpc>
                <a:spcPct val="130000"/>
              </a:lnSpc>
              <a:buNone/>
            </a:pPr>
            <a:r>
              <a:rPr lang="en-US" sz="1200" dirty="0">
                <a:solidFill>
                  <a:srgbClr val="B8C4D9"/>
                </a:solidFill>
                <a:latin typeface="Arial" pitchFamily="34" charset="0"/>
                <a:ea typeface="Arial" pitchFamily="34" charset="-122"/>
                <a:cs typeface="Arial" pitchFamily="34" charset="-120"/>
              </a:rPr>
              <a:t>A list inside a Column has no height limit.</a:t>
            </a:r>
            <a:endParaRPr lang="en-US" sz="1200" dirty="0"/>
          </a:p>
          <a:p>
            <a:pPr indent="0" marL="0">
              <a:lnSpc>
                <a:spcPct val="130000"/>
              </a:lnSpc>
              <a:buNone/>
            </a:pPr>
            <a:r>
              <a:rPr lang="en-US" sz="1200" b="1" dirty="0">
                <a:solidFill>
                  <a:srgbClr val="54C5F8"/>
                </a:solidFill>
                <a:latin typeface="Arial" pitchFamily="34" charset="0"/>
                <a:ea typeface="Arial" pitchFamily="34" charset="-122"/>
                <a:cs typeface="Arial" pitchFamily="34" charset="-120"/>
              </a:rPr>
              <a:t>Fix: </a:t>
            </a:r>
            <a:pPr indent="0" marL="0">
              <a:lnSpc>
                <a:spcPct val="130000"/>
              </a:lnSpc>
              <a:buNone/>
            </a:pPr>
            <a:r>
              <a:rPr lang="en-US" sz="1200" dirty="0">
                <a:solidFill>
                  <a:srgbClr val="B8C4D9"/>
                </a:solidFill>
                <a:latin typeface="Arial" pitchFamily="34" charset="0"/>
                <a:ea typeface="Arial" pitchFamily="34" charset="-122"/>
                <a:cs typeface="Arial" pitchFamily="34" charset="-120"/>
              </a:rPr>
              <a:t>Wrap the list in Expanded(...)</a:t>
            </a:r>
            <a:endParaRPr lang="en-US" sz="1200" dirty="0"/>
          </a:p>
        </p:txBody>
      </p:sp>
      <p:sp>
        <p:nvSpPr>
          <p:cNvPr id="22" name="Shape 17"/>
          <p:cNvSpPr/>
          <p:nvPr/>
        </p:nvSpPr>
        <p:spPr>
          <a:xfrm>
            <a:off x="6172200" y="3556000"/>
            <a:ext cx="5207000" cy="1562100"/>
          </a:xfrm>
          <a:prstGeom prst="roundRect">
            <a:avLst>
              <a:gd name="adj" fmla="val 10537"/>
            </a:avLst>
          </a:prstGeom>
          <a:solidFill>
            <a:srgbClr val="FFFFFF">
              <a:alpha val="6000"/>
            </a:srgbClr>
          </a:solidFill>
          <a:ln w="12700">
            <a:solidFill>
              <a:srgbClr val="FFFFFF">
                <a:alpha val="15000"/>
              </a:srgbClr>
            </a:solidFill>
            <a:prstDash val="solid"/>
          </a:ln>
        </p:spPr>
      </p:sp>
      <p:pic>
        <p:nvPicPr>
          <p:cNvPr id="23" name="Image 3" descr="preencoded.png">    </p:cNvPr>
          <p:cNvPicPr>
            <a:picLocks noChangeAspect="1"/>
          </p:cNvPicPr>
          <p:nvPr/>
        </p:nvPicPr>
        <p:blipFill>
          <a:blip r:embed="rId5"/>
          <a:stretch>
            <a:fillRect/>
          </a:stretch>
        </p:blipFill>
        <p:spPr>
          <a:xfrm>
            <a:off x="6375400" y="3759200"/>
            <a:ext cx="406400" cy="406400"/>
          </a:xfrm>
          <a:prstGeom prst="rect">
            <a:avLst/>
          </a:prstGeom>
        </p:spPr>
      </p:pic>
      <p:sp>
        <p:nvSpPr>
          <p:cNvPr id="24" name="Text 18"/>
          <p:cNvSpPr txBox="1"/>
          <p:nvPr/>
        </p:nvSpPr>
        <p:spPr>
          <a:xfrm>
            <a:off x="6934200" y="3746500"/>
            <a:ext cx="3302000" cy="457200"/>
          </a:xfrm>
          <a:prstGeom prst="rect">
            <a:avLst/>
          </a:prstGeom>
          <a:noFill/>
          <a:ln/>
        </p:spPr>
        <p:txBody>
          <a:bodyPr wrap="square" lIns="0" tIns="0" rIns="0" bIns="0" rtlCol="0" anchor="ctr"/>
          <a:lstStyle/>
          <a:p>
            <a:pPr indent="0" marL="0">
              <a:buNone/>
            </a:pPr>
            <a:r>
              <a:rPr lang="en-US" sz="1200" b="1" dirty="0">
                <a:solidFill>
                  <a:srgbClr val="F4F7FB"/>
                </a:solidFill>
                <a:latin typeface="Courier New" pitchFamily="34" charset="0"/>
                <a:ea typeface="Courier New" pitchFamily="34" charset="-122"/>
                <a:cs typeface="Courier New" pitchFamily="34" charset="-120"/>
              </a:rPr>
              <a:t>Invalid constant value.</a:t>
            </a:r>
            <a:endParaRPr lang="en-US" sz="1200" dirty="0"/>
          </a:p>
        </p:txBody>
      </p:sp>
      <p:sp>
        <p:nvSpPr>
          <p:cNvPr id="25" name="Shape 19"/>
          <p:cNvSpPr/>
          <p:nvPr/>
        </p:nvSpPr>
        <p:spPr>
          <a:xfrm>
            <a:off x="10236200" y="3835400"/>
            <a:ext cx="939800" cy="279400"/>
          </a:xfrm>
          <a:prstGeom prst="roundRect">
            <a:avLst>
              <a:gd name="adj" fmla="val 65455"/>
            </a:avLst>
          </a:prstGeom>
          <a:solidFill>
            <a:srgbClr val="54C5F8">
              <a:alpha val="15000"/>
            </a:srgbClr>
          </a:solidFill>
          <a:ln w="12700">
            <a:solidFill>
              <a:srgbClr val="54C5F8"/>
            </a:solidFill>
            <a:prstDash val="solid"/>
          </a:ln>
        </p:spPr>
      </p:sp>
      <p:sp>
        <p:nvSpPr>
          <p:cNvPr id="26" name="Text 20"/>
          <p:cNvSpPr txBox="1"/>
          <p:nvPr/>
        </p:nvSpPr>
        <p:spPr>
          <a:xfrm>
            <a:off x="10236200" y="3835400"/>
            <a:ext cx="939800" cy="279400"/>
          </a:xfrm>
          <a:prstGeom prst="rect">
            <a:avLst/>
          </a:prstGeom>
          <a:noFill/>
          <a:ln/>
        </p:spPr>
        <p:txBody>
          <a:bodyPr wrap="square" lIns="0" tIns="0" rIns="0" bIns="0" rtlCol="0" anchor="ctr"/>
          <a:lstStyle/>
          <a:p>
            <a:pPr algn="ctr" indent="0" marL="0">
              <a:buNone/>
            </a:pPr>
            <a:r>
              <a:rPr lang="en-US" sz="1000" b="1" dirty="0">
                <a:solidFill>
                  <a:srgbClr val="54C5F8"/>
                </a:solidFill>
                <a:latin typeface="Arial" pitchFamily="34" charset="0"/>
                <a:ea typeface="Arial" pitchFamily="34" charset="-122"/>
                <a:cs typeface="Arial" pitchFamily="34" charset="-120"/>
              </a:rPr>
              <a:t>Step 8</a:t>
            </a:r>
            <a:endParaRPr lang="en-US" sz="1000" dirty="0"/>
          </a:p>
        </p:txBody>
      </p:sp>
      <p:sp>
        <p:nvSpPr>
          <p:cNvPr id="27" name="Text 21"/>
          <p:cNvSpPr txBox="1"/>
          <p:nvPr/>
        </p:nvSpPr>
        <p:spPr>
          <a:xfrm>
            <a:off x="6375400" y="4318000"/>
            <a:ext cx="4800600" cy="698500"/>
          </a:xfrm>
          <a:prstGeom prst="rect">
            <a:avLst/>
          </a:prstGeom>
          <a:noFill/>
          <a:ln/>
        </p:spPr>
        <p:txBody>
          <a:bodyPr wrap="square" lIns="0" tIns="0" rIns="0" bIns="0" rtlCol="0" anchor="t"/>
          <a:lstStyle/>
          <a:p>
            <a:pPr indent="0" marL="0">
              <a:lnSpc>
                <a:spcPct val="130000"/>
              </a:lnSpc>
              <a:buNone/>
            </a:pPr>
            <a:r>
              <a:rPr lang="en-US" sz="1200" b="1" dirty="0">
                <a:solidFill>
                  <a:srgbClr val="F4F7FB"/>
                </a:solidFill>
                <a:latin typeface="Arial" pitchFamily="34" charset="0"/>
                <a:ea typeface="Arial" pitchFamily="34" charset="-122"/>
                <a:cs typeface="Arial" pitchFamily="34" charset="-120"/>
              </a:rPr>
              <a:t>Means: </a:t>
            </a:r>
            <a:pPr indent="0" marL="0">
              <a:lnSpc>
                <a:spcPct val="130000"/>
              </a:lnSpc>
              <a:buNone/>
            </a:pPr>
            <a:r>
              <a:rPr lang="en-US" sz="1200" dirty="0">
                <a:solidFill>
                  <a:srgbClr val="B8C4D9"/>
                </a:solidFill>
                <a:latin typeface="Arial" pitchFamily="34" charset="0"/>
                <a:ea typeface="Arial" pitchFamily="34" charset="-122"/>
                <a:cs typeface="Arial" pitchFamily="34" charset="-120"/>
              </a:rPr>
              <a:t>const on something that now changes.</a:t>
            </a:r>
            <a:endParaRPr lang="en-US" sz="1200" dirty="0"/>
          </a:p>
          <a:p>
            <a:pPr indent="0" marL="0">
              <a:lnSpc>
                <a:spcPct val="130000"/>
              </a:lnSpc>
              <a:buNone/>
            </a:pPr>
            <a:r>
              <a:rPr lang="en-US" sz="1200" b="1" dirty="0">
                <a:solidFill>
                  <a:srgbClr val="54C5F8"/>
                </a:solidFill>
                <a:latin typeface="Arial" pitchFamily="34" charset="0"/>
                <a:ea typeface="Arial" pitchFamily="34" charset="-122"/>
                <a:cs typeface="Arial" pitchFamily="34" charset="-120"/>
              </a:rPr>
              <a:t>Fix: </a:t>
            </a:r>
            <a:pPr indent="0" marL="0">
              <a:lnSpc>
                <a:spcPct val="130000"/>
              </a:lnSpc>
              <a:buNone/>
            </a:pPr>
            <a:r>
              <a:rPr lang="en-US" sz="1200" dirty="0">
                <a:solidFill>
                  <a:srgbClr val="B8C4D9"/>
                </a:solidFill>
                <a:latin typeface="Arial" pitchFamily="34" charset="0"/>
                <a:ea typeface="Arial" pitchFamily="34" charset="-122"/>
                <a:cs typeface="Arial" pitchFamily="34" charset="-120"/>
              </a:rPr>
              <a:t>Remove that const</a:t>
            </a:r>
            <a:endParaRPr lang="en-US" sz="1200" dirty="0"/>
          </a:p>
        </p:txBody>
      </p:sp>
      <p:sp>
        <p:nvSpPr>
          <p:cNvPr id="28" name="Shape 22"/>
          <p:cNvSpPr/>
          <p:nvPr/>
        </p:nvSpPr>
        <p:spPr>
          <a:xfrm>
            <a:off x="812800" y="5397500"/>
            <a:ext cx="10566400" cy="635000"/>
          </a:xfrm>
          <a:prstGeom prst="roundRect">
            <a:avLst>
              <a:gd name="adj" fmla="val 21600"/>
            </a:avLst>
          </a:prstGeom>
          <a:solidFill>
            <a:srgbClr val="0468D7"/>
          </a:solidFill>
          <a:ln w="12700">
            <a:solidFill>
              <a:srgbClr val="0468D7"/>
            </a:solidFill>
            <a:prstDash val="solid"/>
          </a:ln>
          <a:effectLst>
            <a:outerShdw sx="100000" sy="100000" kx="0" ky="0" algn="bl" rotWithShape="0" blurRad="330200" dist="76200" dir="5400000">
              <a:srgbClr val="0468D7">
                <a:alpha val="40000"/>
              </a:srgbClr>
            </a:outerShdw>
          </a:effectLst>
        </p:spPr>
      </p:sp>
      <p:sp>
        <p:nvSpPr>
          <p:cNvPr id="29" name="Text 23"/>
          <p:cNvSpPr txBox="1"/>
          <p:nvPr/>
        </p:nvSpPr>
        <p:spPr>
          <a:xfrm>
            <a:off x="1066800" y="5397500"/>
            <a:ext cx="10058400" cy="635000"/>
          </a:xfrm>
          <a:prstGeom prst="rect">
            <a:avLst/>
          </a:prstGeom>
          <a:noFill/>
          <a:ln/>
        </p:spPr>
        <p:txBody>
          <a:bodyPr wrap="square" lIns="0" tIns="0" rIns="0" bIns="0" rtlCol="0" anchor="ctr"/>
          <a:lstStyle/>
          <a:p>
            <a:pPr indent="0" marL="0">
              <a:buNone/>
            </a:pPr>
            <a:r>
              <a:rPr lang="en-US" sz="1350" b="1" dirty="0">
                <a:solidFill>
                  <a:srgbClr val="F4F7FB"/>
                </a:solidFill>
                <a:latin typeface="Arial" pitchFamily="34" charset="0"/>
                <a:ea typeface="Arial" pitchFamily="34" charset="-122"/>
                <a:cs typeface="Arial" pitchFamily="34" charset="-120"/>
              </a:rPr>
              <a:t>Every error names a file and a line.  </a:t>
            </a:r>
            <a:pPr indent="0" marL="0">
              <a:buNone/>
            </a:pPr>
            <a:r>
              <a:rPr lang="en-US" sz="1350" dirty="0">
                <a:solidFill>
                  <a:srgbClr val="E3EEFB"/>
                </a:solidFill>
                <a:latin typeface="Arial" pitchFamily="34" charset="0"/>
                <a:ea typeface="Arial" pitchFamily="34" charset="-122"/>
                <a:cs typeface="Arial" pitchFamily="34" charset="-120"/>
              </a:rPr>
              <a:t>Hover over the red line and read it. The guide's last section, When something goes wrong, lists the ones you will meet.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812800" y="762000"/>
            <a:ext cx="10566400" cy="254000"/>
          </a:xfrm>
          <a:prstGeom prst="rect">
            <a:avLst/>
          </a:prstGeom>
          <a:noFill/>
          <a:ln/>
        </p:spPr>
        <p:txBody>
          <a:bodyPr wrap="square" lIns="0" tIns="0" rIns="0" bIns="0" rtlCol="0" anchor="t"/>
          <a:lstStyle/>
          <a:p>
            <a:pPr indent="0" marL="0">
              <a:buNone/>
            </a:pPr>
            <a:r>
              <a:rPr lang="en-US" sz="1200" b="1" spc="400" kern="0" dirty="0">
                <a:solidFill>
                  <a:srgbClr val="0468D7"/>
                </a:solidFill>
                <a:latin typeface="Arial" pitchFamily="34" charset="0"/>
                <a:ea typeface="Arial" pitchFamily="34" charset="-122"/>
                <a:cs typeface="Arial" pitchFamily="34" charset="-120"/>
              </a:rPr>
              <a:t>LAB TIME</a:t>
            </a:r>
            <a:endParaRPr lang="en-US" sz="1200" dirty="0"/>
          </a:p>
        </p:txBody>
      </p:sp>
      <p:sp>
        <p:nvSpPr>
          <p:cNvPr id="3" name="Text 1"/>
          <p:cNvSpPr txBox="1"/>
          <p:nvPr/>
        </p:nvSpPr>
        <p:spPr>
          <a:xfrm>
            <a:off x="812800" y="1054100"/>
            <a:ext cx="10566400" cy="698500"/>
          </a:xfrm>
          <a:prstGeom prst="rect">
            <a:avLst/>
          </a:prstGeom>
          <a:noFill/>
          <a:ln/>
        </p:spPr>
        <p:txBody>
          <a:bodyPr wrap="square" lIns="0" tIns="0" rIns="0" bIns="0" rtlCol="0" anchor="t"/>
          <a:lstStyle/>
          <a:p>
            <a:pPr indent="0" marL="0">
              <a:buNone/>
            </a:pPr>
            <a:r>
              <a:rPr lang="en-US" sz="3800" b="1" dirty="0">
                <a:solidFill>
                  <a:srgbClr val="0E1220"/>
                </a:solidFill>
                <a:latin typeface="Arial" pitchFamily="34" charset="0"/>
                <a:ea typeface="Arial" pitchFamily="34" charset="-122"/>
                <a:cs typeface="Arial" pitchFamily="34" charset="-120"/>
              </a:rPr>
              <a:t>Your first app, running tonight</a:t>
            </a:r>
            <a:endParaRPr lang="en-US" sz="3800" dirty="0"/>
          </a:p>
        </p:txBody>
      </p:sp>
      <p:sp>
        <p:nvSpPr>
          <p:cNvPr id="4" name="Shape 2"/>
          <p:cNvSpPr/>
          <p:nvPr/>
        </p:nvSpPr>
        <p:spPr>
          <a:xfrm>
            <a:off x="812800" y="1905000"/>
            <a:ext cx="3378200" cy="2540000"/>
          </a:xfrm>
          <a:prstGeom prst="roundRect">
            <a:avLst>
              <a:gd name="adj" fmla="val 6480"/>
            </a:avLst>
          </a:prstGeom>
          <a:solidFill>
            <a:srgbClr val="FFFFFF"/>
          </a:solidFill>
          <a:ln w="12700">
            <a:solidFill>
              <a:srgbClr val="E1E7F0"/>
            </a:solidFill>
            <a:prstDash val="solid"/>
          </a:ln>
        </p:spPr>
      </p:sp>
      <p:pic>
        <p:nvPicPr>
          <p:cNvPr id="5" name="Image 0" descr="preencoded.png">    </p:cNvPr>
          <p:cNvPicPr>
            <a:picLocks noChangeAspect="1"/>
          </p:cNvPicPr>
          <p:nvPr/>
        </p:nvPicPr>
        <p:blipFill>
          <a:blip r:embed="rId1"/>
          <a:stretch>
            <a:fillRect/>
          </a:stretch>
        </p:blipFill>
        <p:spPr>
          <a:xfrm>
            <a:off x="1041400" y="2133600"/>
            <a:ext cx="508000" cy="508000"/>
          </a:xfrm>
          <a:prstGeom prst="rect">
            <a:avLst/>
          </a:prstGeom>
        </p:spPr>
      </p:pic>
      <p:sp>
        <p:nvSpPr>
          <p:cNvPr id="6" name="Text 3"/>
          <p:cNvSpPr txBox="1"/>
          <p:nvPr/>
        </p:nvSpPr>
        <p:spPr>
          <a:xfrm>
            <a:off x="1041400" y="2794000"/>
            <a:ext cx="2921000" cy="215900"/>
          </a:xfrm>
          <a:prstGeom prst="rect">
            <a:avLst/>
          </a:prstGeom>
          <a:noFill/>
          <a:ln/>
        </p:spPr>
        <p:txBody>
          <a:bodyPr wrap="square" lIns="0" tIns="0" rIns="0" bIns="0" rtlCol="0" anchor="t"/>
          <a:lstStyle/>
          <a:p>
            <a:pPr indent="0" marL="0">
              <a:buNone/>
            </a:pPr>
            <a:r>
              <a:rPr lang="en-US" sz="1100" b="1" spc="400" kern="0" dirty="0">
                <a:solidFill>
                  <a:srgbClr val="0468D7"/>
                </a:solidFill>
                <a:latin typeface="Arial" pitchFamily="34" charset="0"/>
                <a:ea typeface="Arial" pitchFamily="34" charset="-122"/>
                <a:cs typeface="Arial" pitchFamily="34" charset="-120"/>
              </a:rPr>
              <a:t>FIRST</a:t>
            </a:r>
            <a:endParaRPr lang="en-US" sz="1100" dirty="0"/>
          </a:p>
        </p:txBody>
      </p:sp>
      <p:sp>
        <p:nvSpPr>
          <p:cNvPr id="7" name="Text 4"/>
          <p:cNvSpPr txBox="1"/>
          <p:nvPr/>
        </p:nvSpPr>
        <p:spPr>
          <a:xfrm>
            <a:off x="1041400" y="3048000"/>
            <a:ext cx="2921000" cy="355600"/>
          </a:xfrm>
          <a:prstGeom prst="rect">
            <a:avLst/>
          </a:prstGeom>
          <a:noFill/>
          <a:ln/>
        </p:spPr>
        <p:txBody>
          <a:bodyPr wrap="square" lIns="0" tIns="0" rIns="0" bIns="0" rtlCol="0" anchor="t"/>
          <a:lstStyle/>
          <a:p>
            <a:pPr indent="0" marL="0">
              <a:buNone/>
            </a:pPr>
            <a:r>
              <a:rPr lang="en-US" sz="1700" b="1" dirty="0">
                <a:solidFill>
                  <a:srgbClr val="0E1220"/>
                </a:solidFill>
                <a:latin typeface="Arial" pitchFamily="34" charset="0"/>
                <a:ea typeface="Arial" pitchFamily="34" charset="-122"/>
                <a:cs typeface="Arial" pitchFamily="34" charset="-120"/>
              </a:rPr>
              <a:t>Parts A, B and steps 1–5</a:t>
            </a:r>
            <a:endParaRPr lang="en-US" sz="1700" dirty="0"/>
          </a:p>
        </p:txBody>
      </p:sp>
      <p:sp>
        <p:nvSpPr>
          <p:cNvPr id="8" name="Text 5"/>
          <p:cNvSpPr txBox="1"/>
          <p:nvPr/>
        </p:nvSpPr>
        <p:spPr>
          <a:xfrm>
            <a:off x="1041400" y="3492500"/>
            <a:ext cx="2921000" cy="825500"/>
          </a:xfrm>
          <a:prstGeom prst="rect">
            <a:avLst/>
          </a:prstGeom>
          <a:noFill/>
          <a:ln/>
        </p:spPr>
        <p:txBody>
          <a:bodyPr wrap="square" lIns="0" tIns="0" rIns="0" bIns="0" rtlCol="0" anchor="t"/>
          <a:lstStyle/>
          <a:p>
            <a:pPr indent="0" marL="0">
              <a:lnSpc>
                <a:spcPct val="120000"/>
              </a:lnSpc>
              <a:buNone/>
            </a:pPr>
            <a:r>
              <a:rPr lang="en-US" sz="1300" dirty="0">
                <a:solidFill>
                  <a:srgbClr val="4A5568"/>
                </a:solidFill>
                <a:latin typeface="Arial" pitchFamily="34" charset="0"/>
                <a:ea typeface="Arial" pitchFamily="34" charset="-122"/>
                <a:cs typeface="Arial" pitchFamily="34" charset="-120"/>
              </a:rPr>
              <a:t>Your app runs and reacts to a tap. Everyone gets here tonight.</a:t>
            </a:r>
            <a:endParaRPr lang="en-US" sz="1300" dirty="0"/>
          </a:p>
        </p:txBody>
      </p:sp>
      <p:sp>
        <p:nvSpPr>
          <p:cNvPr id="9" name="Shape 6"/>
          <p:cNvSpPr/>
          <p:nvPr/>
        </p:nvSpPr>
        <p:spPr>
          <a:xfrm>
            <a:off x="4406900" y="1905000"/>
            <a:ext cx="3378200" cy="2540000"/>
          </a:xfrm>
          <a:prstGeom prst="roundRect">
            <a:avLst>
              <a:gd name="adj" fmla="val 6480"/>
            </a:avLst>
          </a:prstGeom>
          <a:solidFill>
            <a:srgbClr val="0E1220"/>
          </a:solidFill>
          <a:ln w="12700">
            <a:solidFill>
              <a:srgbClr val="0E1220"/>
            </a:solidFill>
            <a:prstDash val="solid"/>
          </a:ln>
          <a:effectLst>
            <a:outerShdw sx="100000" sy="100000" kx="0" ky="0" algn="bl" rotWithShape="0" blurRad="330200" dist="76200" dir="5400000">
              <a:srgbClr val="0468D7">
                <a:alpha val="40000"/>
              </a:srgbClr>
            </a:outerShdw>
          </a:effectLst>
        </p:spPr>
      </p:sp>
      <p:pic>
        <p:nvPicPr>
          <p:cNvPr id="10" name="Image 1" descr="preencoded.png">    </p:cNvPr>
          <p:cNvPicPr>
            <a:picLocks noChangeAspect="1"/>
          </p:cNvPicPr>
          <p:nvPr/>
        </p:nvPicPr>
        <p:blipFill>
          <a:blip r:embed="rId2"/>
          <a:stretch>
            <a:fillRect/>
          </a:stretch>
        </p:blipFill>
        <p:spPr>
          <a:xfrm>
            <a:off x="4635500" y="2133600"/>
            <a:ext cx="508000" cy="508000"/>
          </a:xfrm>
          <a:prstGeom prst="rect">
            <a:avLst/>
          </a:prstGeom>
        </p:spPr>
      </p:pic>
      <p:sp>
        <p:nvSpPr>
          <p:cNvPr id="11" name="Text 7"/>
          <p:cNvSpPr txBox="1"/>
          <p:nvPr/>
        </p:nvSpPr>
        <p:spPr>
          <a:xfrm>
            <a:off x="4635500" y="2794000"/>
            <a:ext cx="2921000" cy="215900"/>
          </a:xfrm>
          <a:prstGeom prst="rect">
            <a:avLst/>
          </a:prstGeom>
          <a:noFill/>
          <a:ln/>
        </p:spPr>
        <p:txBody>
          <a:bodyPr wrap="square" lIns="0" tIns="0" rIns="0" bIns="0" rtlCol="0" anchor="t"/>
          <a:lstStyle/>
          <a:p>
            <a:pPr indent="0" marL="0">
              <a:buNone/>
            </a:pPr>
            <a:r>
              <a:rPr lang="en-US" sz="1100" b="1" spc="400" kern="0" dirty="0">
                <a:solidFill>
                  <a:srgbClr val="54C5F8"/>
                </a:solidFill>
                <a:latin typeface="Arial" pitchFamily="34" charset="0"/>
                <a:ea typeface="Arial" pitchFamily="34" charset="-122"/>
                <a:cs typeface="Arial" pitchFamily="34" charset="-120"/>
              </a:rPr>
              <a:t>THEN</a:t>
            </a:r>
            <a:endParaRPr lang="en-US" sz="1100" dirty="0"/>
          </a:p>
        </p:txBody>
      </p:sp>
      <p:sp>
        <p:nvSpPr>
          <p:cNvPr id="12" name="Text 8"/>
          <p:cNvSpPr txBox="1"/>
          <p:nvPr/>
        </p:nvSpPr>
        <p:spPr>
          <a:xfrm>
            <a:off x="4635500" y="3048000"/>
            <a:ext cx="2921000" cy="355600"/>
          </a:xfrm>
          <a:prstGeom prst="rect">
            <a:avLst/>
          </a:prstGeom>
          <a:noFill/>
          <a:ln/>
        </p:spPr>
        <p:txBody>
          <a:bodyPr wrap="square" lIns="0" tIns="0" rIns="0" bIns="0" rtlCol="0" anchor="t"/>
          <a:lstStyle/>
          <a:p>
            <a:pPr indent="0" marL="0">
              <a:buNone/>
            </a:pPr>
            <a:r>
              <a:rPr lang="en-US" sz="1700" b="1" dirty="0">
                <a:solidFill>
                  <a:srgbClr val="F4F7FB"/>
                </a:solidFill>
                <a:latin typeface="Arial" pitchFamily="34" charset="0"/>
                <a:ea typeface="Arial" pitchFamily="34" charset="-122"/>
                <a:cs typeface="Arial" pitchFamily="34" charset="-120"/>
              </a:rPr>
              <a:t>Steps 6–8</a:t>
            </a:r>
            <a:endParaRPr lang="en-US" sz="1700" dirty="0"/>
          </a:p>
        </p:txBody>
      </p:sp>
      <p:sp>
        <p:nvSpPr>
          <p:cNvPr id="13" name="Text 9"/>
          <p:cNvSpPr txBox="1"/>
          <p:nvPr/>
        </p:nvSpPr>
        <p:spPr>
          <a:xfrm>
            <a:off x="4635500" y="3492500"/>
            <a:ext cx="2921000" cy="825500"/>
          </a:xfrm>
          <a:prstGeom prst="rect">
            <a:avLst/>
          </a:prstGeom>
          <a:noFill/>
          <a:ln/>
        </p:spPr>
        <p:txBody>
          <a:bodyPr wrap="square" lIns="0" tIns="0" rIns="0" bIns="0" rtlCol="0" anchor="t"/>
          <a:lstStyle/>
          <a:p>
            <a:pPr indent="0" marL="0">
              <a:lnSpc>
                <a:spcPct val="120000"/>
              </a:lnSpc>
              <a:buNone/>
            </a:pPr>
            <a:r>
              <a:rPr lang="en-US" sz="1300" dirty="0">
                <a:solidFill>
                  <a:srgbClr val="B8C4D9"/>
                </a:solidFill>
                <a:latin typeface="Arial" pitchFamily="34" charset="0"/>
                <a:ea typeface="Arial" pitchFamily="34" charset="-122"/>
                <a:cs typeface="Arial" pitchFamily="34" charset="-120"/>
              </a:rPr>
              <a:t>Less code, more thinking: you write these yourself from a goal and hints.</a:t>
            </a:r>
            <a:endParaRPr lang="en-US" sz="1300" dirty="0"/>
          </a:p>
        </p:txBody>
      </p:sp>
      <p:sp>
        <p:nvSpPr>
          <p:cNvPr id="14" name="Shape 10"/>
          <p:cNvSpPr/>
          <p:nvPr/>
        </p:nvSpPr>
        <p:spPr>
          <a:xfrm>
            <a:off x="8001000" y="1905000"/>
            <a:ext cx="3378200" cy="2540000"/>
          </a:xfrm>
          <a:prstGeom prst="roundRect">
            <a:avLst>
              <a:gd name="adj" fmla="val 6480"/>
            </a:avLst>
          </a:prstGeom>
          <a:solidFill>
            <a:srgbClr val="FFFFFF"/>
          </a:solidFill>
          <a:ln w="12700">
            <a:solidFill>
              <a:srgbClr val="E1E7F0"/>
            </a:solidFill>
            <a:prstDash val="solid"/>
          </a:ln>
        </p:spPr>
      </p:sp>
      <p:pic>
        <p:nvPicPr>
          <p:cNvPr id="15" name="Image 2" descr="preencoded.png">    </p:cNvPr>
          <p:cNvPicPr>
            <a:picLocks noChangeAspect="1"/>
          </p:cNvPicPr>
          <p:nvPr/>
        </p:nvPicPr>
        <p:blipFill>
          <a:blip r:embed="rId3"/>
          <a:stretch>
            <a:fillRect/>
          </a:stretch>
        </p:blipFill>
        <p:spPr>
          <a:xfrm>
            <a:off x="8229600" y="2133600"/>
            <a:ext cx="508000" cy="508000"/>
          </a:xfrm>
          <a:prstGeom prst="rect">
            <a:avLst/>
          </a:prstGeom>
        </p:spPr>
      </p:pic>
      <p:sp>
        <p:nvSpPr>
          <p:cNvPr id="16" name="Text 11"/>
          <p:cNvSpPr txBox="1"/>
          <p:nvPr/>
        </p:nvSpPr>
        <p:spPr>
          <a:xfrm>
            <a:off x="8229600" y="2794000"/>
            <a:ext cx="2921000" cy="215900"/>
          </a:xfrm>
          <a:prstGeom prst="rect">
            <a:avLst/>
          </a:prstGeom>
          <a:noFill/>
          <a:ln/>
        </p:spPr>
        <p:txBody>
          <a:bodyPr wrap="square" lIns="0" tIns="0" rIns="0" bIns="0" rtlCol="0" anchor="t"/>
          <a:lstStyle/>
          <a:p>
            <a:pPr indent="0" marL="0">
              <a:buNone/>
            </a:pPr>
            <a:r>
              <a:rPr lang="en-US" sz="1100" b="1" spc="400" kern="0" dirty="0">
                <a:solidFill>
                  <a:srgbClr val="0468D7"/>
                </a:solidFill>
                <a:latin typeface="Arial" pitchFamily="34" charset="0"/>
                <a:ea typeface="Arial" pitchFamily="34" charset="-122"/>
                <a:cs typeface="Arial" pitchFamily="34" charset="-120"/>
              </a:rPr>
              <a:t>FINALLY</a:t>
            </a:r>
            <a:endParaRPr lang="en-US" sz="1100" dirty="0"/>
          </a:p>
        </p:txBody>
      </p:sp>
      <p:sp>
        <p:nvSpPr>
          <p:cNvPr id="17" name="Text 12"/>
          <p:cNvSpPr txBox="1"/>
          <p:nvPr/>
        </p:nvSpPr>
        <p:spPr>
          <a:xfrm>
            <a:off x="8229600" y="3048000"/>
            <a:ext cx="2921000" cy="355600"/>
          </a:xfrm>
          <a:prstGeom prst="rect">
            <a:avLst/>
          </a:prstGeom>
          <a:noFill/>
          <a:ln/>
        </p:spPr>
        <p:txBody>
          <a:bodyPr wrap="square" lIns="0" tIns="0" rIns="0" bIns="0" rtlCol="0" anchor="t"/>
          <a:lstStyle/>
          <a:p>
            <a:pPr indent="0" marL="0">
              <a:buNone/>
            </a:pPr>
            <a:r>
              <a:rPr lang="en-US" sz="1700" b="1" dirty="0">
                <a:solidFill>
                  <a:srgbClr val="0E1220"/>
                </a:solidFill>
                <a:latin typeface="Arial" pitchFamily="34" charset="0"/>
                <a:ea typeface="Arial" pitchFamily="34" charset="-122"/>
                <a:cs typeface="Arial" pitchFamily="34" charset="-120"/>
              </a:rPr>
              <a:t>Think + GitHub</a:t>
            </a:r>
            <a:endParaRPr lang="en-US" sz="1700" dirty="0"/>
          </a:p>
        </p:txBody>
      </p:sp>
      <p:sp>
        <p:nvSpPr>
          <p:cNvPr id="18" name="Text 13"/>
          <p:cNvSpPr txBox="1"/>
          <p:nvPr/>
        </p:nvSpPr>
        <p:spPr>
          <a:xfrm>
            <a:off x="8229600" y="3492500"/>
            <a:ext cx="2921000" cy="825500"/>
          </a:xfrm>
          <a:prstGeom prst="rect">
            <a:avLst/>
          </a:prstGeom>
          <a:noFill/>
          <a:ln/>
        </p:spPr>
        <p:txBody>
          <a:bodyPr wrap="square" lIns="0" tIns="0" rIns="0" bIns="0" rtlCol="0" anchor="t"/>
          <a:lstStyle/>
          <a:p>
            <a:pPr indent="0" marL="0">
              <a:lnSpc>
                <a:spcPct val="120000"/>
              </a:lnSpc>
              <a:buNone/>
            </a:pPr>
            <a:r>
              <a:rPr lang="en-US" sz="1300" dirty="0">
                <a:solidFill>
                  <a:srgbClr val="4A5568"/>
                </a:solidFill>
                <a:latin typeface="Arial" pitchFamily="34" charset="0"/>
                <a:ea typeface="Arial" pitchFamily="34" charset="-122"/>
                <a:cs typeface="Arial" pitchFamily="34" charset="-120"/>
              </a:rPr>
              <a:t>Answer the two Think questions, then push your project to GitHub.</a:t>
            </a:r>
            <a:endParaRPr lang="en-US" sz="1300" dirty="0"/>
          </a:p>
        </p:txBody>
      </p:sp>
      <p:sp>
        <p:nvSpPr>
          <p:cNvPr id="19" name="Shape 14"/>
          <p:cNvSpPr/>
          <p:nvPr/>
        </p:nvSpPr>
        <p:spPr>
          <a:xfrm>
            <a:off x="812800" y="4762500"/>
            <a:ext cx="10566400" cy="635000"/>
          </a:xfrm>
          <a:prstGeom prst="roundRect">
            <a:avLst>
              <a:gd name="adj" fmla="val 21600"/>
            </a:avLst>
          </a:prstGeom>
          <a:solidFill>
            <a:srgbClr val="0468D7"/>
          </a:solidFill>
          <a:ln w="12700">
            <a:solidFill>
              <a:srgbClr val="0468D7"/>
            </a:solidFill>
            <a:prstDash val="solid"/>
          </a:ln>
          <a:effectLst>
            <a:outerShdw sx="100000" sy="100000" kx="0" ky="0" algn="bl" rotWithShape="0" blurRad="330200" dist="76200" dir="5400000">
              <a:srgbClr val="0468D7">
                <a:alpha val="40000"/>
              </a:srgbClr>
            </a:outerShdw>
          </a:effectLst>
        </p:spPr>
      </p:sp>
      <p:sp>
        <p:nvSpPr>
          <p:cNvPr id="20" name="Text 15"/>
          <p:cNvSpPr txBox="1"/>
          <p:nvPr/>
        </p:nvSpPr>
        <p:spPr>
          <a:xfrm>
            <a:off x="1066800" y="4762500"/>
            <a:ext cx="10058400" cy="635000"/>
          </a:xfrm>
          <a:prstGeom prst="rect">
            <a:avLst/>
          </a:prstGeom>
          <a:noFill/>
          <a:ln/>
        </p:spPr>
        <p:txBody>
          <a:bodyPr wrap="square" lIns="0" tIns="0" rIns="0" bIns="0" rtlCol="0" anchor="ctr"/>
          <a:lstStyle/>
          <a:p>
            <a:pPr indent="0" marL="0">
              <a:buNone/>
            </a:pPr>
            <a:r>
              <a:rPr lang="en-US" sz="1350" b="1" dirty="0">
                <a:solidFill>
                  <a:srgbClr val="F4F7FB"/>
                </a:solidFill>
                <a:latin typeface="Arial" pitchFamily="34" charset="0"/>
                <a:ea typeface="Arial" pitchFamily="34" charset="-122"/>
                <a:cs typeface="Arial" pitchFamily="34" charset="-120"/>
              </a:rPr>
              <a:t>No Flutter yet?  </a:t>
            </a:r>
            <a:pPr indent="0" marL="0">
              <a:buNone/>
            </a:pPr>
            <a:r>
              <a:rPr lang="en-US" sz="1350" dirty="0">
                <a:solidFill>
                  <a:srgbClr val="E3EEFB"/>
                </a:solidFill>
                <a:latin typeface="Arial" pitchFamily="34" charset="0"/>
                <a:ea typeface="Arial" pitchFamily="34" charset="-122"/>
                <a:cs typeface="Arial" pitchFamily="34" charset="-120"/>
              </a:rPr>
              <a:t>sit with a friend for parts A and B, and see a mentor at the side: fixing installs comes first tonight.</a:t>
            </a:r>
            <a:endParaRPr lang="en-US" sz="1350" dirty="0"/>
          </a:p>
        </p:txBody>
      </p:sp>
      <p:sp>
        <p:nvSpPr>
          <p:cNvPr id="21" name="Text 16"/>
          <p:cNvSpPr txBox="1"/>
          <p:nvPr/>
        </p:nvSpPr>
        <p:spPr>
          <a:xfrm>
            <a:off x="812800" y="6375400"/>
            <a:ext cx="10566400" cy="215900"/>
          </a:xfrm>
          <a:prstGeom prst="rect">
            <a:avLst/>
          </a:prstGeom>
          <a:noFill/>
          <a:ln/>
        </p:spPr>
        <p:txBody>
          <a:bodyPr wrap="square" lIns="0" tIns="0" rIns="0" bIns="0" rtlCol="0" anchor="t"/>
          <a:lstStyle/>
          <a:p>
            <a:pPr indent="0" marL="0">
              <a:buNone/>
            </a:pPr>
            <a:r>
              <a:rPr lang="en-US" sz="1200" dirty="0">
                <a:solidFill>
                  <a:srgbClr val="8A97B5"/>
                </a:solidFill>
                <a:latin typeface="Arial" pitchFamily="34" charset="0"/>
                <a:ea typeface="Arial" pitchFamily="34" charset="-122"/>
                <a:cs typeface="Arial" pitchFamily="34" charset="-120"/>
              </a:rPr>
              <a:t>Same rules: type it yourself · read every error · then the hints, a friend, a mentor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12800" y="1905000"/>
            <a:ext cx="10566400" cy="254000"/>
          </a:xfrm>
          <a:prstGeom prst="rect">
            <a:avLst/>
          </a:prstGeom>
          <a:noFill/>
          <a:ln/>
        </p:spPr>
        <p:txBody>
          <a:bodyPr wrap="square" lIns="0" tIns="0" rIns="0" bIns="0" rtlCol="0" anchor="t"/>
          <a:lstStyle/>
          <a:p>
            <a:pPr algn="ctr" indent="0" marL="0">
              <a:buNone/>
            </a:pPr>
            <a:r>
              <a:rPr lang="en-US" sz="1200" b="1" spc="400" kern="0" dirty="0">
                <a:solidFill>
                  <a:srgbClr val="54C5F8"/>
                </a:solidFill>
                <a:latin typeface="Arial" pitchFamily="34" charset="0"/>
                <a:ea typeface="Arial" pitchFamily="34" charset="-122"/>
                <a:cs typeface="Arial" pitchFamily="34" charset="-120"/>
              </a:rPr>
              <a:t>TO YOUR LAPTOPS</a:t>
            </a:r>
            <a:endParaRPr lang="en-US" sz="1200" dirty="0"/>
          </a:p>
        </p:txBody>
      </p:sp>
      <p:sp>
        <p:nvSpPr>
          <p:cNvPr id="3" name="Text 1"/>
          <p:cNvSpPr txBox="1"/>
          <p:nvPr/>
        </p:nvSpPr>
        <p:spPr>
          <a:xfrm>
            <a:off x="1143000" y="2413000"/>
            <a:ext cx="9906000" cy="1905000"/>
          </a:xfrm>
          <a:prstGeom prst="rect">
            <a:avLst/>
          </a:prstGeom>
          <a:noFill/>
          <a:ln/>
        </p:spPr>
        <p:txBody>
          <a:bodyPr wrap="square" lIns="0" tIns="0" rIns="0" bIns="0" rtlCol="0" anchor="t"/>
          <a:lstStyle/>
          <a:p>
            <a:pPr algn="ctr" indent="0" marL="0">
              <a:buNone/>
            </a:pPr>
            <a:r>
              <a:rPr lang="en-US" sz="4800" b="1" dirty="0">
                <a:solidFill>
                  <a:srgbClr val="F4F7FB"/>
                </a:solidFill>
                <a:latin typeface="Arial" pitchFamily="34" charset="0"/>
                <a:ea typeface="Arial" pitchFamily="34" charset="-122"/>
                <a:cs typeface="Arial" pitchFamily="34" charset="-120"/>
              </a:rPr>
              <a:t>Everything you see is a widget. </a:t>
            </a:r>
            <a:pPr algn="ctr" indent="0" marL="0">
              <a:buNone/>
            </a:pPr>
            <a:r>
              <a:rPr lang="en-US" sz="4800" b="1" dirty="0">
                <a:solidFill>
                  <a:srgbClr val="54C5F8"/>
                </a:solidFill>
                <a:latin typeface="Arial" pitchFamily="34" charset="0"/>
                <a:ea typeface="Arial" pitchFamily="34" charset="-122"/>
                <a:cs typeface="Arial" pitchFamily="34" charset="-120"/>
              </a:rPr>
              <a:t>Tonight you build your first app.</a:t>
            </a:r>
            <a:endParaRPr lang="en-US" sz="4800" dirty="0"/>
          </a:p>
        </p:txBody>
      </p:sp>
      <p:sp>
        <p:nvSpPr>
          <p:cNvPr id="4" name="Text 2"/>
          <p:cNvSpPr txBox="1"/>
          <p:nvPr/>
        </p:nvSpPr>
        <p:spPr>
          <a:xfrm>
            <a:off x="812800" y="4699000"/>
            <a:ext cx="10566400" cy="381000"/>
          </a:xfrm>
          <a:prstGeom prst="rect">
            <a:avLst/>
          </a:prstGeom>
          <a:noFill/>
          <a:ln/>
        </p:spPr>
        <p:txBody>
          <a:bodyPr wrap="square" lIns="0" tIns="0" rIns="0" bIns="0" rtlCol="0" anchor="t"/>
          <a:lstStyle/>
          <a:p>
            <a:pPr algn="ctr" indent="0" marL="0">
              <a:buNone/>
            </a:pPr>
            <a:r>
              <a:rPr lang="en-US" sz="1700" dirty="0">
                <a:solidFill>
                  <a:srgbClr val="B8C4D9"/>
                </a:solidFill>
                <a:latin typeface="Arial" pitchFamily="34" charset="0"/>
                <a:ea typeface="Arial" pitchFamily="34" charset="-122"/>
                <a:cs typeface="Arial" pitchFamily="34" charset="-120"/>
              </a:rPr>
              <a:t>Next session: your own mini app, and this time there are no steps.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3 - Your First Flutter App</dc:title>
  <dc:subject>PptxGenJS Presentation</dc:subject>
  <dc:creator>PptxGenJS</dc:creator>
  <cp:lastModifiedBy>PptxGenJS</cp:lastModifiedBy>
  <cp:revision>1</cp:revision>
  <dcterms:created xsi:type="dcterms:W3CDTF">2026-10-12T12:05:34Z</dcterms:created>
  <dcterms:modified xsi:type="dcterms:W3CDTF">2026-10-12T12:05:34Z</dcterms:modified>
</cp:coreProperties>
</file>